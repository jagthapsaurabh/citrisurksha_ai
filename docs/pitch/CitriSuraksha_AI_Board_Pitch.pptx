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9" r:id="rId30"/>
    <p:sldId id="280" r:id="rId31"/>
    <p:sldId id="281" r:id="rId32"/>
    <p:sldId id="282" r:id="rId33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7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66160" y="137160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B000"/>
                </a:solidFill>
                <a:latin typeface="Segoe UI"/>
              </a:rPr>
              <a:t>BOARD PITCH · OCTOBER 2026 ·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965960"/>
            <a:ext cx="8046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Segoe UI"/>
              </a:rPr>
              <a:t>CitriSuraksha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063240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D9F9DF"/>
                </a:solidFill>
                <a:latin typeface="Segoe UI"/>
              </a:rPr>
              <a:t>Scan · Detect · Protect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794760"/>
            <a:ext cx="7863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C9D9C6"/>
                </a:solidFill>
                <a:latin typeface="Segoe UI"/>
              </a:rPr>
              <a:t>An AI-powered citrus pest detection, advisory and surveillance platform —
built for farmers, agriculture departments and research institutions.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51206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84BD00"/>
                </a:solidFill>
                <a:latin typeface="Segoe UI"/>
              </a:rPr>
              <a:t>Born in Nagpur — the Orange City of India 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Citrus farming is losing money to pests every season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6B58"/>
                </a:solidFill>
                <a:latin typeface="Segoe UI"/>
              </a:rPr>
              <a:t>Pests and diseases are the single largest preventable cause of citrus yield loss — and the first 48 hours matter most.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1305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16530"/>
                </a:solidFill>
                <a:latin typeface="Segoe UI"/>
              </a:rPr>
              <a:t>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14600"/>
            <a:ext cx="3163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20–40% crop losses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862072"/>
            <a:ext cx="31638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FAO estimates that plant pests and diseases destroy up to 40% of global food crops every year. Citrus is hit by 20+ major pests.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6596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1305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16530"/>
                </a:solidFill>
                <a:latin typeface="Segoe UI"/>
              </a:rPr>
              <a:t>🧑🌾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514600"/>
            <a:ext cx="3163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No expert at the field 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862072"/>
            <a:ext cx="31638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Extension officers serve thousands of farmers. A wrong or late diagnosis travels village-to-village before anyone verifies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96596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21305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16530"/>
                </a:solidFill>
                <a:latin typeface="Segoe UI"/>
              </a:rPr>
              <a:t>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514600"/>
            <a:ext cx="3163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Blind pesticide spraying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862072"/>
            <a:ext cx="31638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Mis-identification leads to wrong molecules, wasted spend, residue risk and destroyed friendly insects.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20624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370831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16530"/>
                </a:solidFill>
                <a:latin typeface="Segoe UI"/>
              </a:rPr>
              <a:t>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754879"/>
            <a:ext cx="3163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Citrus greening (HLB) threat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102351"/>
            <a:ext cx="31638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Asian citrus psyllid vectors the fatal greening disease. Early field detection is the only defence — and it needs trained eyes.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420624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4370831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16530"/>
                </a:solidFill>
                <a:latin typeface="Segoe UI"/>
              </a:rPr>
              <a:t>🗣️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4754879"/>
            <a:ext cx="3163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Advice not in the farmer's language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5358383"/>
            <a:ext cx="31638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Scientific advisories rarely reach farmers in Marathi or Hindi, at the right crop stage, at the right week.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420624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6" y="4370831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16530"/>
                </a:solidFill>
                <a:latin typeface="Segoe UI"/>
              </a:rPr>
              <a:t>🗺️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6" y="4754879"/>
            <a:ext cx="3163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No field data for agencies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6" y="5102351"/>
            <a:ext cx="31638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Departments and universities lack real-time, geo-tagged pest incidence data to act before outbreaks spread.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62727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5A6B58"/>
                </a:solidFill>
                <a:latin typeface="Segoe UI"/>
              </a:rPr>
              <a:t>Source: FAO — up to 40% of global food crops are lost to plant pests and diseases annually.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One platform, three connected surfaces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6B58"/>
                </a:solidFill>
                <a:latin typeface="Segoe UI"/>
              </a:rPr>
              <a:t>A complete digital protection layer for the citrus economy — from a farmer's phone to the board room of agriculture agencies.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11680"/>
            <a:ext cx="3566160" cy="310896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1762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16530"/>
                </a:solidFill>
                <a:latin typeface="Segoe UI"/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3163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Farmer Mobile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907792"/>
            <a:ext cx="3163824" cy="201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Android &amp; iOS (Expo). Scan a leaf with the camera and get an AI diagnosis with severity, symptoms, preventive &amp; curative management — in English, Marathi or Hindi. History, care calendar, advisories, chat support and push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011680"/>
            <a:ext cx="3566160" cy="310896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1762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16530"/>
                </a:solidFill>
                <a:latin typeface="Segoe UI"/>
              </a:rP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560320"/>
            <a:ext cx="3163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AI + Cloud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907792"/>
            <a:ext cx="3163824" cy="201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FastAPI + PostgreSQL + in-house vision service. A 21-class citrus pest classifier (20 pests + negative) that improves with every verified farmer upload. Firebase Cloud Messaging powers district-scale alerts.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011680"/>
            <a:ext cx="3566160" cy="310896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21762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16530"/>
                </a:solidFill>
                <a:latin typeface="Segoe UI"/>
              </a:rPr>
              <a:t>🖥️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560320"/>
            <a:ext cx="3163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Admin &amp; Expert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907792"/>
            <a:ext cx="3163824" cy="201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Role-based web panel (admin, agronomist, data labeler, support) with 15 modules: review &amp; correct AI results, publish advisories, manage pests &amp; insecticides, train the AI, run push campaigns and answer farmer chats.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440680"/>
            <a:ext cx="11064240" cy="960120"/>
          </a:xfrm>
          <a:prstGeom prst="roundRect">
            <a:avLst>
              <a:gd name="adj" fmla="val 10000"/>
            </a:avLst>
          </a:prstGeom>
          <a:solidFill>
            <a:srgbClr val="11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59612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Scan → Detect → Protect in under 30 seconds, with a human expert always in the loop.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PLATFORM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How the pieces fit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011679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📱 Mobile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41448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5A6B58"/>
                </a:solidFill>
                <a:latin typeface="Segoe UI"/>
              </a:rPr>
              <a:t>React Native (Expo SDK 54)
Android + iOS
Offline-safe, 3 languages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874519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2011679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🌐 Backend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441448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5A6B58"/>
                </a:solidFill>
                <a:latin typeface="Segoe UI"/>
              </a:rPr>
              <a:t>FastAPI + SQLAlchemy
PostgreSQL / SQLite
JWT auth, GZip, ORJSON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874519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2011679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🧠 AI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441448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5A6B58"/>
                </a:solidFill>
                <a:latin typeface="Segoe UI"/>
              </a:rPr>
              <a:t>In-house vision engine
21-class pest classifier
Trained on our verified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0848" y="1874519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8008" y="201167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🔔 Firebase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8" y="2441448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5A6B58"/>
                </a:solidFill>
                <a:latin typeface="Segoe UI"/>
              </a:rPr>
              <a:t>Admin SDK push
token registry
campaign logs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54096" y="2514600"/>
            <a:ext cx="347472" cy="274320"/>
          </a:xfrm>
          <a:prstGeom prst="rightArrow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888736" y="2514600"/>
            <a:ext cx="347472" cy="274320"/>
          </a:xfrm>
          <a:prstGeom prst="rightArrow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723376" y="2514600"/>
            <a:ext cx="347472" cy="274320"/>
          </a:xfrm>
          <a:prstGeom prst="rightArrow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38862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4164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🖥️ Admin &amp; Expert Panel — React + TypeScript (hosted independently)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348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C9D9C6"/>
                </a:solidFill>
                <a:latin typeface="Segoe UI"/>
              </a:rPr>
              <a:t>Dashboard · Users &amp; Farmers · Farmer Uploads review · Pest &amp; Insecticide registry · Blog/Events/Calendar publishing · Train AI studio · AI Models · Push campaigns · Farmer Chat · Notifications · Settings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54864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The vision model is trained in-house on our own verified dataset — full data ownership.</a:t>
            </a:r>
            <a:r>
              <a:rPr sz="1250">
                <a:solidFill>
                  <a:srgbClr val="1B271C"/>
                </a:solidFill>
                <a:latin typeface="Segoe UI"/>
              </a:rPr>
              <a:t/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Deployment-flexible. </a:t>
            </a:r>
            <a:r>
              <a:rPr sz="1250">
                <a:solidFill>
                  <a:srgbClr val="1B271C"/>
                </a:solidFill>
                <a:latin typeface="Segoe UI"/>
              </a:rPr>
              <a:t>Runs on a single VPS with or without Docker; admin panel ships as a static build to any web host; mobile builds via EAS.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COMPLETE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From a photo in the orchard to a smarter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2487168" cy="16916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751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1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7510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1168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16530"/>
                </a:solidFill>
                <a:latin typeface="Segoe UI"/>
              </a:rPr>
              <a:t>Farmer captures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50592"/>
            <a:ext cx="221284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 i="0">
                <a:solidFill>
                  <a:srgbClr val="5A6B58"/>
                </a:solidFill>
                <a:latin typeface="Segoe UI"/>
              </a:rPr>
              <a:t>Camera / gallery photo of pest, leaf or fruit damage</a:t>
            </a:r>
          </a:p>
        </p:txBody>
      </p:sp>
      <p:sp>
        <p:nvSpPr>
          <p:cNvPr id="11" name="Chevron 10"/>
          <p:cNvSpPr/>
          <p:nvPr/>
        </p:nvSpPr>
        <p:spPr>
          <a:xfrm>
            <a:off x="3090672" y="2487168"/>
            <a:ext cx="310896" cy="365760"/>
          </a:xfrm>
          <a:prstGeom prst="chevron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1828800"/>
            <a:ext cx="2487168" cy="16916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9584" y="19751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1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197510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201168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16530"/>
                </a:solidFill>
                <a:latin typeface="Segoe UI"/>
              </a:rPr>
              <a:t>App uploads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450592"/>
            <a:ext cx="221284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 i="0">
                <a:solidFill>
                  <a:srgbClr val="5A6B58"/>
                </a:solidFill>
                <a:latin typeface="Segoe UI"/>
              </a:rPr>
              <a:t>Image resized &amp; stored securely; detection request queued</a:t>
            </a:r>
          </a:p>
        </p:txBody>
      </p:sp>
      <p:sp>
        <p:nvSpPr>
          <p:cNvPr id="17" name="Chevron 16"/>
          <p:cNvSpPr/>
          <p:nvPr/>
        </p:nvSpPr>
        <p:spPr>
          <a:xfrm>
            <a:off x="5907024" y="2487168"/>
            <a:ext cx="310896" cy="365760"/>
          </a:xfrm>
          <a:prstGeom prst="chevron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9632" y="1828800"/>
            <a:ext cx="2487168" cy="16916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45936" y="19751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1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97510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201168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16530"/>
                </a:solidFill>
                <a:latin typeface="Segoe UI"/>
              </a:rPr>
              <a:t>AI classifies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450592"/>
            <a:ext cx="221284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 i="0">
                <a:solidFill>
                  <a:srgbClr val="5A6B58"/>
                </a:solidFill>
                <a:latin typeface="Segoe UI"/>
              </a:rPr>
              <a:t>21-class CNN returns top-k pests, confidence &amp; severity</a:t>
            </a:r>
          </a:p>
        </p:txBody>
      </p:sp>
      <p:sp>
        <p:nvSpPr>
          <p:cNvPr id="23" name="Chevron 22"/>
          <p:cNvSpPr/>
          <p:nvPr/>
        </p:nvSpPr>
        <p:spPr>
          <a:xfrm>
            <a:off x="8723376" y="2487168"/>
            <a:ext cx="310896" cy="365760"/>
          </a:xfrm>
          <a:prstGeom prst="chevron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15984" y="1828800"/>
            <a:ext cx="2487168" cy="16916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62288" y="19751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1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7510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7776" y="201168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16530"/>
                </a:solidFill>
                <a:latin typeface="Segoe UI"/>
              </a:rPr>
              <a:t>Instant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2450592"/>
            <a:ext cx="221284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 i="0">
                <a:solidFill>
                  <a:srgbClr val="5A6B58"/>
                </a:solidFill>
                <a:latin typeface="Segoe UI"/>
              </a:rPr>
              <a:t>Symptoms + preventive/curative + organic/chemical advice in farmer's language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206240"/>
            <a:ext cx="2487168" cy="16916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3232" y="435254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435254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3891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16530"/>
                </a:solidFill>
                <a:latin typeface="Segoe UI"/>
              </a:rPr>
              <a:t>Feedback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828032"/>
            <a:ext cx="221284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 i="0">
                <a:solidFill>
                  <a:srgbClr val="5A6B58"/>
                </a:solidFill>
                <a:latin typeface="Segoe UI"/>
              </a:rPr>
              <a:t>Farmer marks result correct/wrong; every scan is saved with geo &amp; time</a:t>
            </a:r>
          </a:p>
        </p:txBody>
      </p:sp>
      <p:sp>
        <p:nvSpPr>
          <p:cNvPr id="34" name="Chevron 33"/>
          <p:cNvSpPr/>
          <p:nvPr/>
        </p:nvSpPr>
        <p:spPr>
          <a:xfrm>
            <a:off x="3090672" y="4864608"/>
            <a:ext cx="310896" cy="365760"/>
          </a:xfrm>
          <a:prstGeom prst="chevron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383280" y="4206240"/>
            <a:ext cx="2487168" cy="16916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529584" y="435254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9584" y="435254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05072" y="43891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16530"/>
                </a:solidFill>
                <a:latin typeface="Segoe UI"/>
              </a:rPr>
              <a:t>Expert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9584" y="4828032"/>
            <a:ext cx="221284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 i="0">
                <a:solidFill>
                  <a:srgbClr val="5A6B58"/>
                </a:solidFill>
                <a:latin typeface="Segoe UI"/>
              </a:rPr>
              <a:t>Admin/agronomist verifies or corrects each detection; can approve for training</a:t>
            </a:r>
          </a:p>
        </p:txBody>
      </p:sp>
      <p:sp>
        <p:nvSpPr>
          <p:cNvPr id="40" name="Chevron 39"/>
          <p:cNvSpPr/>
          <p:nvPr/>
        </p:nvSpPr>
        <p:spPr>
          <a:xfrm>
            <a:off x="5907024" y="4864608"/>
            <a:ext cx="310896" cy="365760"/>
          </a:xfrm>
          <a:prstGeom prst="chevron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99632" y="4206240"/>
            <a:ext cx="2487168" cy="16916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45936" y="435254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5936" y="435254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21424" y="43891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16530"/>
                </a:solidFill>
                <a:latin typeface="Segoe UI"/>
              </a:rPr>
              <a:t>Verified dataset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5936" y="4828032"/>
            <a:ext cx="221284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 i="0">
                <a:solidFill>
                  <a:srgbClr val="5A6B58"/>
                </a:solidFill>
                <a:latin typeface="Segoe UI"/>
              </a:rPr>
              <a:t>Corrected uploads become labelled training images (stage-wise, 21 classes)</a:t>
            </a:r>
          </a:p>
        </p:txBody>
      </p:sp>
      <p:sp>
        <p:nvSpPr>
          <p:cNvPr id="46" name="Chevron 45"/>
          <p:cNvSpPr/>
          <p:nvPr/>
        </p:nvSpPr>
        <p:spPr>
          <a:xfrm>
            <a:off x="8723376" y="4864608"/>
            <a:ext cx="310896" cy="365760"/>
          </a:xfrm>
          <a:prstGeom prst="chevron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015984" y="4206240"/>
            <a:ext cx="2487168" cy="16916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162288" y="435254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62288" y="435254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37776" y="43891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16530"/>
                </a:solidFill>
                <a:latin typeface="Segoe UI"/>
              </a:rPr>
              <a:t>Retrained 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62288" y="4828032"/>
            <a:ext cx="221284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 i="0">
                <a:solidFill>
                  <a:srgbClr val="5A6B58"/>
                </a:solidFill>
                <a:latin typeface="Segoe UI"/>
              </a:rPr>
              <a:t>New model version registered &amp; served — accuracy climbs every cycle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11475720" y="3611880"/>
            <a:ext cx="365760" cy="502920"/>
          </a:xfrm>
          <a:prstGeom prst="downArrow">
            <a:avLst/>
          </a:prstGeom>
          <a:solidFill>
            <a:srgbClr val="11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Up Arrow 52"/>
          <p:cNvSpPr/>
          <p:nvPr/>
        </p:nvSpPr>
        <p:spPr>
          <a:xfrm>
            <a:off x="201168" y="3611880"/>
            <a:ext cx="365760" cy="502920"/>
          </a:xfrm>
          <a:prstGeom prst="upArrow">
            <a:avLst/>
          </a:prstGeom>
          <a:solidFill>
            <a:srgbClr val="11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" y="6144768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16530"/>
                </a:solidFill>
                <a:latin typeface="Segoe UI"/>
              </a:rPr>
              <a:t>The loop never stops: more scans → more verified images → a sharper model → more trust → more scans.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FARMER APP · SCREEN FLOW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A farmer-friendly front door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6B58"/>
                </a:solidFill>
                <a:latin typeface="Segoe UI"/>
              </a:rPr>
              <a:t>Simple login (phone + password) and a one-thumb dashboard — every feature is one tap away.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010" y="1801367"/>
            <a:ext cx="2195578" cy="4581144"/>
          </a:xfrm>
          <a:prstGeom prst="roundRect">
            <a:avLst>
              <a:gd name="adj" fmla="val 5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62" y="1874519"/>
            <a:ext cx="2049274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565650" y="1801367"/>
            <a:ext cx="2195578" cy="4581144"/>
          </a:xfrm>
          <a:prstGeom prst="roundRect">
            <a:avLst>
              <a:gd name="adj" fmla="val 5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802" y="1874519"/>
            <a:ext cx="2049274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9440" y="201168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Onboarding in minutes — </a:t>
            </a:r>
            <a:r>
              <a:rPr sz="1250">
                <a:solidFill>
                  <a:srgbClr val="1B271C"/>
                </a:solidFill>
                <a:latin typeface="Segoe UI"/>
              </a:rPr>
              <a:t>phone-number login, profile with farm details (village, crop, varieties, irrigation).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One dashboard, eight services — </a:t>
            </a:r>
            <a:r>
              <a:rPr sz="1250">
                <a:solidFill>
                  <a:srgbClr val="1B271C"/>
                </a:solidFill>
                <a:latin typeface="Segoe UI"/>
              </a:rPr>
              <a:t>Scan, History, Pest Guide, Calendar of Operation, Blog, CIB-RC insecticides, Events and Chat.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Alerts at a glance — </a:t>
            </a:r>
            <a:r>
              <a:rPr sz="1250">
                <a:solidFill>
                  <a:srgbClr val="1B271C"/>
                </a:solidFill>
                <a:latin typeface="Segoe UI"/>
              </a:rPr>
              <a:t>notification bell with unread badge, synced with Firebase push.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Built for low literacy load — </a:t>
            </a:r>
            <a:r>
              <a:rPr sz="1250">
                <a:solidFill>
                  <a:srgbClr val="1B271C"/>
                </a:solidFill>
                <a:latin typeface="Segoe UI"/>
              </a:rPr>
              <a:t>large icons, colour-coded cards, emoji-supported UI.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FARMER APP · SCREEN FLOW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The 30-second AI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6B58"/>
                </a:solidFill>
                <a:latin typeface="Segoe UI"/>
              </a:rPr>
              <a:t>The heart of the product: point, shoot, and receive a complete pest management report.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010" y="1801367"/>
            <a:ext cx="2195578" cy="4581144"/>
          </a:xfrm>
          <a:prstGeom prst="roundRect">
            <a:avLst>
              <a:gd name="adj" fmla="val 5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62" y="1874519"/>
            <a:ext cx="2049274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565650" y="1801367"/>
            <a:ext cx="2195578" cy="4581144"/>
          </a:xfrm>
          <a:prstGeom prst="roundRect">
            <a:avLst>
              <a:gd name="adj" fmla="val 5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802" y="1874519"/>
            <a:ext cx="2049274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9440" y="201168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Camera or gallery — </a:t>
            </a:r>
            <a:r>
              <a:rPr sz="1250">
                <a:solidFill>
                  <a:srgbClr val="1B271C"/>
                </a:solidFill>
                <a:latin typeface="Segoe UI"/>
              </a:rPr>
              <a:t>photo is uploaded, analysed and answered in seconds.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Complete report — </a:t>
            </a:r>
            <a:r>
              <a:rPr sz="1250">
                <a:solidFill>
                  <a:srgbClr val="1B271C"/>
                </a:solidFill>
                <a:latin typeface="Segoe UI"/>
              </a:rPr>
              <a:t>pest name, severity, lifecycle stage, symptoms, Preventive / Curative tabs with organic &amp; chemical control.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Safety-first — </a:t>
            </a:r>
            <a:r>
              <a:rPr sz="1250">
                <a:solidFill>
                  <a:srgbClr val="1B271C"/>
                </a:solidFill>
                <a:latin typeface="Segoe UI"/>
              </a:rPr>
              <a:t>every report carries a registered-pesticide advisory note.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Full history — </a:t>
            </a:r>
            <a:r>
              <a:rPr sz="1250">
                <a:solidFill>
                  <a:srgbClr val="1B271C"/>
                </a:solidFill>
                <a:latin typeface="Segoe UI"/>
              </a:rPr>
              <a:t>every scan saved with review status (pending / verified / corrected by admin) — tap for the full dossier.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FARMER APP · SCREEN FLOW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A pocket plant-protection 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6B58"/>
                </a:solidFill>
                <a:latin typeface="Segoe UI"/>
              </a:rPr>
              <a:t>Knowledge compiled from a 33-page scientific citrus pest compendium and researcher-authored advisories.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410" y="1801367"/>
            <a:ext cx="2195578" cy="4581144"/>
          </a:xfrm>
          <a:prstGeom prst="roundRect">
            <a:avLst>
              <a:gd name="adj" fmla="val 5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62" y="1874519"/>
            <a:ext cx="2049274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337050" y="1801367"/>
            <a:ext cx="2195578" cy="4581144"/>
          </a:xfrm>
          <a:prstGeom prst="roundRect">
            <a:avLst>
              <a:gd name="adj" fmla="val 5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202" y="1874519"/>
            <a:ext cx="2049274" cy="4434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71690" y="1801367"/>
            <a:ext cx="2195578" cy="4581144"/>
          </a:xfrm>
          <a:prstGeom prst="roundRect">
            <a:avLst>
              <a:gd name="adj" fmla="val 5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842" y="1874519"/>
            <a:ext cx="2049274" cy="4434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92640" y="2011680"/>
            <a:ext cx="2148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150">
                <a:solidFill>
                  <a:srgbClr val="1B271C"/>
                </a:solidFill>
                <a:latin typeface="Segoe UI"/>
              </a:rPr>
              <a:t>Pest Guide: all 20 citrus pests with symptoms, prevention, cure, organic &amp; chemical control.</a:t>
            </a:r>
          </a:p>
          <a:p>
            <a:pPr>
              <a:spcAft>
                <a:spcPts val="1200"/>
              </a:spcAft>
            </a:pPr>
            <a:r>
              <a:rPr sz="1150">
                <a:solidFill>
                  <a:srgbClr val="1B271C"/>
                </a:solidFill>
                <a:latin typeface="Segoe UI"/>
              </a:rPr>
              <a:t>Calendar of Operation: month-wise orchard care, admin-managed.</a:t>
            </a:r>
          </a:p>
          <a:p>
            <a:pPr>
              <a:spcAft>
                <a:spcPts val="1200"/>
              </a:spcAft>
            </a:pPr>
            <a:r>
              <a:rPr sz="1150">
                <a:solidFill>
                  <a:srgbClr val="1B271C"/>
                </a:solidFill>
                <a:latin typeface="Segoe UI"/>
              </a:rPr>
              <a:t>Blog &amp; advisories published instantly from the admin panel.</a:t>
            </a:r>
          </a:p>
          <a:p>
            <a:pPr>
              <a:spcAft>
                <a:spcPts val="1200"/>
              </a:spcAft>
            </a:pPr>
            <a:r>
              <a:rPr sz="1150">
                <a:solidFill>
                  <a:srgbClr val="1B271C"/>
                </a:solidFill>
                <a:latin typeface="Segoe UI"/>
              </a:rPr>
              <a:t>CIB-RC recommended insecticide reference per pest.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FARMER APP · SCREEN FLOW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Support that never sleeps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6B58"/>
                </a:solidFill>
                <a:latin typeface="Segoe UI"/>
              </a:rPr>
              <a:t>Chatbot first, human expert second — and district-scale push alerts when it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010" y="1801367"/>
            <a:ext cx="2195578" cy="4581144"/>
          </a:xfrm>
          <a:prstGeom prst="roundRect">
            <a:avLst>
              <a:gd name="adj" fmla="val 5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62" y="1874519"/>
            <a:ext cx="2049274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565650" y="1801367"/>
            <a:ext cx="2195578" cy="4581144"/>
          </a:xfrm>
          <a:prstGeom prst="roundRect">
            <a:avLst>
              <a:gd name="adj" fmla="val 5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otif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802" y="1874519"/>
            <a:ext cx="2049274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9440" y="201168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Real-time chat — </a:t>
            </a:r>
            <a:r>
              <a:rPr sz="1250">
                <a:solidFill>
                  <a:srgbClr val="1B271C"/>
                </a:solidFill>
                <a:latin typeface="Segoe UI"/>
              </a:rPr>
              <a:t>instant chatbot answers; unresolved queries appear in the admin panel; agronomists reply over WebSocket with attachments.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Push campaigns — </a:t>
            </a:r>
            <a:r>
              <a:rPr sz="1250">
                <a:solidFill>
                  <a:srgbClr val="1B271C"/>
                </a:solidFill>
                <a:latin typeface="Segoe UI"/>
              </a:rPr>
              <a:t>Firebase Cloud Messaging delivers district pest alerts and advisories even when the app is closed.</a:t>
            </a:r>
          </a:p>
          <a:p>
            <a:pPr>
              <a:spcAft>
                <a:spcPts val="12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In-app inbox — </a:t>
            </a:r>
            <a:r>
              <a:rPr sz="1250">
                <a:solidFill>
                  <a:srgbClr val="1B271C"/>
                </a:solidFill>
                <a:latin typeface="Segoe UI"/>
              </a:rPr>
              <a:t>read/unread tracking, deep links into Events &amp; Blogs.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INCLUSION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One tap — English, मराठी, हिंदी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6B58"/>
                </a:solidFill>
                <a:latin typeface="Segoe UI"/>
              </a:rPr>
              <a:t>The full experience (UI, pest names, symptoms, prevention &amp; cure) is localised, stored per farmer, and switchable anytime.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010" y="1801367"/>
            <a:ext cx="2195578" cy="4581144"/>
          </a:xfrm>
          <a:prstGeom prst="roundRect">
            <a:avLst>
              <a:gd name="adj" fmla="val 5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62" y="1874519"/>
            <a:ext cx="2049274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0" y="2011680"/>
            <a:ext cx="7406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 b="1">
                <a:solidFill>
                  <a:srgbClr val="116530"/>
                </a:solidFill>
                <a:latin typeface="Segoe UI"/>
              </a:rPr>
              <a:t>Trilingual from day one — </a:t>
            </a:r>
            <a:r>
              <a:rPr sz="1300">
                <a:solidFill>
                  <a:srgbClr val="1B271C"/>
                </a:solidFill>
                <a:latin typeface="Segoe UI"/>
              </a:rPr>
              <a:t>English, Marathi and Hindi dictionaries ship in the app; pest knowledge carries researcher-verified translations.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116530"/>
                </a:solidFill>
                <a:latin typeface="Segoe UI"/>
              </a:rPr>
              <a:t>Farmer-owned profile — </a:t>
            </a:r>
            <a:r>
              <a:rPr sz="1300">
                <a:solidFill>
                  <a:srgbClr val="1B271C"/>
                </a:solidFill>
                <a:latin typeface="Segoe UI"/>
              </a:rPr>
              <a:t>village, district, land, varieties and irrigation data enable targeted, crop-stage advice later.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116530"/>
                </a:solidFill>
                <a:latin typeface="Segoe UI"/>
              </a:rPr>
              <a:t>Language follows the farmer — </a:t>
            </a:r>
            <a:r>
              <a:rPr sz="1300">
                <a:solidFill>
                  <a:srgbClr val="1B271C"/>
                </a:solidFill>
                <a:latin typeface="Segoe UI"/>
              </a:rPr>
              <a:t>the choice is stored on the server, so advisories and blogs render in the farmer's language.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116530"/>
                </a:solidFill>
                <a:latin typeface="Segoe UI"/>
              </a:rPr>
              <a:t>Extensible — </a:t>
            </a:r>
            <a:r>
              <a:rPr sz="1300">
                <a:solidFill>
                  <a:srgbClr val="1B271C"/>
                </a:solidFill>
                <a:latin typeface="Segoe UI"/>
              </a:rPr>
              <a:t>the i18n layer makes adding further Indian languages a content exercise, not a rebuild.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5120640"/>
            <a:ext cx="7406640" cy="1143000"/>
          </a:xfrm>
          <a:prstGeom prst="roundRect">
            <a:avLst>
              <a:gd name="adj" fmla="val 8000"/>
            </a:avLst>
          </a:prstGeom>
          <a:solidFill>
            <a:srgbClr val="11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5321808"/>
            <a:ext cx="6949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"शेतकरी मित्रा स्वागत आहे" · "किसान मित्र आपका स्वागत है" · "Welcome Farmer"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ADMIN PANEL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The command centre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6B58"/>
                </a:solidFill>
                <a:latin typeface="Segoe UI"/>
              </a:rPr>
              <a:t>One dashboard to run the entire ecosystem — illustrated with demo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10511"/>
            <a:ext cx="6986016" cy="4319015"/>
          </a:xfrm>
          <a:prstGeom prst="roundRect">
            <a:avLst>
              <a:gd name="adj" fmla="val 2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6858000" cy="41909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19202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1B271C"/>
                </a:solidFill>
                <a:latin typeface="Segoe UI"/>
              </a:rPr>
              <a:t>Live KPIs: users, pests, detections, unreviewed queue, training images (total/verified), jobs, feedback, knowledge items, FCM-registered farmers.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1B271C"/>
                </a:solidFill>
                <a:latin typeface="Segoe UI"/>
              </a:rPr>
              <a:t>15 role-based modules — admin, agronomist, data labeler and support each see only their workspace.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1B271C"/>
                </a:solidFill>
                <a:latin typeface="Segoe UI"/>
              </a:rPr>
              <a:t>Every KPI card deep-links into its operational screen.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6236208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5A6B58"/>
                </a:solidFill>
                <a:latin typeface="Segoe UI"/>
              </a:rPr>
              <a:t>Illustrative demo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ADMIN PANEL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Human-in-the-loop expert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6B58"/>
                </a:solidFill>
                <a:latin typeface="Segoe UI"/>
              </a:rPr>
              <a:t>Every farmer scan lands here for verification — this is where AI accuracy is manufactured.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10511"/>
            <a:ext cx="6986016" cy="4319015"/>
          </a:xfrm>
          <a:prstGeom prst="roundRect">
            <a:avLst>
              <a:gd name="adj" fmla="val 2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min-up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6858000" cy="41909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19202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1B271C"/>
                </a:solidFill>
                <a:latin typeface="Segoe UI"/>
              </a:rPr>
              <a:t>Agronomists see the farmer's photo beside the AI's top-k answer.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1B271C"/>
                </a:solidFill>
                <a:latin typeface="Segoe UI"/>
              </a:rPr>
              <a:t>One click to verify, correct the pest/stage, and attach a scientist-approved note.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1B271C"/>
                </a:solidFill>
                <a:latin typeface="Segoe UI"/>
              </a:rPr>
              <a:t>"Approve &amp; Train" converts a reviewed upload into a labelled training image instantly.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1B271C"/>
                </a:solidFill>
                <a:latin typeface="Segoe UI"/>
              </a:rPr>
              <a:t>Farmers see Verified / Corrected status on their history — trust is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ADMIN PANEL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The AI Training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6B58"/>
                </a:solidFill>
                <a:latin typeface="Segoe UI"/>
              </a:rPr>
              <a:t>Model training as an operational routine — not a research project.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10511"/>
            <a:ext cx="6986016" cy="4319015"/>
          </a:xfrm>
          <a:prstGeom prst="roundRect">
            <a:avLst>
              <a:gd name="adj" fmla="val 2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min-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6858000" cy="41909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19202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1B271C"/>
                </a:solidFill>
                <a:latin typeface="Segoe UI"/>
              </a:rPr>
              <a:t>Strict 21-class discipline: no production model is registered until verified images exist for all 20 pests + the negative class.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1B271C"/>
                </a:solidFill>
                <a:latin typeface="Segoe UI"/>
              </a:rPr>
              <a:t>Live class-coverage board shows exactly which pest needs more photos.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1B271C"/>
                </a:solidFill>
                <a:latin typeface="Segoe UI"/>
              </a:rPr>
              <a:t>Model profiles are selectable per training run; custom pests can be added.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1B271C"/>
                </a:solidFill>
                <a:latin typeface="Segoe UI"/>
              </a:rPr>
              <a:t>Researcher / browser / developer data feeds enrich the knowledge base continuously.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ADMIN PANEL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Alerts at district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6B58"/>
                </a:solidFill>
                <a:latin typeface="Segoe UI"/>
              </a:rPr>
              <a:t>Firebase Cloud Messaging turns one observation into thousands of protected orchards.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10511"/>
            <a:ext cx="6986016" cy="4319015"/>
          </a:xfrm>
          <a:prstGeom prst="roundRect">
            <a:avLst>
              <a:gd name="adj" fmla="val 2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min-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6858000" cy="41909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19202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>
                <a:solidFill>
                  <a:srgbClr val="1B271C"/>
                </a:solidFill>
                <a:latin typeface="Segoe UI"/>
              </a:rPr>
              <a:t>Compose once → deliver to every registered farmer device (121 tokens in demo).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1B271C"/>
                </a:solidFill>
                <a:latin typeface="Segoe UI"/>
              </a:rPr>
              <a:t>Firebase status &amp; delivery logs built into the panel for accountability.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1B271C"/>
                </a:solidFill>
                <a:latin typeface="Segoe UI"/>
              </a:rPr>
              <a:t>Use cases: outbreak alerts, weather advisories, event announcements, new blog pushes.</a:t>
            </a:r>
          </a:p>
          <a:p>
            <a:pPr>
              <a:spcAft>
                <a:spcPts val="1200"/>
              </a:spcAft>
            </a:pPr>
            <a:r>
              <a:rPr sz="1200">
                <a:solidFill>
                  <a:srgbClr val="1B271C"/>
                </a:solidFill>
                <a:latin typeface="Segoe UI"/>
              </a:rPr>
              <a:t>Delivery analytics feed back into engagement KPIs.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B000"/>
                </a:solidFill>
                <a:latin typeface="Segoe UI"/>
              </a:rPr>
              <a:t>TECHNOLOGY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The AI engine under the hood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3611880" cy="4206240"/>
          </a:xfrm>
          <a:prstGeom prst="roundRect">
            <a:avLst>
              <a:gd name="adj" fmla="val 8000"/>
            </a:avLst>
          </a:prstGeom>
          <a:solidFill>
            <a:srgbClr val="0E2212"/>
          </a:solidFill>
          <a:ln w="15240">
            <a:solidFill>
              <a:srgbClr val="163D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9659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B000"/>
                </a:solidFill>
                <a:latin typeface="Segoe UI"/>
              </a:rPr>
              <a:t>Vision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1000"/>
              </a:spcAft>
            </a:pPr>
            <a:r>
              <a:rPr sz="1150">
                <a:solidFill>
                  <a:srgbClr val="C9D9C6"/>
                </a:solidFill>
                <a:latin typeface="Segoe UI"/>
              </a:rPr>
              <a:t>In-house vision engine, trained only on our own verified dataset.</a:t>
            </a:r>
          </a:p>
          <a:p>
            <a:pPr>
              <a:lnSpc>
                <a:spcPts val="1600"/>
              </a:lnSpc>
              <a:spcAft>
                <a:spcPts val="1000"/>
              </a:spcAft>
            </a:pPr>
            <a:r>
              <a:rPr sz="1150">
                <a:solidFill>
                  <a:srgbClr val="C9D9C6"/>
                </a:solidFill>
                <a:latin typeface="Segoe UI"/>
              </a:rPr>
              <a:t>21 classes: 20 citrus pests + a no-citrus-pest negative class to reject irrelevant photos.</a:t>
            </a:r>
          </a:p>
          <a:p>
            <a:pPr>
              <a:lnSpc>
                <a:spcPts val="1600"/>
              </a:lnSpc>
              <a:spcAft>
                <a:spcPts val="1000"/>
              </a:spcAft>
            </a:pPr>
            <a:r>
              <a:rPr sz="1150">
                <a:solidFill>
                  <a:srgbClr val="C9D9C6"/>
                </a:solidFill>
                <a:latin typeface="Segoe UI"/>
              </a:rPr>
              <a:t>Outputs top-k predictions with confidence, severity and lifecycle stage.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783080"/>
            <a:ext cx="3611880" cy="4206240"/>
          </a:xfrm>
          <a:prstGeom prst="roundRect">
            <a:avLst>
              <a:gd name="adj" fmla="val 8000"/>
            </a:avLst>
          </a:prstGeom>
          <a:solidFill>
            <a:srgbClr val="0E2212"/>
          </a:solidFill>
          <a:ln w="15240">
            <a:solidFill>
              <a:srgbClr val="163D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9659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B000"/>
                </a:solidFill>
                <a:latin typeface="Segoe UI"/>
              </a:rPr>
              <a:t>Training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514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1000"/>
              </a:spcAft>
            </a:pPr>
            <a:r>
              <a:rPr sz="1150">
                <a:solidFill>
                  <a:srgbClr val="C9D9C6"/>
                </a:solidFill>
                <a:latin typeface="Segoe UI"/>
              </a:rPr>
              <a:t>Transfer-training CLI + in-panel trainer with job queue and metrics (accuracy / val-acc / epochs).</a:t>
            </a:r>
          </a:p>
          <a:p>
            <a:pPr>
              <a:lnSpc>
                <a:spcPts val="1600"/>
              </a:lnSpc>
              <a:spcAft>
                <a:spcPts val="1000"/>
              </a:spcAft>
            </a:pPr>
            <a:r>
              <a:rPr sz="1150">
                <a:solidFill>
                  <a:srgbClr val="C9D9C6"/>
                </a:solidFill>
                <a:latin typeface="Segoe UI"/>
              </a:rPr>
              <a:t>Strict mode: model registry refuses production registration until every class has verified images.</a:t>
            </a:r>
          </a:p>
          <a:p>
            <a:pPr>
              <a:lnSpc>
                <a:spcPts val="1600"/>
              </a:lnSpc>
              <a:spcAft>
                <a:spcPts val="1000"/>
              </a:spcAft>
            </a:pPr>
            <a:r>
              <a:rPr sz="1150">
                <a:solidFill>
                  <a:srgbClr val="C9D9C6"/>
                </a:solidFill>
                <a:latin typeface="Segoe UI"/>
              </a:rPr>
              <a:t>Model versions are registered, listed and switchable from the AI Models screen.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783080"/>
            <a:ext cx="3611880" cy="4206240"/>
          </a:xfrm>
          <a:prstGeom prst="roundRect">
            <a:avLst>
              <a:gd name="adj" fmla="val 8000"/>
            </a:avLst>
          </a:prstGeom>
          <a:solidFill>
            <a:srgbClr val="0E2212"/>
          </a:solidFill>
          <a:ln w="15240">
            <a:solidFill>
              <a:srgbClr val="163D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9659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B000"/>
                </a:solidFill>
                <a:latin typeface="Segoe UI"/>
              </a:rPr>
              <a:t>Data hygiene &amp; serving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514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1000"/>
              </a:spcAft>
            </a:pPr>
            <a:r>
              <a:rPr sz="1150">
                <a:solidFill>
                  <a:srgbClr val="C9D9C6"/>
                </a:solidFill>
                <a:latin typeface="Segoe UI"/>
              </a:rPr>
              <a:t>Backend normalises uploads (max 1024px JPEG) before inference; 25s guarded AI timeout; GZip + ORJSON responses.</a:t>
            </a:r>
          </a:p>
          <a:p>
            <a:pPr>
              <a:lnSpc>
                <a:spcPts val="1600"/>
              </a:lnSpc>
              <a:spcAft>
                <a:spcPts val="1000"/>
              </a:spcAft>
            </a:pPr>
            <a:r>
              <a:rPr sz="1150">
                <a:solidFill>
                  <a:srgbClr val="C9D9C6"/>
                </a:solidFill>
                <a:latin typeface="Segoe UI"/>
              </a:rPr>
              <a:t>Before enough real images exist, a deterministic bootstrap engine answers natural images and rejects blank/low-signal photos — the app is never dead.</a:t>
            </a:r>
          </a:p>
          <a:p>
            <a:pPr>
              <a:lnSpc>
                <a:spcPts val="1600"/>
              </a:lnSpc>
              <a:spcAft>
                <a:spcPts val="1000"/>
              </a:spcAft>
            </a:pPr>
            <a:r>
              <a:rPr sz="1150">
                <a:solidFill>
                  <a:srgbClr val="C9D9C6"/>
                </a:solidFill>
                <a:latin typeface="Segoe UI"/>
              </a:rPr>
              <a:t>Feedback (correct/wrong) and admin corrections flow straight into the labelled dataset.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1722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84BD00"/>
                </a:solidFill>
                <a:latin typeface="Segoe UI"/>
              </a:rPr>
              <a:t>Privacy &amp; ownership: all images, labels and models remain on our servers — a strategic data asset, not a vendor's.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B9CCB6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B9CCB6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COMPOUNDING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The data flywheel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6B58"/>
                </a:solidFill>
                <a:latin typeface="Segoe UI"/>
              </a:rPr>
              <a:t>Every stakeholder action makes the platform more valuable for every other stakeholder.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7488" y="1648663"/>
            <a:ext cx="2103120" cy="1133856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57216" y="1740103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16530"/>
                </a:solidFill>
                <a:latin typeface="Segoe UI"/>
              </a:rPr>
              <a:t>📷 Farmers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7216" y="2124151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5A6B58"/>
                </a:solidFill>
                <a:latin typeface="Segoe UI"/>
              </a:rPr>
              <a:t>more orchards covered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8438" y="2529687"/>
            <a:ext cx="2103120" cy="1133856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18166" y="2621127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16530"/>
                </a:solidFill>
                <a:latin typeface="Segoe UI"/>
              </a:rPr>
              <a:t>✅ Experts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8166" y="3005175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5A6B58"/>
                </a:solidFill>
                <a:latin typeface="Segoe UI"/>
              </a:rPr>
              <a:t>labels of research grade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8438" y="4291736"/>
            <a:ext cx="2103120" cy="1133856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8166" y="4383176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16530"/>
                </a:solidFill>
                <a:latin typeface="Segoe UI"/>
              </a:rPr>
              <a:t>🧠 Model retrains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8166" y="4767224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5A6B58"/>
                </a:solidFill>
                <a:latin typeface="Segoe UI"/>
              </a:rPr>
              <a:t>accuracy climbs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5172760"/>
            <a:ext cx="2103120" cy="1133856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526420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16530"/>
                </a:solidFill>
                <a:latin typeface="Segoe UI"/>
              </a:rPr>
              <a:t>📈 Trust grows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5648248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5A6B58"/>
                </a:solidFill>
                <a:latin typeface="Segoe UI"/>
              </a:rPr>
              <a:t>adoption accelerates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86537" y="4291736"/>
            <a:ext cx="2103120" cy="1133856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6265" y="4383176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16530"/>
                </a:solidFill>
                <a:latin typeface="Segoe UI"/>
              </a:rPr>
              <a:t>🗺️ Data deepens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6265" y="4767224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5A6B58"/>
                </a:solidFill>
                <a:latin typeface="Segoe UI"/>
              </a:rPr>
              <a:t>surveillance value for agencies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86537" y="2529687"/>
            <a:ext cx="2103120" cy="1133856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6265" y="2621127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16530"/>
                </a:solidFill>
                <a:latin typeface="Segoe UI"/>
              </a:rPr>
              <a:t>💬 Advisories improve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6265" y="3005175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5A6B58"/>
                </a:solidFill>
                <a:latin typeface="Segoe UI"/>
              </a:rPr>
              <a:t>fewer losses season on season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64608" y="3291839"/>
            <a:ext cx="2468880" cy="1371600"/>
          </a:xfrm>
          <a:prstGeom prst="roundRect">
            <a:avLst>
              <a:gd name="adj" fmla="val 50000"/>
            </a:avLst>
          </a:prstGeom>
          <a:solidFill>
            <a:srgbClr val="11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8" y="3474720"/>
            <a:ext cx="2468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Better AI
every cycle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103120"/>
            <a:ext cx="30175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1" i="0">
                <a:solidFill>
                  <a:srgbClr val="116530"/>
                </a:solidFill>
                <a:latin typeface="Segoe UI"/>
              </a:rPr>
              <a:t>Competitors can copy a model.
They cannot copy a labelled,
geo-tagged, expert-verified
citrus pest dataset built
season after season with
farmers and departments.
That dataset is the moat.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What the farmer gains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9476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16530"/>
                </a:solidFill>
                <a:latin typeface="Segoe UI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31720"/>
            <a:ext cx="3163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Diagnosis in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679191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From "what is eating my crop?" to a named pest with severity — no travel, no waiting.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78308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9476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16530"/>
                </a:solidFill>
                <a:latin typeface="Segoe UI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331720"/>
            <a:ext cx="3163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Right spray, right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679191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CIB-RC aligned, stage-wise chemical &amp; organic options cut wasted pesticide spend.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78308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9476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16530"/>
                </a:solidFill>
                <a:latin typeface="Segoe UI"/>
              </a:rPr>
              <a:t>🗓️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331720"/>
            <a:ext cx="3163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Prevention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679191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Month-wise Calendar of Operation and alerts stop outbreaks before damage.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38328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478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16530"/>
                </a:solidFill>
                <a:latin typeface="Segoe UI"/>
              </a:rPr>
              <a:t>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931920"/>
            <a:ext cx="3163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Expert in the pocket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279392"/>
            <a:ext cx="3163824" cy="320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Chatbot + real agronomist replies in the farmer's own language.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38328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7136" y="35478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16530"/>
                </a:solidFill>
                <a:latin typeface="Segoe UI"/>
              </a:rPr>
              <a:t>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3931920"/>
            <a:ext cx="3163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Personal farm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4279392"/>
            <a:ext cx="3163824" cy="320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Every scan saved — a digital crop-health history useful for loans &amp; insurance.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338328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6" y="35478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16530"/>
                </a:solidFill>
                <a:latin typeface="Segoe UI"/>
              </a:rPr>
              <a:t>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6" y="3931920"/>
            <a:ext cx="3163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Never misses an alert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6" y="4279392"/>
            <a:ext cx="3163824" cy="320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District pest warnings and advisories arrive as push notifications.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02920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11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Segoe UI"/>
              </a:rPr>
              <a:t>Bottom line for the farmer: fewer losses, lower input cost, safer produce, and dignity — the expert now comes to them.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What partner agencies gain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6B58"/>
                </a:solidFill>
                <a:latin typeface="Segoe UI"/>
              </a:rPr>
              <a:t>The same platform becomes critical infrastructure for everyone working in citrus.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47672"/>
            <a:ext cx="50383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🏛️ Agriculture Departments &amp; KVKs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95144"/>
            <a:ext cx="503834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Live, geo-tagged pest incidence from thousands of scans; outbreak alerts can be broadcast to a district in one click; extension staff triage with AI pre-screening.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8308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5" y="1947672"/>
            <a:ext cx="50383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🎓 Universities &amp; Researchers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5" y="2295144"/>
            <a:ext cx="503834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A growing, expert-verified, stage-labelled image dataset + researcher data feeds — raw material for papers, new models and varietal studies.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38328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547872"/>
            <a:ext cx="50383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🧪 Agri-input &amp; Advisory Companies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895344"/>
            <a:ext cx="5038344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Evidence-based demand signals: which pests, where, when — enabling responsible, targeted product guidance (CIB-RC aligned).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38328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5" y="3547872"/>
            <a:ext cx="50383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🍊 FPOs &amp; Grower Associations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5" y="3895344"/>
            <a:ext cx="5038344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Protect member orchards at scale with shared advisories, calendars and alert channels; reduce collective losses.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98348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148072"/>
            <a:ext cx="50383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🏦 Insurers &amp; Rural Credit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495544"/>
            <a:ext cx="503834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Time-stamped, photo-verified crop damage history de-risks assessment and claims.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498348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5" y="5148072"/>
            <a:ext cx="50383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📊 Policy &amp;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5" y="5495544"/>
            <a:ext cx="503834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Season-over-season pest maps inform spraying programs, nurseries policy and HLB containment strategy.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Why citrus, why now, why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993392"/>
            <a:ext cx="50383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🍊 A crop worth protecting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40864"/>
            <a:ext cx="5038344" cy="1389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India is among the world's leading citrus producers, and Maharashtra's Vidarbha region is home to the GI-tagged Nagpur orange. Citrus is a high-value, high-risk crop — perfect for AI protection.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82880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1655" y="1993392"/>
            <a:ext cx="50383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📱 The phone is already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5" y="2340864"/>
            <a:ext cx="5038344" cy="1389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Rural smartphone penetration and cheap data make an app-first solution viable today without any hardware rollout — the distribution channel already exists in the farmer's pocket.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11480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4279392"/>
            <a:ext cx="50383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🤝 Policy tailwinds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4626864"/>
            <a:ext cx="5038344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Digital agriculture, AI for farming and plant-surveillance programs are national priorities; departments actively seek technology partners for early-warning systems.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411480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5" y="4279392"/>
            <a:ext cx="50383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♻️ Expandable playbook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5" y="4626864"/>
            <a:ext cx="5038344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The pipeline (scan → verify → train → advise) is crop-agnostic. Citrus is the wedge; the same engine can serve other horticulture crops afterwards.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TRACTION &amp;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This is not a slide deck — the platform is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6B58"/>
                </a:solidFill>
                <a:latin typeface="Segoe UI"/>
              </a:rPr>
              <a:t>A production-grade MVP across three codebases, ready for pilot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Farmer app — </a:t>
            </a:r>
            <a:r>
              <a:rPr sz="1250">
                <a:solidFill>
                  <a:srgbClr val="1B271C"/>
                </a:solidFill>
                <a:latin typeface="Segoe UI"/>
              </a:rPr>
              <a:t>Expo SDK 54, Android &amp; iOS builds, 18 screens, 3 languages, push-ready.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Backend — </a:t>
            </a:r>
            <a:r>
              <a:rPr sz="1250">
                <a:solidFill>
                  <a:srgbClr val="1B271C"/>
                </a:solidFill>
                <a:latin typeface="Segoe UI"/>
              </a:rPr>
              <a:t>12 API modules, role-based auth, review workflows, WebSocket chat, Firebase push with logs.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AI service — in-house training pipeline, model registry, strict 21-class coverage gates.</a:t>
            </a:r>
            <a:r>
              <a:rPr sz="1250">
                <a:solidFill>
                  <a:srgbClr val="1B271C"/>
                </a:solidFill>
                <a:latin typeface="Segoe UI"/>
              </a:rPr>
              <a:t/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Knowledge — </a:t>
            </a:r>
            <a:r>
              <a:rPr sz="1250">
                <a:solidFill>
                  <a:srgbClr val="1B271C"/>
                </a:solidFill>
                <a:latin typeface="Segoe UI"/>
              </a:rPr>
              <a:t>20 citrus pests digitised from a 33-page scientific compendium; trilingual researcher-verified advisories; CIB-RC insecticide reference.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Admin panel — </a:t>
            </a:r>
            <a:r>
              <a:rPr sz="1250">
                <a:solidFill>
                  <a:srgbClr val="1B271C"/>
                </a:solidFill>
                <a:latin typeface="Segoe UI"/>
              </a:rPr>
              <a:t>15 modules with role-based navigation, badges, review &amp; correction, training studio.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116530"/>
                </a:solidFill>
                <a:latin typeface="Segoe UI"/>
              </a:rPr>
              <a:t>Ops-ready — </a:t>
            </a:r>
            <a:r>
              <a:rPr sz="1250">
                <a:solidFill>
                  <a:srgbClr val="1B271C"/>
                </a:solidFill>
                <a:latin typeface="Segoe UI"/>
              </a:rPr>
              <a:t>deployment docs (with/without Docker), backup/restore scripts, DB switching SQLite↔Postgres.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783080"/>
            <a:ext cx="5120640" cy="4480560"/>
          </a:xfrm>
          <a:prstGeom prst="roundRect">
            <a:avLst>
              <a:gd name="adj" fmla="val 5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01168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B000"/>
                </a:solidFill>
                <a:latin typeface="Segoe UI"/>
              </a:rPr>
              <a:t>Engineering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514600"/>
            <a:ext cx="4663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200">
                <a:solidFill>
                  <a:srgbClr val="C9D9C6"/>
                </a:solidFill>
                <a:latin typeface="Segoe UI"/>
              </a:rPr>
              <a:t>Full IP &amp; data ownership — every model trained in-house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C9D9C6"/>
                </a:solidFill>
                <a:latin typeface="Segoe UI"/>
              </a:rPr>
              <a:t>Deterministic bootstrap keeps the app live pre-training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C9D9C6"/>
                </a:solidFill>
                <a:latin typeface="Segoe UI"/>
              </a:rPr>
              <a:t>Human-in-the-loop on every single detection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C9D9C6"/>
                </a:solidFill>
                <a:latin typeface="Segoe UI"/>
              </a:rPr>
              <a:t>Security: JWT auth, hashed passwords, gitignored service accounts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C9D9C6"/>
                </a:solidFill>
                <a:latin typeface="Segoe UI"/>
              </a:rPr>
              <a:t>Resilient config: Docker or plain VPS, Postgres or 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Four phases to category leadership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2670048" cy="32918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2670048" cy="502920"/>
          </a:xfrm>
          <a:prstGeom prst="roundRect">
            <a:avLst>
              <a:gd name="adj" fmla="val 8000"/>
            </a:avLst>
          </a:prstGeom>
          <a:solidFill>
            <a:srgbClr val="11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240280"/>
            <a:ext cx="2670048" cy="274320"/>
          </a:xfrm>
          <a:prstGeom prst="rect">
            <a:avLst/>
          </a:prstGeom>
          <a:solidFill>
            <a:srgbClr val="11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20116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PHASE 0 ·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6060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16530"/>
                </a:solidFill>
                <a:latin typeface="Segoe UI"/>
              </a:rPr>
              <a:t>Platform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108960"/>
            <a:ext cx="2377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5A6B58"/>
                </a:solidFill>
                <a:latin typeface="Segoe UI"/>
              </a:rPr>
              <a:t>App + backend + admin + AI pipeline built; knowledge digitised; deployment docs ready.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920240"/>
            <a:ext cx="2670048" cy="32918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01568" y="1920240"/>
            <a:ext cx="2670048" cy="502920"/>
          </a:xfrm>
          <a:prstGeom prst="roundRect">
            <a:avLst>
              <a:gd name="adj" fmla="val 8000"/>
            </a:avLst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2240280"/>
            <a:ext cx="2670048" cy="274320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20116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PHASE 1 · 0–6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6060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16530"/>
                </a:solidFill>
                <a:latin typeface="Segoe UI"/>
              </a:rPr>
              <a:t>Pilot: Nagpur district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3108960"/>
            <a:ext cx="2377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5A6B58"/>
                </a:solidFill>
                <a:latin typeface="Segoe UI"/>
              </a:rPr>
              <a:t>500-farmer pilot with a KVK/university partner; labelled-image drive for all 21 classes; first trained model v1.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920240"/>
            <a:ext cx="2670048" cy="32918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6208" y="1920240"/>
            <a:ext cx="2670048" cy="502920"/>
          </a:xfrm>
          <a:prstGeom prst="roundRect">
            <a:avLst>
              <a:gd name="adj" fmla="val 8000"/>
            </a:avLst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2240280"/>
            <a:ext cx="2670048" cy="274320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0116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PHASE 2 · 6–12 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26060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16530"/>
                </a:solidFill>
                <a:latin typeface="Segoe UI"/>
              </a:rPr>
              <a:t>Accuracy &amp;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108960"/>
            <a:ext cx="2377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5A6B58"/>
                </a:solidFill>
                <a:latin typeface="Segoe UI"/>
              </a:rPr>
              <a:t>Top-1 accuracy ≥ 90% on field images; on-device lite model; auto outbreak clustering from geo-data.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0848" y="1920240"/>
            <a:ext cx="2670048" cy="32918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70848" y="1920240"/>
            <a:ext cx="2670048" cy="502920"/>
          </a:xfrm>
          <a:prstGeom prst="roundRect">
            <a:avLst>
              <a:gd name="adj" fmla="val 8000"/>
            </a:avLst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70848" y="2240280"/>
            <a:ext cx="2670048" cy="274320"/>
          </a:xfrm>
          <a:prstGeom prst="rect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0576" y="20116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PHASE 3 · 12–24 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26060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16530"/>
                </a:solidFill>
                <a:latin typeface="Segoe UI"/>
              </a:rPr>
              <a:t>Scale &amp; expand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8008" y="3108960"/>
            <a:ext cx="2377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5A6B58"/>
                </a:solidFill>
                <a:latin typeface="Segoe UI"/>
              </a:rPr>
              <a:t>State-wide rollout (Maharashtra), additional citrus regions, second crop playbooks, agency data APIs.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48640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11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KPIs we will report to the board quarterly: model accuracy, verified-image coverage, active farmers, scans/week, alert delivery rate, estimated loss avoided.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77800"/>
                </a:solidFill>
                <a:latin typeface="Segoe U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16530"/>
                </a:solidFill>
                <a:latin typeface="Segoe UI"/>
              </a:rPr>
              <a:t>What we need from the 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9933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16530"/>
                </a:solidFill>
                <a:latin typeface="Segoe UI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77440"/>
            <a:ext cx="3163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Approve the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724912"/>
            <a:ext cx="3163824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Sanction a 6-month, 500-farmer pilot in Nagpur district with a named department/KVK partner.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82880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9933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16530"/>
                </a:solidFill>
                <a:latin typeface="Segoe UI"/>
              </a:rP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377440"/>
            <a:ext cx="3163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Fund the data drive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724912"/>
            <a:ext cx="3163824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Budget for field image collection, labelling camps with university students and agronomist review time — the fuel of the flywheel.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82880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9933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16530"/>
                </a:solidFill>
                <a:latin typeface="Segoe UI"/>
              </a:rPr>
              <a:t>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377440"/>
            <a:ext cx="3163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16530"/>
                </a:solidFill>
                <a:latin typeface="Segoe UI"/>
              </a:rPr>
              <a:t>Open doors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724912"/>
            <a:ext cx="3163824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 b="0" i="0">
                <a:solidFill>
                  <a:srgbClr val="5A6B58"/>
                </a:solidFill>
                <a:latin typeface="Segoe UI"/>
              </a:rPr>
              <a:t>Introductions to agriculture departments, KVKs and FPO networks for partnerships and endorsements.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89120"/>
            <a:ext cx="11064240" cy="1874519"/>
          </a:xfrm>
          <a:prstGeom prst="roundRect">
            <a:avLst>
              <a:gd name="adj" fmla="val 6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B000"/>
                </a:solidFill>
                <a:latin typeface="Segoe UI"/>
              </a:rPr>
              <a:t>In return, the board receives: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250" b="0" i="0">
                <a:solidFill>
                  <a:srgbClr val="C9D9C6"/>
                </a:solidFill>
                <a:latin typeface="Segoe UI"/>
              </a:rPr>
              <a:t>• A defensible, data-backed AI asset in Indian horticulture   • A public-good platform with strong CSR &amp; policy alignment
• Recurring value streams: agency dashboards, certified advisories, research datasets   • First-mover brand: "the app that protects oranges"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A97"/>
                </a:solidFill>
                <a:latin typeface="Segoe UI"/>
              </a:rPr>
              <a:t>CitriSuraksha AI  ·  Scan · Detect · Protect  ·  Board Pitch —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9AAA97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77800"/>
                </a:solidFill>
                <a:latin typeface="Segoe UI"/>
              </a:rPr>
              <a:t>MULTI-STAGE PIPELINE (AI v2)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16530"/>
                </a:solidFill>
                <a:latin typeface="Segoe UI"/>
              </a:rPr>
              <a:t>From one CNN to a six-signal decision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6B58"/>
                </a:solidFill>
                <a:latin typeface="Segoe UI"/>
              </a:rPr>
              <a:t>Photo in, honest answer out - including 'I don't know'.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1755648" cy="12344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60934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1">
                <a:solidFill>
                  <a:srgbClr val="116530"/>
                </a:solidFill>
                <a:latin typeface="Segoe UI"/>
              </a:rPr>
              <a:t>OpenCV quality gate
blur / light / corruption</a:t>
            </a:r>
          </a:p>
        </p:txBody>
      </p:sp>
      <p:sp>
        <p:nvSpPr>
          <p:cNvPr id="9" name="Chevron 8"/>
          <p:cNvSpPr/>
          <p:nvPr/>
        </p:nvSpPr>
        <p:spPr>
          <a:xfrm>
            <a:off x="2350008" y="2331720"/>
            <a:ext cx="219456" cy="365760"/>
          </a:xfrm>
          <a:prstGeom prst="chevron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87168" y="1920240"/>
            <a:ext cx="1755648" cy="12344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011680"/>
            <a:ext cx="160934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B271C"/>
                </a:solidFill>
                <a:latin typeface="Segoe UI"/>
              </a:rPr>
              <a:t>Pest detector
box + crop</a:t>
            </a:r>
          </a:p>
        </p:txBody>
      </p:sp>
      <p:sp>
        <p:nvSpPr>
          <p:cNvPr id="12" name="Chevron 11"/>
          <p:cNvSpPr/>
          <p:nvPr/>
        </p:nvSpPr>
        <p:spPr>
          <a:xfrm>
            <a:off x="4270248" y="2331720"/>
            <a:ext cx="219456" cy="365760"/>
          </a:xfrm>
          <a:prstGeom prst="chevron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1920240"/>
            <a:ext cx="1755648" cy="12344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160934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B271C"/>
                </a:solidFill>
                <a:latin typeface="Segoe UI"/>
              </a:rPr>
              <a:t>Legacy CNN signal
(bootstrap until trained)</a:t>
            </a:r>
          </a:p>
        </p:txBody>
      </p:sp>
      <p:sp>
        <p:nvSpPr>
          <p:cNvPr id="15" name="Chevron 14"/>
          <p:cNvSpPr/>
          <p:nvPr/>
        </p:nvSpPr>
        <p:spPr>
          <a:xfrm>
            <a:off x="6190488" y="2331720"/>
            <a:ext cx="219456" cy="365760"/>
          </a:xfrm>
          <a:prstGeom prst="chevron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27648" y="1920240"/>
            <a:ext cx="1755648" cy="12344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160934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B271C"/>
                </a:solidFill>
                <a:latin typeface="Segoe UI"/>
              </a:rPr>
              <a:t>Visual memory
verified-image similarity</a:t>
            </a:r>
          </a:p>
        </p:txBody>
      </p:sp>
      <p:sp>
        <p:nvSpPr>
          <p:cNvPr id="18" name="Chevron 17"/>
          <p:cNvSpPr/>
          <p:nvPr/>
        </p:nvSpPr>
        <p:spPr>
          <a:xfrm>
            <a:off x="8110727" y="2331720"/>
            <a:ext cx="219456" cy="365760"/>
          </a:xfrm>
          <a:prstGeom prst="chevron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7888" y="1920240"/>
            <a:ext cx="1755648" cy="12344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011680"/>
            <a:ext cx="160934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B271C"/>
                </a:solidFill>
                <a:latin typeface="Segoe UI"/>
              </a:rPr>
              <a:t>Cross-check signal
secondary, always weak</a:t>
            </a:r>
          </a:p>
        </p:txBody>
      </p:sp>
      <p:sp>
        <p:nvSpPr>
          <p:cNvPr id="21" name="Chevron 20"/>
          <p:cNvSpPr/>
          <p:nvPr/>
        </p:nvSpPr>
        <p:spPr>
          <a:xfrm>
            <a:off x="10030967" y="2331720"/>
            <a:ext cx="219456" cy="365760"/>
          </a:xfrm>
          <a:prstGeom prst="chevron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168128" y="1920240"/>
            <a:ext cx="1755648" cy="12344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2011680"/>
            <a:ext cx="160934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1">
                <a:solidFill>
                  <a:srgbClr val="116530"/>
                </a:solidFill>
                <a:latin typeface="Segoe UI"/>
              </a:rPr>
              <a:t>Decision engine
6 honest outcomes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4747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60273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Decisions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950208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identified · uncertain · unknown · poor_image · no_pest_detected · non_target_image. Unknowns are stored for clustering.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34747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360273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Cross-checks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3950208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Model disagreement or a thin top-1/top-2 margin always downgrades to 'uncertain' - never a blind guess.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34747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7888" y="360273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Knowledge join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3950208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AI identifies; PostgreSQL provides symptoms, prevention, cure, organic/chemical control in EN/MR/HI.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12064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11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Saying 'I don't know' is a feature: it feeds expert review, which feeds the dataset, which feeds accuracy.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77800"/>
                </a:solidFill>
                <a:latin typeface="Segoe UI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16530"/>
                </a:solidFill>
                <a:latin typeface="Segoe UI"/>
              </a:rPr>
              <a:t>No unverified image trains. No unevaluated model deploys.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5681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Dataset versions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04288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Immutable manifests: class distribution, splits, dedupe report. Frozen test set can never leak into 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288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95681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Frozen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304288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Accuracy, macro P/R/F1, per-class AP, confusion matrix, latency - on the frozen test 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8288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5681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Comparison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304288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Better overall but worse on one important pest = REJECT. Small regressions = manual review.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90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55701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Approve →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904487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Deploy requires frozen eval + comparison 'deploy'. Old production archived automatically.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4290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55701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One-click rollback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904487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The previous production model is always redeployable in a single call.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8" y="34290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355701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Bootstrap 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3904487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Verified classification images start detector box training (bootstrap boxes, clearly labelled).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2064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Statuses: training → testing → approved → production → rejected / archived. Every move is audited.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77800"/>
                </a:solidFill>
                <a:latin typeface="Segoe UI"/>
              </a:rPr>
              <a:t>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16530"/>
                </a:solidFill>
                <a:latin typeface="Segoe UI"/>
              </a:rPr>
              <a:t>The platform learns from every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5681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Priority review queue (active learning)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04288"/>
            <a:ext cx="5074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Unreviewed scans ranked by review_priority: low confidence, model disagreement, thin margins, visual novelty. Experts label what improves the model most.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82880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95681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Novel-pest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304288"/>
            <a:ext cx="5074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Unidentified crops are embedded and clustered; coherent clusters surface as CANDIDATE NEW CLASS before anyone has named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6616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69417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Calibrated priorities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41648"/>
            <a:ext cx="5074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Review outcomes (AI right/wrong vs expert label) produce lift-based weight proposals for the queue - human-approved, never auto-applied.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356616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369417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Farmer feedback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41648"/>
            <a:ext cx="5074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Correct/wrong marks + admin corrections flow into verified labels; each dataset version retrains both classifier and detector.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39496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116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504688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More scans → smarter queue → better labels → sharper models → more trust → more scans.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411480"/>
            <a:ext cx="475488" cy="64008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77800"/>
                </a:solidFill>
                <a:latin typeface="Segoe UI"/>
              </a:rPr>
              <a:t>VALIDATED &amp;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16530"/>
                </a:solidFill>
                <a:latin typeface="Segoe UI"/>
              </a:rPr>
              <a:t>Steps 1-12 complete - what the board should know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5681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Latency in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04288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Per-stage budgets enforced; steady-state 0.004-0.04 s/image on CPU (report shipped).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288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95681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Security 7/7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304288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Upload caps, traversal blocked, auth enforced, no tracked secrets, clean diagnostics.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8288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5681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65+ automated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304288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AI service + backend suites green; admin panel builds clean; release runbook documented.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90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55701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Full data 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904487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Every image, label and model stays on our own servers.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4290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55701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Ingest tooling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904487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Labelled-drive ingestion with dedupe + provenance turns collected images into trainable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8" y="34290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355701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Deployment flexibility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3904487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No vendor lock-in; deployment on one VPS with or without Docker.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2064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30368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ts val="18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WE ASK: approve the labelled-image drive + 500-farmer Nagpur pilot; open doors to KVKs/departments.
First trained models follow the runbook: dataset-v1 → frozen eval → compare → approve → deploy.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37160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384048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09160"/>
            <a:ext cx="9445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D9F9DF"/>
                </a:solidFill>
                <a:latin typeface="Segoe UI"/>
              </a:rPr>
              <a:t>Scan · Detect · Protect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49240"/>
            <a:ext cx="94457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C9D9C6"/>
                </a:solidFill>
                <a:latin typeface="Segoe UI"/>
              </a:rPr>
              <a:t>CitriSuraksha AI · Nagpur, Maharashtra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15000"/>
            <a:ext cx="94457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C9D9C6"/>
                </a:solidFill>
                <a:latin typeface="Segoe UI"/>
              </a:rPr>
              <a:t>Let's protect every orange orchard, one scan at a time. 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