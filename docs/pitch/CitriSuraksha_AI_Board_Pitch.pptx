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9" r:id="rId30"/>
    <p:sldId id="280" r:id="rId31"/>
    <p:sldId id="281" r:id="rId32"/>
    <p:sldId id="282" r:id="rId33"/>
    <p:sldId id="278"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7.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11696"/>
            <a:ext cx="12191695" cy="146304"/>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914400" y="2148840"/>
            <a:ext cx="2286000" cy="2286000"/>
          </a:xfrm>
          <a:prstGeom prst="rect">
            <a:avLst/>
          </a:prstGeom>
        </p:spPr>
      </p:pic>
      <p:sp>
        <p:nvSpPr>
          <p:cNvPr id="6" name="TextBox 5"/>
          <p:cNvSpPr txBox="1"/>
          <p:nvPr/>
        </p:nvSpPr>
        <p:spPr>
          <a:xfrm>
            <a:off x="3566160" y="1371600"/>
            <a:ext cx="7863840" cy="457200"/>
          </a:xfrm>
          <a:prstGeom prst="rect">
            <a:avLst/>
          </a:prstGeom>
          <a:noFill/>
        </p:spPr>
        <p:txBody>
          <a:bodyPr wrap="square" anchor="t">
            <a:spAutoFit/>
          </a:bodyPr>
          <a:lstStyle/>
          <a:p>
            <a:pPr algn="l"/>
            <a:r>
              <a:rPr sz="1200" b="1" i="0">
                <a:solidFill>
                  <a:srgbClr val="FFB000"/>
                </a:solidFill>
                <a:latin typeface="Segoe UI"/>
              </a:rPr>
              <a:t>BOARD PITCH · OCTOBER 2026 · CONFIDENTIAL</a:t>
            </a:r>
          </a:p>
        </p:txBody>
      </p:sp>
      <p:sp>
        <p:nvSpPr>
          <p:cNvPr id="7" name="TextBox 6"/>
          <p:cNvSpPr txBox="1"/>
          <p:nvPr/>
        </p:nvSpPr>
        <p:spPr>
          <a:xfrm>
            <a:off x="3520440" y="1965960"/>
            <a:ext cx="8046720" cy="1188720"/>
          </a:xfrm>
          <a:prstGeom prst="rect">
            <a:avLst/>
          </a:prstGeom>
          <a:noFill/>
        </p:spPr>
        <p:txBody>
          <a:bodyPr wrap="square" anchor="t">
            <a:spAutoFit/>
          </a:bodyPr>
          <a:lstStyle/>
          <a:p>
            <a:pPr algn="l"/>
            <a:r>
              <a:rPr sz="5400" b="1" i="0">
                <a:solidFill>
                  <a:srgbClr val="FFFFFF"/>
                </a:solidFill>
                <a:latin typeface="Segoe UI"/>
              </a:rPr>
              <a:t>CitriSuraksha AI</a:t>
            </a:r>
          </a:p>
        </p:txBody>
      </p:sp>
      <p:sp>
        <p:nvSpPr>
          <p:cNvPr id="8" name="TextBox 7"/>
          <p:cNvSpPr txBox="1"/>
          <p:nvPr/>
        </p:nvSpPr>
        <p:spPr>
          <a:xfrm>
            <a:off x="3566160" y="3063240"/>
            <a:ext cx="8046720" cy="548640"/>
          </a:xfrm>
          <a:prstGeom prst="rect">
            <a:avLst/>
          </a:prstGeom>
          <a:noFill/>
        </p:spPr>
        <p:txBody>
          <a:bodyPr wrap="square" anchor="t">
            <a:spAutoFit/>
          </a:bodyPr>
          <a:lstStyle/>
          <a:p>
            <a:pPr algn="l"/>
            <a:r>
              <a:rPr sz="2200" b="1" i="0">
                <a:solidFill>
                  <a:srgbClr val="D9F9DF"/>
                </a:solidFill>
                <a:latin typeface="Segoe UI"/>
              </a:rPr>
              <a:t>Scan · Detect · Protect</a:t>
            </a:r>
          </a:p>
        </p:txBody>
      </p:sp>
      <p:sp>
        <p:nvSpPr>
          <p:cNvPr id="9" name="TextBox 8"/>
          <p:cNvSpPr txBox="1"/>
          <p:nvPr/>
        </p:nvSpPr>
        <p:spPr>
          <a:xfrm>
            <a:off x="3566160" y="3794760"/>
            <a:ext cx="7863840" cy="1097280"/>
          </a:xfrm>
          <a:prstGeom prst="rect">
            <a:avLst/>
          </a:prstGeom>
          <a:noFill/>
        </p:spPr>
        <p:txBody>
          <a:bodyPr wrap="square" anchor="t">
            <a:spAutoFit/>
          </a:bodyPr>
          <a:lstStyle/>
          <a:p>
            <a:pPr algn="l">
              <a:lnSpc>
                <a:spcPts val="2200"/>
              </a:lnSpc>
            </a:pPr>
            <a:r>
              <a:rPr sz="1500" b="0" i="0">
                <a:solidFill>
                  <a:srgbClr val="C9D9C6"/>
                </a:solidFill>
                <a:latin typeface="Segoe UI"/>
              </a:rPr>
              <a:t>A phone app that tells a farmer which pest is on the tree and what to do about it, with departments and researchers reading the same data.</a:t>
            </a:r>
          </a:p>
        </p:txBody>
      </p:sp>
      <p:sp>
        <p:nvSpPr>
          <p:cNvPr id="10" name="TextBox 9"/>
          <p:cNvSpPr txBox="1"/>
          <p:nvPr/>
        </p:nvSpPr>
        <p:spPr>
          <a:xfrm>
            <a:off x="3566160" y="5120640"/>
            <a:ext cx="7863840" cy="365760"/>
          </a:xfrm>
          <a:prstGeom prst="rect">
            <a:avLst/>
          </a:prstGeom>
          <a:noFill/>
        </p:spPr>
        <p:txBody>
          <a:bodyPr wrap="square" anchor="t">
            <a:spAutoFit/>
          </a:bodyPr>
          <a:lstStyle/>
          <a:p>
            <a:pPr algn="l"/>
            <a:r>
              <a:rPr sz="1300" b="1" i="0">
                <a:solidFill>
                  <a:srgbClr val="84BD00"/>
                </a:solidFill>
                <a:latin typeface="Segoe UI"/>
              </a:rPr>
              <a:t>Born in Nagpur, the Orange City of India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THE PROBLEM</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Citrus farming is losing money to pests every season</a:t>
            </a:r>
          </a:p>
        </p:txBody>
      </p:sp>
      <p:sp>
        <p:nvSpPr>
          <p:cNvPr id="6" name="TextBox 5"/>
          <p:cNvSpPr txBox="1"/>
          <p:nvPr/>
        </p:nvSpPr>
        <p:spPr>
          <a:xfrm>
            <a:off x="566928" y="1389888"/>
            <a:ext cx="11155680" cy="457200"/>
          </a:xfrm>
          <a:prstGeom prst="rect">
            <a:avLst/>
          </a:prstGeom>
          <a:noFill/>
        </p:spPr>
        <p:txBody>
          <a:bodyPr wrap="square" anchor="t">
            <a:spAutoFit/>
          </a:bodyPr>
          <a:lstStyle/>
          <a:p>
            <a:pPr algn="l"/>
            <a:r>
              <a:rPr sz="1300" b="0" i="0">
                <a:solidFill>
                  <a:srgbClr val="5A6B58"/>
                </a:solidFill>
                <a:latin typeface="Segoe UI"/>
              </a:rPr>
              <a:t>Pests and diseases cause most of the preventable loss in citrus, and the first two days matter most.</a:t>
            </a:r>
          </a:p>
        </p:txBody>
      </p:sp>
      <p:sp>
        <p:nvSpPr>
          <p:cNvPr id="7" name="Rounded Rectangle 6"/>
          <p:cNvSpPr/>
          <p:nvPr/>
        </p:nvSpPr>
        <p:spPr>
          <a:xfrm>
            <a:off x="566928" y="1965960"/>
            <a:ext cx="3566160" cy="201168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213055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9" name="TextBox 8"/>
          <p:cNvSpPr txBox="1"/>
          <p:nvPr/>
        </p:nvSpPr>
        <p:spPr>
          <a:xfrm>
            <a:off x="768096" y="2514600"/>
            <a:ext cx="3163824" cy="685800"/>
          </a:xfrm>
          <a:prstGeom prst="rect">
            <a:avLst/>
          </a:prstGeom>
          <a:noFill/>
        </p:spPr>
        <p:txBody>
          <a:bodyPr wrap="square" anchor="t">
            <a:spAutoFit/>
          </a:bodyPr>
          <a:lstStyle/>
          <a:p>
            <a:pPr algn="l"/>
            <a:r>
              <a:rPr sz="1400" b="1" i="0">
                <a:solidFill>
                  <a:srgbClr val="116530"/>
                </a:solidFill>
                <a:latin typeface="Segoe UI"/>
              </a:rPr>
              <a:t>Up to 40% crop losses</a:t>
            </a:r>
          </a:p>
        </p:txBody>
      </p:sp>
      <p:sp>
        <p:nvSpPr>
          <p:cNvPr id="10" name="TextBox 9"/>
          <p:cNvSpPr txBox="1"/>
          <p:nvPr/>
        </p:nvSpPr>
        <p:spPr>
          <a:xfrm>
            <a:off x="768096" y="2862072"/>
            <a:ext cx="3163824" cy="914400"/>
          </a:xfrm>
          <a:prstGeom prst="rect">
            <a:avLst/>
          </a:prstGeom>
          <a:noFill/>
        </p:spPr>
        <p:txBody>
          <a:bodyPr wrap="square" anchor="t">
            <a:spAutoFit/>
          </a:bodyPr>
          <a:lstStyle/>
          <a:p>
            <a:pPr algn="l">
              <a:lnSpc>
                <a:spcPts val="1600"/>
              </a:lnSpc>
            </a:pPr>
            <a:r>
              <a:rPr sz="1150" b="0" i="0">
                <a:solidFill>
                  <a:srgbClr val="5A6B58"/>
                </a:solidFill>
                <a:latin typeface="Segoe UI"/>
              </a:rPr>
              <a:t>The FAO says pests and diseases destroy up to 40% of food crops worldwide every year. Citrus alone faces more than 20 major pests.</a:t>
            </a:r>
          </a:p>
        </p:txBody>
      </p:sp>
      <p:sp>
        <p:nvSpPr>
          <p:cNvPr id="11" name="Rounded Rectangle 10"/>
          <p:cNvSpPr/>
          <p:nvPr/>
        </p:nvSpPr>
        <p:spPr>
          <a:xfrm>
            <a:off x="4315968" y="1965960"/>
            <a:ext cx="3566160" cy="201168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7136" y="213055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13" name="TextBox 12"/>
          <p:cNvSpPr txBox="1"/>
          <p:nvPr/>
        </p:nvSpPr>
        <p:spPr>
          <a:xfrm>
            <a:off x="4517136" y="2514600"/>
            <a:ext cx="3163824" cy="685800"/>
          </a:xfrm>
          <a:prstGeom prst="rect">
            <a:avLst/>
          </a:prstGeom>
          <a:noFill/>
        </p:spPr>
        <p:txBody>
          <a:bodyPr wrap="square" anchor="t">
            <a:spAutoFit/>
          </a:bodyPr>
          <a:lstStyle/>
          <a:p>
            <a:pPr algn="l"/>
            <a:r>
              <a:rPr sz="1400" b="1" i="0">
                <a:solidFill>
                  <a:srgbClr val="116530"/>
                </a:solidFill>
                <a:latin typeface="Segoe UI"/>
              </a:rPr>
              <a:t>No expert at the field edge</a:t>
            </a:r>
          </a:p>
        </p:txBody>
      </p:sp>
      <p:sp>
        <p:nvSpPr>
          <p:cNvPr id="14" name="TextBox 13"/>
          <p:cNvSpPr txBox="1"/>
          <p:nvPr/>
        </p:nvSpPr>
        <p:spPr>
          <a:xfrm>
            <a:off x="4517136" y="2862072"/>
            <a:ext cx="3163824" cy="914400"/>
          </a:xfrm>
          <a:prstGeom prst="rect">
            <a:avLst/>
          </a:prstGeom>
          <a:noFill/>
        </p:spPr>
        <p:txBody>
          <a:bodyPr wrap="square" anchor="t">
            <a:spAutoFit/>
          </a:bodyPr>
          <a:lstStyle/>
          <a:p>
            <a:pPr algn="l">
              <a:lnSpc>
                <a:spcPts val="1600"/>
              </a:lnSpc>
            </a:pPr>
            <a:r>
              <a:rPr sz="1150" b="0" i="0">
                <a:solidFill>
                  <a:srgbClr val="5A6B58"/>
                </a:solidFill>
                <a:latin typeface="Segoe UI"/>
              </a:rPr>
              <a:t>One extension officer serves thousands of farmers. A wrong or late diagnosis spreads from village to village before anyone can check it.</a:t>
            </a:r>
          </a:p>
        </p:txBody>
      </p:sp>
      <p:sp>
        <p:nvSpPr>
          <p:cNvPr id="15" name="Rounded Rectangle 14"/>
          <p:cNvSpPr/>
          <p:nvPr/>
        </p:nvSpPr>
        <p:spPr>
          <a:xfrm>
            <a:off x="8065008" y="1965960"/>
            <a:ext cx="3566160" cy="201168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6176" y="213055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17" name="TextBox 16"/>
          <p:cNvSpPr txBox="1"/>
          <p:nvPr/>
        </p:nvSpPr>
        <p:spPr>
          <a:xfrm>
            <a:off x="8266176" y="2514600"/>
            <a:ext cx="3163824" cy="685800"/>
          </a:xfrm>
          <a:prstGeom prst="rect">
            <a:avLst/>
          </a:prstGeom>
          <a:noFill/>
        </p:spPr>
        <p:txBody>
          <a:bodyPr wrap="square" anchor="t">
            <a:spAutoFit/>
          </a:bodyPr>
          <a:lstStyle/>
          <a:p>
            <a:pPr algn="l"/>
            <a:r>
              <a:rPr sz="1400" b="1" i="0">
                <a:solidFill>
                  <a:srgbClr val="116530"/>
                </a:solidFill>
                <a:latin typeface="Segoe UI"/>
              </a:rPr>
              <a:t>Blind pesticide spraying</a:t>
            </a:r>
          </a:p>
        </p:txBody>
      </p:sp>
      <p:sp>
        <p:nvSpPr>
          <p:cNvPr id="18" name="TextBox 17"/>
          <p:cNvSpPr txBox="1"/>
          <p:nvPr/>
        </p:nvSpPr>
        <p:spPr>
          <a:xfrm>
            <a:off x="8266176" y="2862072"/>
            <a:ext cx="3163824" cy="914400"/>
          </a:xfrm>
          <a:prstGeom prst="rect">
            <a:avLst/>
          </a:prstGeom>
          <a:noFill/>
        </p:spPr>
        <p:txBody>
          <a:bodyPr wrap="square" anchor="t">
            <a:spAutoFit/>
          </a:bodyPr>
          <a:lstStyle/>
          <a:p>
            <a:pPr algn="l">
              <a:lnSpc>
                <a:spcPts val="1600"/>
              </a:lnSpc>
            </a:pPr>
            <a:r>
              <a:rPr sz="1150" b="0" i="0">
                <a:solidFill>
                  <a:srgbClr val="5A6B58"/>
                </a:solidFill>
                <a:latin typeface="Segoe UI"/>
              </a:rPr>
              <a:t>When the pest is misidentified, farmers spray the wrong chemical. Money is wasted, residue builds up and friendly insects die.</a:t>
            </a:r>
          </a:p>
        </p:txBody>
      </p:sp>
      <p:sp>
        <p:nvSpPr>
          <p:cNvPr id="19" name="Rounded Rectangle 18"/>
          <p:cNvSpPr/>
          <p:nvPr/>
        </p:nvSpPr>
        <p:spPr>
          <a:xfrm>
            <a:off x="566928" y="4206240"/>
            <a:ext cx="3566160" cy="201168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4370831"/>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21" name="TextBox 20"/>
          <p:cNvSpPr txBox="1"/>
          <p:nvPr/>
        </p:nvSpPr>
        <p:spPr>
          <a:xfrm>
            <a:off x="768096" y="4754879"/>
            <a:ext cx="3163824" cy="685800"/>
          </a:xfrm>
          <a:prstGeom prst="rect">
            <a:avLst/>
          </a:prstGeom>
          <a:noFill/>
        </p:spPr>
        <p:txBody>
          <a:bodyPr wrap="square" anchor="t">
            <a:spAutoFit/>
          </a:bodyPr>
          <a:lstStyle/>
          <a:p>
            <a:pPr algn="l"/>
            <a:r>
              <a:rPr sz="1400" b="1" i="0">
                <a:solidFill>
                  <a:srgbClr val="116530"/>
                </a:solidFill>
                <a:latin typeface="Segoe UI"/>
              </a:rPr>
              <a:t>Citrus greening (HLB) threat</a:t>
            </a:r>
          </a:p>
        </p:txBody>
      </p:sp>
      <p:sp>
        <p:nvSpPr>
          <p:cNvPr id="22" name="TextBox 21"/>
          <p:cNvSpPr txBox="1"/>
          <p:nvPr/>
        </p:nvSpPr>
        <p:spPr>
          <a:xfrm>
            <a:off x="768096" y="5102351"/>
            <a:ext cx="3163824" cy="914400"/>
          </a:xfrm>
          <a:prstGeom prst="rect">
            <a:avLst/>
          </a:prstGeom>
          <a:noFill/>
        </p:spPr>
        <p:txBody>
          <a:bodyPr wrap="square" anchor="t">
            <a:spAutoFit/>
          </a:bodyPr>
          <a:lstStyle/>
          <a:p>
            <a:pPr algn="l">
              <a:lnSpc>
                <a:spcPts val="1600"/>
              </a:lnSpc>
            </a:pPr>
            <a:r>
              <a:rPr sz="1150" b="0" i="0">
                <a:solidFill>
                  <a:srgbClr val="5A6B58"/>
                </a:solidFill>
                <a:latin typeface="Segoe UI"/>
              </a:rPr>
              <a:t>The psyllid that spreads greening disease can only be caught early by trained eyes in the field, and there are never enough of them.</a:t>
            </a:r>
          </a:p>
        </p:txBody>
      </p:sp>
      <p:sp>
        <p:nvSpPr>
          <p:cNvPr id="23" name="Rounded Rectangle 22"/>
          <p:cNvSpPr/>
          <p:nvPr/>
        </p:nvSpPr>
        <p:spPr>
          <a:xfrm>
            <a:off x="4315968" y="4206240"/>
            <a:ext cx="3566160" cy="201168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17136" y="4370831"/>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25" name="TextBox 24"/>
          <p:cNvSpPr txBox="1"/>
          <p:nvPr/>
        </p:nvSpPr>
        <p:spPr>
          <a:xfrm>
            <a:off x="4517136" y="4754879"/>
            <a:ext cx="3163824" cy="685800"/>
          </a:xfrm>
          <a:prstGeom prst="rect">
            <a:avLst/>
          </a:prstGeom>
          <a:noFill/>
        </p:spPr>
        <p:txBody>
          <a:bodyPr wrap="square" anchor="t">
            <a:spAutoFit/>
          </a:bodyPr>
          <a:lstStyle/>
          <a:p>
            <a:pPr algn="l"/>
            <a:r>
              <a:rPr sz="1400" b="1" i="0">
                <a:solidFill>
                  <a:srgbClr val="116530"/>
                </a:solidFill>
                <a:latin typeface="Segoe UI"/>
              </a:rPr>
              <a:t>Advice not in the farmer's language</a:t>
            </a:r>
          </a:p>
        </p:txBody>
      </p:sp>
      <p:sp>
        <p:nvSpPr>
          <p:cNvPr id="26" name="TextBox 25"/>
          <p:cNvSpPr txBox="1"/>
          <p:nvPr/>
        </p:nvSpPr>
        <p:spPr>
          <a:xfrm>
            <a:off x="4517136" y="5358383"/>
            <a:ext cx="3163824" cy="914400"/>
          </a:xfrm>
          <a:prstGeom prst="rect">
            <a:avLst/>
          </a:prstGeom>
          <a:noFill/>
        </p:spPr>
        <p:txBody>
          <a:bodyPr wrap="square" anchor="t">
            <a:spAutoFit/>
          </a:bodyPr>
          <a:lstStyle/>
          <a:p>
            <a:pPr algn="l">
              <a:lnSpc>
                <a:spcPts val="1600"/>
              </a:lnSpc>
            </a:pPr>
            <a:r>
              <a:rPr sz="1150" b="0" i="0">
                <a:solidFill>
                  <a:srgbClr val="5A6B58"/>
                </a:solidFill>
                <a:latin typeface="Segoe UI"/>
              </a:rPr>
              <a:t>Good advisories rarely reach farmers in Marathi or Hindi at the right week of the crop.</a:t>
            </a:r>
          </a:p>
        </p:txBody>
      </p:sp>
      <p:sp>
        <p:nvSpPr>
          <p:cNvPr id="27" name="Rounded Rectangle 26"/>
          <p:cNvSpPr/>
          <p:nvPr/>
        </p:nvSpPr>
        <p:spPr>
          <a:xfrm>
            <a:off x="8065008" y="4206240"/>
            <a:ext cx="3566160" cy="201168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66176" y="4370831"/>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29" name="TextBox 28"/>
          <p:cNvSpPr txBox="1"/>
          <p:nvPr/>
        </p:nvSpPr>
        <p:spPr>
          <a:xfrm>
            <a:off x="8266176" y="4754879"/>
            <a:ext cx="3163824" cy="685800"/>
          </a:xfrm>
          <a:prstGeom prst="rect">
            <a:avLst/>
          </a:prstGeom>
          <a:noFill/>
        </p:spPr>
        <p:txBody>
          <a:bodyPr wrap="square" anchor="t">
            <a:spAutoFit/>
          </a:bodyPr>
          <a:lstStyle/>
          <a:p>
            <a:pPr algn="l"/>
            <a:r>
              <a:rPr sz="1400" b="1" i="0">
                <a:solidFill>
                  <a:srgbClr val="116530"/>
                </a:solidFill>
                <a:latin typeface="Segoe UI"/>
              </a:rPr>
              <a:t>No field data for agencies</a:t>
            </a:r>
          </a:p>
        </p:txBody>
      </p:sp>
      <p:sp>
        <p:nvSpPr>
          <p:cNvPr id="30" name="TextBox 29"/>
          <p:cNvSpPr txBox="1"/>
          <p:nvPr/>
        </p:nvSpPr>
        <p:spPr>
          <a:xfrm>
            <a:off x="8266176" y="5102351"/>
            <a:ext cx="3163824" cy="914400"/>
          </a:xfrm>
          <a:prstGeom prst="rect">
            <a:avLst/>
          </a:prstGeom>
          <a:noFill/>
        </p:spPr>
        <p:txBody>
          <a:bodyPr wrap="square" anchor="t">
            <a:spAutoFit/>
          </a:bodyPr>
          <a:lstStyle/>
          <a:p>
            <a:pPr algn="l">
              <a:lnSpc>
                <a:spcPts val="1600"/>
              </a:lnSpc>
            </a:pPr>
            <a:r>
              <a:rPr sz="1150" b="0" i="0">
                <a:solidFill>
                  <a:srgbClr val="5A6B58"/>
                </a:solidFill>
                <a:latin typeface="Segoe UI"/>
              </a:rPr>
              <a:t>Departments and universities have no live picture of where pests are appearing, so action comes after the outbreak.</a:t>
            </a:r>
          </a:p>
        </p:txBody>
      </p:sp>
      <p:sp>
        <p:nvSpPr>
          <p:cNvPr id="31" name="TextBox 30"/>
          <p:cNvSpPr txBox="1"/>
          <p:nvPr/>
        </p:nvSpPr>
        <p:spPr>
          <a:xfrm>
            <a:off x="576072" y="6272784"/>
            <a:ext cx="10972800" cy="274320"/>
          </a:xfrm>
          <a:prstGeom prst="rect">
            <a:avLst/>
          </a:prstGeom>
          <a:noFill/>
        </p:spPr>
        <p:txBody>
          <a:bodyPr wrap="square" anchor="t">
            <a:spAutoFit/>
          </a:bodyPr>
          <a:lstStyle/>
          <a:p>
            <a:pPr algn="l"/>
            <a:r>
              <a:rPr sz="950" b="0" i="1">
                <a:solidFill>
                  <a:srgbClr val="5A6B58"/>
                </a:solidFill>
                <a:latin typeface="Segoe UI"/>
              </a:rPr>
              <a:t>Source: FAO.</a:t>
            </a:r>
          </a:p>
        </p:txBody>
      </p:sp>
      <p:sp>
        <p:nvSpPr>
          <p:cNvPr id="32" name="TextBox 31"/>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33" name="TextBox 32"/>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OUR SOLUTION</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One platform, three connected surfaces</a:t>
            </a:r>
          </a:p>
        </p:txBody>
      </p:sp>
      <p:sp>
        <p:nvSpPr>
          <p:cNvPr id="6" name="TextBox 5"/>
          <p:cNvSpPr txBox="1"/>
          <p:nvPr/>
        </p:nvSpPr>
        <p:spPr>
          <a:xfrm>
            <a:off x="566928" y="1389888"/>
            <a:ext cx="11155680" cy="457200"/>
          </a:xfrm>
          <a:prstGeom prst="rect">
            <a:avLst/>
          </a:prstGeom>
          <a:noFill/>
        </p:spPr>
        <p:txBody>
          <a:bodyPr wrap="square" anchor="t">
            <a:spAutoFit/>
          </a:bodyPr>
          <a:lstStyle/>
          <a:p>
            <a:pPr algn="l"/>
            <a:r>
              <a:rPr sz="1300" b="0" i="0">
                <a:solidFill>
                  <a:srgbClr val="5A6B58"/>
                </a:solidFill>
                <a:latin typeface="Segoe UI"/>
              </a:rPr>
              <a:t>One platform that connects the farmer's phone to the department's desk.</a:t>
            </a:r>
          </a:p>
        </p:txBody>
      </p:sp>
      <p:sp>
        <p:nvSpPr>
          <p:cNvPr id="7" name="Rounded Rectangle 6"/>
          <p:cNvSpPr/>
          <p:nvPr/>
        </p:nvSpPr>
        <p:spPr>
          <a:xfrm>
            <a:off x="566928" y="2011680"/>
            <a:ext cx="3566160" cy="310896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217627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9" name="TextBox 8"/>
          <p:cNvSpPr txBox="1"/>
          <p:nvPr/>
        </p:nvSpPr>
        <p:spPr>
          <a:xfrm>
            <a:off x="768096" y="2560320"/>
            <a:ext cx="3163824" cy="685800"/>
          </a:xfrm>
          <a:prstGeom prst="rect">
            <a:avLst/>
          </a:prstGeom>
          <a:noFill/>
        </p:spPr>
        <p:txBody>
          <a:bodyPr wrap="square" anchor="t">
            <a:spAutoFit/>
          </a:bodyPr>
          <a:lstStyle/>
          <a:p>
            <a:pPr algn="l"/>
            <a:r>
              <a:rPr sz="1400" b="1" i="0">
                <a:solidFill>
                  <a:srgbClr val="116530"/>
                </a:solidFill>
                <a:latin typeface="Segoe UI"/>
              </a:rPr>
              <a:t>Farmer Mobile App</a:t>
            </a:r>
          </a:p>
        </p:txBody>
      </p:sp>
      <p:sp>
        <p:nvSpPr>
          <p:cNvPr id="10" name="TextBox 9"/>
          <p:cNvSpPr txBox="1"/>
          <p:nvPr/>
        </p:nvSpPr>
        <p:spPr>
          <a:xfrm>
            <a:off x="768096" y="2907792"/>
            <a:ext cx="3163824" cy="2011679"/>
          </a:xfrm>
          <a:prstGeom prst="rect">
            <a:avLst/>
          </a:prstGeom>
          <a:noFill/>
        </p:spPr>
        <p:txBody>
          <a:bodyPr wrap="square" anchor="t">
            <a:spAutoFit/>
          </a:bodyPr>
          <a:lstStyle/>
          <a:p>
            <a:pPr algn="l">
              <a:lnSpc>
                <a:spcPts val="1600"/>
              </a:lnSpc>
            </a:pPr>
            <a:r>
              <a:rPr sz="1150" b="0" i="0">
                <a:solidFill>
                  <a:srgbClr val="5A6B58"/>
                </a:solidFill>
                <a:latin typeface="Segoe UI"/>
              </a:rPr>
              <a:t>Android and iOS. The farmer scans a leaf and gets the pest name with severity, symptoms and prevention plus cure advice, in English, Marathi or Hindi. History, care calendar, advisories, chat and alerts are built in.</a:t>
            </a:r>
          </a:p>
        </p:txBody>
      </p:sp>
      <p:sp>
        <p:nvSpPr>
          <p:cNvPr id="11" name="Rounded Rectangle 10"/>
          <p:cNvSpPr/>
          <p:nvPr/>
        </p:nvSpPr>
        <p:spPr>
          <a:xfrm>
            <a:off x="4315968" y="2011680"/>
            <a:ext cx="3566160" cy="310896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7136" y="217627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13" name="TextBox 12"/>
          <p:cNvSpPr txBox="1"/>
          <p:nvPr/>
        </p:nvSpPr>
        <p:spPr>
          <a:xfrm>
            <a:off x="4517136" y="2560320"/>
            <a:ext cx="3163824" cy="685800"/>
          </a:xfrm>
          <a:prstGeom prst="rect">
            <a:avLst/>
          </a:prstGeom>
          <a:noFill/>
        </p:spPr>
        <p:txBody>
          <a:bodyPr wrap="square" anchor="t">
            <a:spAutoFit/>
          </a:bodyPr>
          <a:lstStyle/>
          <a:p>
            <a:pPr algn="l"/>
            <a:r>
              <a:rPr sz="1400" b="1" i="0">
                <a:solidFill>
                  <a:srgbClr val="116530"/>
                </a:solidFill>
                <a:latin typeface="Segoe UI"/>
              </a:rPr>
              <a:t>AI + Cloud Backend</a:t>
            </a:r>
          </a:p>
        </p:txBody>
      </p:sp>
      <p:sp>
        <p:nvSpPr>
          <p:cNvPr id="14" name="TextBox 13"/>
          <p:cNvSpPr txBox="1"/>
          <p:nvPr/>
        </p:nvSpPr>
        <p:spPr>
          <a:xfrm>
            <a:off x="4517136" y="2907792"/>
            <a:ext cx="3163824" cy="2011679"/>
          </a:xfrm>
          <a:prstGeom prst="rect">
            <a:avLst/>
          </a:prstGeom>
          <a:noFill/>
        </p:spPr>
        <p:txBody>
          <a:bodyPr wrap="square" anchor="t">
            <a:spAutoFit/>
          </a:bodyPr>
          <a:lstStyle/>
          <a:p>
            <a:pPr algn="l">
              <a:lnSpc>
                <a:spcPts val="1600"/>
              </a:lnSpc>
            </a:pPr>
            <a:r>
              <a:rPr sz="1150" b="0" i="0">
                <a:solidFill>
                  <a:srgbClr val="5A6B58"/>
                </a:solidFill>
                <a:latin typeface="Segoe UI"/>
              </a:rPr>
              <a:t>A Python backend with its own vision service. The classifier covers the 20 citrus pests plus a 'no pest' class and improves with every verified upload. Push alerts reach a whole district at once.</a:t>
            </a:r>
          </a:p>
        </p:txBody>
      </p:sp>
      <p:sp>
        <p:nvSpPr>
          <p:cNvPr id="15" name="Rounded Rectangle 14"/>
          <p:cNvSpPr/>
          <p:nvPr/>
        </p:nvSpPr>
        <p:spPr>
          <a:xfrm>
            <a:off x="8065008" y="2011680"/>
            <a:ext cx="3566160" cy="310896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66176" y="217627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17" name="TextBox 16"/>
          <p:cNvSpPr txBox="1"/>
          <p:nvPr/>
        </p:nvSpPr>
        <p:spPr>
          <a:xfrm>
            <a:off x="8266176" y="2560320"/>
            <a:ext cx="3163824" cy="685800"/>
          </a:xfrm>
          <a:prstGeom prst="rect">
            <a:avLst/>
          </a:prstGeom>
          <a:noFill/>
        </p:spPr>
        <p:txBody>
          <a:bodyPr wrap="square" anchor="t">
            <a:spAutoFit/>
          </a:bodyPr>
          <a:lstStyle/>
          <a:p>
            <a:pPr algn="l"/>
            <a:r>
              <a:rPr sz="1400" b="1" i="0">
                <a:solidFill>
                  <a:srgbClr val="116530"/>
                </a:solidFill>
                <a:latin typeface="Segoe UI"/>
              </a:rPr>
              <a:t>Admin &amp; Expert Panel</a:t>
            </a:r>
          </a:p>
        </p:txBody>
      </p:sp>
      <p:sp>
        <p:nvSpPr>
          <p:cNvPr id="18" name="TextBox 17"/>
          <p:cNvSpPr txBox="1"/>
          <p:nvPr/>
        </p:nvSpPr>
        <p:spPr>
          <a:xfrm>
            <a:off x="8266176" y="2907792"/>
            <a:ext cx="3163824" cy="2011679"/>
          </a:xfrm>
          <a:prstGeom prst="rect">
            <a:avLst/>
          </a:prstGeom>
          <a:noFill/>
        </p:spPr>
        <p:txBody>
          <a:bodyPr wrap="square" anchor="t">
            <a:spAutoFit/>
          </a:bodyPr>
          <a:lstStyle/>
          <a:p>
            <a:pPr algn="l">
              <a:lnSpc>
                <a:spcPts val="1600"/>
              </a:lnSpc>
            </a:pPr>
            <a:r>
              <a:rPr sz="1150" b="0" i="0">
                <a:solidFill>
                  <a:srgbClr val="5A6B58"/>
                </a:solidFill>
                <a:latin typeface="Segoe UI"/>
              </a:rPr>
              <a:t>A role based web panel for admins, agronomists, labelers and support staff: verify or correct AI results, publish advisories, manage pests and insecticides, train the models, send campaigns and answer farmer chats.</a:t>
            </a:r>
          </a:p>
        </p:txBody>
      </p:sp>
      <p:sp>
        <p:nvSpPr>
          <p:cNvPr id="19" name="Rounded Rectangle 18"/>
          <p:cNvSpPr/>
          <p:nvPr/>
        </p:nvSpPr>
        <p:spPr>
          <a:xfrm>
            <a:off x="566928" y="5440680"/>
            <a:ext cx="11064240" cy="960120"/>
          </a:xfrm>
          <a:prstGeom prst="roundRect">
            <a:avLst>
              <a:gd name="adj" fmla="val 10000"/>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5596128"/>
            <a:ext cx="10607040" cy="685800"/>
          </a:xfrm>
          <a:prstGeom prst="rect">
            <a:avLst/>
          </a:prstGeom>
          <a:noFill/>
        </p:spPr>
        <p:txBody>
          <a:bodyPr wrap="square" anchor="t">
            <a:spAutoFit/>
          </a:bodyPr>
          <a:lstStyle/>
          <a:p>
            <a:pPr algn="ctr"/>
            <a:r>
              <a:rPr sz="1600" b="1" i="0">
                <a:solidFill>
                  <a:srgbClr val="FFFFFF"/>
                </a:solidFill>
                <a:latin typeface="Segoe UI"/>
              </a:rPr>
              <a:t>From scan to advice in under 30 seconds, with a human expert always behind it.</a:t>
            </a:r>
          </a:p>
        </p:txBody>
      </p:sp>
      <p:sp>
        <p:nvSpPr>
          <p:cNvPr id="21" name="TextBox 20"/>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22" name="TextBox 21"/>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PLATFORM OVERVIEW</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How the pieces fit together</a:t>
            </a:r>
          </a:p>
        </p:txBody>
      </p:sp>
      <p:sp>
        <p:nvSpPr>
          <p:cNvPr id="6" name="Rounded Rectangle 5"/>
          <p:cNvSpPr/>
          <p:nvPr/>
        </p:nvSpPr>
        <p:spPr>
          <a:xfrm>
            <a:off x="566928" y="1874519"/>
            <a:ext cx="2468880" cy="155448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011679"/>
            <a:ext cx="2194560" cy="457200"/>
          </a:xfrm>
          <a:prstGeom prst="rect">
            <a:avLst/>
          </a:prstGeom>
          <a:noFill/>
        </p:spPr>
        <p:txBody>
          <a:bodyPr wrap="square" anchor="t">
            <a:spAutoFit/>
          </a:bodyPr>
          <a:lstStyle/>
          <a:p>
            <a:pPr algn="l"/>
            <a:r>
              <a:rPr sz="1400" b="1" i="0">
                <a:solidFill>
                  <a:srgbClr val="116530"/>
                </a:solidFill>
                <a:latin typeface="Segoe UI"/>
              </a:rPr>
              <a:t>📱 Mobile App</a:t>
            </a:r>
          </a:p>
        </p:txBody>
      </p:sp>
      <p:sp>
        <p:nvSpPr>
          <p:cNvPr id="8" name="TextBox 7"/>
          <p:cNvSpPr txBox="1"/>
          <p:nvPr/>
        </p:nvSpPr>
        <p:spPr>
          <a:xfrm>
            <a:off x="704088" y="2441448"/>
            <a:ext cx="2194560" cy="1005840"/>
          </a:xfrm>
          <a:prstGeom prst="rect">
            <a:avLst/>
          </a:prstGeom>
          <a:noFill/>
        </p:spPr>
        <p:txBody>
          <a:bodyPr wrap="square" anchor="t">
            <a:spAutoFit/>
          </a:bodyPr>
          <a:lstStyle/>
          <a:p>
            <a:pPr algn="l">
              <a:lnSpc>
                <a:spcPts val="1500"/>
              </a:lnSpc>
            </a:pPr>
            <a:r>
              <a:rPr sz="1100" b="0" i="0">
                <a:solidFill>
                  <a:srgbClr val="5A6B58"/>
                </a:solidFill>
                <a:latin typeface="Segoe UI"/>
              </a:rPr>
              <a:t>React Native
Android + iOS
Offline-safe, 3 languages</a:t>
            </a:r>
          </a:p>
        </p:txBody>
      </p:sp>
      <p:sp>
        <p:nvSpPr>
          <p:cNvPr id="9" name="Rounded Rectangle 8"/>
          <p:cNvSpPr/>
          <p:nvPr/>
        </p:nvSpPr>
        <p:spPr>
          <a:xfrm>
            <a:off x="3401568" y="1874519"/>
            <a:ext cx="2468880" cy="155448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38728" y="2011679"/>
            <a:ext cx="2194560" cy="457200"/>
          </a:xfrm>
          <a:prstGeom prst="rect">
            <a:avLst/>
          </a:prstGeom>
          <a:noFill/>
        </p:spPr>
        <p:txBody>
          <a:bodyPr wrap="square" anchor="t">
            <a:spAutoFit/>
          </a:bodyPr>
          <a:lstStyle/>
          <a:p>
            <a:pPr algn="l"/>
            <a:r>
              <a:rPr sz="1400" b="1" i="0">
                <a:solidFill>
                  <a:srgbClr val="116530"/>
                </a:solidFill>
                <a:latin typeface="Segoe UI"/>
              </a:rPr>
              <a:t>🌐 Backend API</a:t>
            </a:r>
          </a:p>
        </p:txBody>
      </p:sp>
      <p:sp>
        <p:nvSpPr>
          <p:cNvPr id="11" name="TextBox 10"/>
          <p:cNvSpPr txBox="1"/>
          <p:nvPr/>
        </p:nvSpPr>
        <p:spPr>
          <a:xfrm>
            <a:off x="3538728" y="2441448"/>
            <a:ext cx="2194560" cy="1005840"/>
          </a:xfrm>
          <a:prstGeom prst="rect">
            <a:avLst/>
          </a:prstGeom>
          <a:noFill/>
        </p:spPr>
        <p:txBody>
          <a:bodyPr wrap="square" anchor="t">
            <a:spAutoFit/>
          </a:bodyPr>
          <a:lstStyle/>
          <a:p>
            <a:pPr algn="l">
              <a:lnSpc>
                <a:spcPts val="1500"/>
              </a:lnSpc>
            </a:pPr>
            <a:r>
              <a:rPr sz="1100" b="0" i="0">
                <a:solidFill>
                  <a:srgbClr val="5A6B58"/>
                </a:solidFill>
                <a:latin typeface="Segoe UI"/>
              </a:rPr>
              <a:t>Python backend
SQL database
Secure logins, fast responses</a:t>
            </a:r>
          </a:p>
        </p:txBody>
      </p:sp>
      <p:sp>
        <p:nvSpPr>
          <p:cNvPr id="12" name="Rounded Rectangle 11"/>
          <p:cNvSpPr/>
          <p:nvPr/>
        </p:nvSpPr>
        <p:spPr>
          <a:xfrm>
            <a:off x="6236208" y="1874519"/>
            <a:ext cx="2468880" cy="155448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2011679"/>
            <a:ext cx="2194560" cy="457200"/>
          </a:xfrm>
          <a:prstGeom prst="rect">
            <a:avLst/>
          </a:prstGeom>
          <a:noFill/>
        </p:spPr>
        <p:txBody>
          <a:bodyPr wrap="square" anchor="t">
            <a:spAutoFit/>
          </a:bodyPr>
          <a:lstStyle/>
          <a:p>
            <a:pPr algn="l"/>
            <a:r>
              <a:rPr sz="1400" b="1" i="0">
                <a:solidFill>
                  <a:srgbClr val="116530"/>
                </a:solidFill>
                <a:latin typeface="Segoe UI"/>
              </a:rPr>
              <a:t>🧠 AI Service</a:t>
            </a:r>
          </a:p>
        </p:txBody>
      </p:sp>
      <p:sp>
        <p:nvSpPr>
          <p:cNvPr id="14" name="TextBox 13"/>
          <p:cNvSpPr txBox="1"/>
          <p:nvPr/>
        </p:nvSpPr>
        <p:spPr>
          <a:xfrm>
            <a:off x="6373368" y="2441448"/>
            <a:ext cx="2194560" cy="1005840"/>
          </a:xfrm>
          <a:prstGeom prst="rect">
            <a:avLst/>
          </a:prstGeom>
          <a:noFill/>
        </p:spPr>
        <p:txBody>
          <a:bodyPr wrap="square" anchor="t">
            <a:spAutoFit/>
          </a:bodyPr>
          <a:lstStyle/>
          <a:p>
            <a:pPr algn="l">
              <a:lnSpc>
                <a:spcPts val="1500"/>
              </a:lnSpc>
            </a:pPr>
            <a:r>
              <a:rPr sz="1100" b="0" i="0">
                <a:solidFill>
                  <a:srgbClr val="5A6B58"/>
                </a:solidFill>
                <a:latin typeface="Segoe UI"/>
              </a:rPr>
              <a:t>In-house vision engine
21-class pest classifier
Trained on our verified data</a:t>
            </a:r>
          </a:p>
        </p:txBody>
      </p:sp>
      <p:sp>
        <p:nvSpPr>
          <p:cNvPr id="15" name="Rounded Rectangle 14"/>
          <p:cNvSpPr/>
          <p:nvPr/>
        </p:nvSpPr>
        <p:spPr>
          <a:xfrm>
            <a:off x="9070848" y="1874519"/>
            <a:ext cx="2560320" cy="155448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08008" y="2011679"/>
            <a:ext cx="2286000" cy="457200"/>
          </a:xfrm>
          <a:prstGeom prst="rect">
            <a:avLst/>
          </a:prstGeom>
          <a:noFill/>
        </p:spPr>
        <p:txBody>
          <a:bodyPr wrap="square" anchor="t">
            <a:spAutoFit/>
          </a:bodyPr>
          <a:lstStyle/>
          <a:p>
            <a:pPr algn="l"/>
            <a:r>
              <a:rPr sz="1400" b="1" i="0">
                <a:solidFill>
                  <a:srgbClr val="116530"/>
                </a:solidFill>
                <a:latin typeface="Segoe UI"/>
              </a:rPr>
              <a:t>🔔 Firebase Cloud</a:t>
            </a:r>
          </a:p>
        </p:txBody>
      </p:sp>
      <p:sp>
        <p:nvSpPr>
          <p:cNvPr id="17" name="TextBox 16"/>
          <p:cNvSpPr txBox="1"/>
          <p:nvPr/>
        </p:nvSpPr>
        <p:spPr>
          <a:xfrm>
            <a:off x="9208008" y="2441448"/>
            <a:ext cx="2286000" cy="1005840"/>
          </a:xfrm>
          <a:prstGeom prst="rect">
            <a:avLst/>
          </a:prstGeom>
          <a:noFill/>
        </p:spPr>
        <p:txBody>
          <a:bodyPr wrap="square" anchor="t">
            <a:spAutoFit/>
          </a:bodyPr>
          <a:lstStyle/>
          <a:p>
            <a:pPr algn="l">
              <a:lnSpc>
                <a:spcPts val="1500"/>
              </a:lnSpc>
            </a:pPr>
            <a:r>
              <a:rPr sz="1100" b="0" i="0">
                <a:solidFill>
                  <a:srgbClr val="5A6B58"/>
                </a:solidFill>
                <a:latin typeface="Segoe UI"/>
              </a:rPr>
              <a:t>Push alerts
device tokens
delivery logs</a:t>
            </a:r>
          </a:p>
        </p:txBody>
      </p:sp>
      <p:sp>
        <p:nvSpPr>
          <p:cNvPr id="18" name="Right Arrow 17"/>
          <p:cNvSpPr/>
          <p:nvPr/>
        </p:nvSpPr>
        <p:spPr>
          <a:xfrm>
            <a:off x="3054096" y="2514600"/>
            <a:ext cx="347472" cy="274320"/>
          </a:xfrm>
          <a:prstGeom prst="rightArrow">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ight Arrow 18"/>
          <p:cNvSpPr/>
          <p:nvPr/>
        </p:nvSpPr>
        <p:spPr>
          <a:xfrm>
            <a:off x="5888736" y="2514600"/>
            <a:ext cx="347472" cy="274320"/>
          </a:xfrm>
          <a:prstGeom prst="rightArrow">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ight Arrow 19"/>
          <p:cNvSpPr/>
          <p:nvPr/>
        </p:nvSpPr>
        <p:spPr>
          <a:xfrm>
            <a:off x="8723376" y="2514600"/>
            <a:ext cx="347472" cy="274320"/>
          </a:xfrm>
          <a:prstGeom prst="rightArrow">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66928" y="3886200"/>
            <a:ext cx="11064240" cy="1371600"/>
          </a:xfrm>
          <a:prstGeom prst="roundRect">
            <a:avLst>
              <a:gd name="adj" fmla="val 6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4041648"/>
            <a:ext cx="10607040" cy="365760"/>
          </a:xfrm>
          <a:prstGeom prst="rect">
            <a:avLst/>
          </a:prstGeom>
          <a:noFill/>
        </p:spPr>
        <p:txBody>
          <a:bodyPr wrap="square" anchor="t">
            <a:spAutoFit/>
          </a:bodyPr>
          <a:lstStyle/>
          <a:p>
            <a:pPr algn="l"/>
            <a:r>
              <a:rPr sz="1400" b="1" i="0">
                <a:solidFill>
                  <a:srgbClr val="FFFFFF"/>
                </a:solidFill>
                <a:latin typeface="Segoe UI"/>
              </a:rPr>
              <a:t>🖥️ Admin &amp; Expert Panel, React + TypeScript (hosted independently)</a:t>
            </a:r>
          </a:p>
        </p:txBody>
      </p:sp>
      <p:sp>
        <p:nvSpPr>
          <p:cNvPr id="23" name="TextBox 22"/>
          <p:cNvSpPr txBox="1"/>
          <p:nvPr/>
        </p:nvSpPr>
        <p:spPr>
          <a:xfrm>
            <a:off x="777240" y="4434840"/>
            <a:ext cx="10607040" cy="822960"/>
          </a:xfrm>
          <a:prstGeom prst="rect">
            <a:avLst/>
          </a:prstGeom>
          <a:noFill/>
        </p:spPr>
        <p:txBody>
          <a:bodyPr wrap="square" anchor="t">
            <a:spAutoFit/>
          </a:bodyPr>
          <a:lstStyle/>
          <a:p>
            <a:pPr algn="l">
              <a:lnSpc>
                <a:spcPts val="1600"/>
              </a:lnSpc>
            </a:pPr>
            <a:r>
              <a:rPr sz="1150" b="0" i="0">
                <a:solidFill>
                  <a:srgbClr val="C9D9C6"/>
                </a:solidFill>
                <a:latin typeface="Segoe UI"/>
              </a:rPr>
              <a:t>Dashboard · Users &amp; Farmers · Farmer Uploads review · Pest &amp; Insecticide registry · Blog/Events/Calendar publishing · Train AI studio · AI Models · Push campaigns · Farmer Chat · Notifications · Settings</a:t>
            </a:r>
          </a:p>
        </p:txBody>
      </p:sp>
      <p:sp>
        <p:nvSpPr>
          <p:cNvPr id="24" name="TextBox 23"/>
          <p:cNvSpPr txBox="1"/>
          <p:nvPr/>
        </p:nvSpPr>
        <p:spPr>
          <a:xfrm>
            <a:off x="576072" y="5486400"/>
            <a:ext cx="11064240" cy="5029200"/>
          </a:xfrm>
          <a:prstGeom prst="rect">
            <a:avLst/>
          </a:prstGeom>
          <a:noFill/>
        </p:spPr>
        <p:txBody>
          <a:bodyPr wrap="square">
            <a:spAutoFit/>
          </a:bodyPr>
          <a:lstStyle/>
          <a:p>
            <a:pPr>
              <a:spcAft>
                <a:spcPts val="800"/>
              </a:spcAft>
            </a:pPr>
            <a:r>
              <a:rPr sz="1250" b="1">
                <a:solidFill>
                  <a:srgbClr val="116530"/>
                </a:solidFill>
                <a:latin typeface="Segoe UI"/>
              </a:rPr>
              <a:t>The vision model is trained in house on our own verified images, so the data and the models belong to us.</a:t>
            </a:r>
            <a:r>
              <a:rPr sz="1250">
                <a:solidFill>
                  <a:srgbClr val="1B271C"/>
                </a:solidFill>
                <a:latin typeface="Segoe UI"/>
              </a:rPr>
              <a:t/>
            </a:r>
          </a:p>
          <a:p>
            <a:pPr>
              <a:spcAft>
                <a:spcPts val="800"/>
              </a:spcAft>
            </a:pPr>
            <a:r>
              <a:rPr sz="1250" b="1">
                <a:solidFill>
                  <a:srgbClr val="116530"/>
                </a:solidFill>
                <a:latin typeface="Segoe UI"/>
              </a:rPr>
              <a:t/>
            </a:r>
            <a:r>
              <a:rPr sz="1250">
                <a:solidFill>
                  <a:srgbClr val="1B271C"/>
                </a:solidFill>
                <a:latin typeface="Segoe UI"/>
              </a:rPr>
              <a:t/>
            </a:r>
          </a:p>
        </p:txBody>
      </p:sp>
      <p:sp>
        <p:nvSpPr>
          <p:cNvPr id="25" name="TextBox 24"/>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26" name="TextBox 25"/>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COMPLETE FLOW</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From a photo in the orchard to a smarter AI</a:t>
            </a:r>
          </a:p>
        </p:txBody>
      </p:sp>
      <p:sp>
        <p:nvSpPr>
          <p:cNvPr id="6" name="Rounded Rectangle 5"/>
          <p:cNvSpPr/>
          <p:nvPr/>
        </p:nvSpPr>
        <p:spPr>
          <a:xfrm>
            <a:off x="566928" y="1828800"/>
            <a:ext cx="2487168" cy="16916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13232" y="1975104"/>
            <a:ext cx="384048" cy="384048"/>
          </a:xfrm>
          <a:prstGeom prst="roundRect">
            <a:avLst>
              <a:gd name="adj" fmla="val 50000"/>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975104"/>
            <a:ext cx="384048" cy="384048"/>
          </a:xfrm>
          <a:prstGeom prst="rect">
            <a:avLst/>
          </a:prstGeom>
          <a:noFill/>
        </p:spPr>
        <p:txBody>
          <a:bodyPr wrap="square" anchor="ctr">
            <a:spAutoFit/>
          </a:bodyPr>
          <a:lstStyle/>
          <a:p>
            <a:pPr algn="ctr"/>
            <a:r>
              <a:rPr sz="1500" b="1" i="0">
                <a:solidFill>
                  <a:srgbClr val="FFFFFF"/>
                </a:solidFill>
                <a:latin typeface="Segoe UI"/>
              </a:rPr>
              <a:t>5</a:t>
            </a:r>
          </a:p>
        </p:txBody>
      </p:sp>
      <p:sp>
        <p:nvSpPr>
          <p:cNvPr id="9" name="TextBox 8"/>
          <p:cNvSpPr txBox="1"/>
          <p:nvPr/>
        </p:nvSpPr>
        <p:spPr>
          <a:xfrm>
            <a:off x="1188720" y="2011680"/>
            <a:ext cx="1783080" cy="365760"/>
          </a:xfrm>
          <a:prstGeom prst="rect">
            <a:avLst/>
          </a:prstGeom>
          <a:noFill/>
        </p:spPr>
        <p:txBody>
          <a:bodyPr wrap="square" anchor="t">
            <a:spAutoFit/>
          </a:bodyPr>
          <a:lstStyle/>
          <a:p>
            <a:pPr algn="l"/>
            <a:r>
              <a:rPr sz="1350" b="1" i="0">
                <a:solidFill>
                  <a:srgbClr val="116530"/>
                </a:solidFill>
                <a:latin typeface="Segoe UI"/>
              </a:rPr>
              <a:t>Farmer captures</a:t>
            </a:r>
          </a:p>
        </p:txBody>
      </p:sp>
      <p:sp>
        <p:nvSpPr>
          <p:cNvPr id="10" name="TextBox 9"/>
          <p:cNvSpPr txBox="1"/>
          <p:nvPr/>
        </p:nvSpPr>
        <p:spPr>
          <a:xfrm>
            <a:off x="713232" y="2450592"/>
            <a:ext cx="2212848" cy="1005840"/>
          </a:xfrm>
          <a:prstGeom prst="rect">
            <a:avLst/>
          </a:prstGeom>
          <a:noFill/>
        </p:spPr>
        <p:txBody>
          <a:bodyPr wrap="square" anchor="t">
            <a:spAutoFit/>
          </a:bodyPr>
          <a:lstStyle/>
          <a:p>
            <a:pPr algn="l">
              <a:lnSpc>
                <a:spcPts val="1400"/>
              </a:lnSpc>
            </a:pPr>
            <a:r>
              <a:rPr sz="1050" b="0" i="0">
                <a:solidFill>
                  <a:srgbClr val="5A6B58"/>
                </a:solidFill>
                <a:latin typeface="Segoe UI"/>
              </a:rPr>
              <a:t>Camera / gallery photo of pest, leaf or fruit damage</a:t>
            </a:r>
          </a:p>
        </p:txBody>
      </p:sp>
      <p:sp>
        <p:nvSpPr>
          <p:cNvPr id="11" name="Chevron 10"/>
          <p:cNvSpPr/>
          <p:nvPr/>
        </p:nvSpPr>
        <p:spPr>
          <a:xfrm>
            <a:off x="3090672" y="2487168"/>
            <a:ext cx="310896" cy="365760"/>
          </a:xfrm>
          <a:prstGeom prst="chevron">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383280" y="1828800"/>
            <a:ext cx="2487168" cy="16916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29584" y="1975104"/>
            <a:ext cx="384048" cy="384048"/>
          </a:xfrm>
          <a:prstGeom prst="roundRect">
            <a:avLst>
              <a:gd name="adj" fmla="val 50000"/>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9584" y="1975104"/>
            <a:ext cx="384048" cy="384048"/>
          </a:xfrm>
          <a:prstGeom prst="rect">
            <a:avLst/>
          </a:prstGeom>
          <a:noFill/>
        </p:spPr>
        <p:txBody>
          <a:bodyPr wrap="square" anchor="ctr">
            <a:spAutoFit/>
          </a:bodyPr>
          <a:lstStyle/>
          <a:p>
            <a:pPr algn="ctr"/>
            <a:r>
              <a:rPr sz="1500" b="1" i="0">
                <a:solidFill>
                  <a:srgbClr val="FFFFFF"/>
                </a:solidFill>
                <a:latin typeface="Segoe UI"/>
              </a:rPr>
              <a:t>5</a:t>
            </a:r>
          </a:p>
        </p:txBody>
      </p:sp>
      <p:sp>
        <p:nvSpPr>
          <p:cNvPr id="15" name="TextBox 14"/>
          <p:cNvSpPr txBox="1"/>
          <p:nvPr/>
        </p:nvSpPr>
        <p:spPr>
          <a:xfrm>
            <a:off x="4005072" y="2011680"/>
            <a:ext cx="1783080" cy="365760"/>
          </a:xfrm>
          <a:prstGeom prst="rect">
            <a:avLst/>
          </a:prstGeom>
          <a:noFill/>
        </p:spPr>
        <p:txBody>
          <a:bodyPr wrap="square" anchor="t">
            <a:spAutoFit/>
          </a:bodyPr>
          <a:lstStyle/>
          <a:p>
            <a:pPr algn="l"/>
            <a:r>
              <a:rPr sz="1350" b="1" i="0">
                <a:solidFill>
                  <a:srgbClr val="116530"/>
                </a:solidFill>
                <a:latin typeface="Segoe UI"/>
              </a:rPr>
              <a:t>App uploads</a:t>
            </a:r>
          </a:p>
        </p:txBody>
      </p:sp>
      <p:sp>
        <p:nvSpPr>
          <p:cNvPr id="16" name="TextBox 15"/>
          <p:cNvSpPr txBox="1"/>
          <p:nvPr/>
        </p:nvSpPr>
        <p:spPr>
          <a:xfrm>
            <a:off x="3529584" y="2450592"/>
            <a:ext cx="2212848" cy="1005840"/>
          </a:xfrm>
          <a:prstGeom prst="rect">
            <a:avLst/>
          </a:prstGeom>
          <a:noFill/>
        </p:spPr>
        <p:txBody>
          <a:bodyPr wrap="square" anchor="t">
            <a:spAutoFit/>
          </a:bodyPr>
          <a:lstStyle/>
          <a:p>
            <a:pPr algn="l">
              <a:lnSpc>
                <a:spcPts val="1400"/>
              </a:lnSpc>
            </a:pPr>
            <a:r>
              <a:rPr sz="1050" b="0" i="0">
                <a:solidFill>
                  <a:srgbClr val="5A6B58"/>
                </a:solidFill>
                <a:latin typeface="Segoe UI"/>
              </a:rPr>
              <a:t>Image resized &amp; stored securely; detection request queued</a:t>
            </a:r>
          </a:p>
        </p:txBody>
      </p:sp>
      <p:sp>
        <p:nvSpPr>
          <p:cNvPr id="17" name="Chevron 16"/>
          <p:cNvSpPr/>
          <p:nvPr/>
        </p:nvSpPr>
        <p:spPr>
          <a:xfrm>
            <a:off x="5907024" y="2487168"/>
            <a:ext cx="310896" cy="365760"/>
          </a:xfrm>
          <a:prstGeom prst="chevron">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99632" y="1828800"/>
            <a:ext cx="2487168" cy="16916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45936" y="1975104"/>
            <a:ext cx="384048" cy="384048"/>
          </a:xfrm>
          <a:prstGeom prst="roundRect">
            <a:avLst>
              <a:gd name="adj" fmla="val 50000"/>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1975104"/>
            <a:ext cx="384048" cy="384048"/>
          </a:xfrm>
          <a:prstGeom prst="rect">
            <a:avLst/>
          </a:prstGeom>
          <a:noFill/>
        </p:spPr>
        <p:txBody>
          <a:bodyPr wrap="square" anchor="ctr">
            <a:spAutoFit/>
          </a:bodyPr>
          <a:lstStyle/>
          <a:p>
            <a:pPr algn="ctr"/>
            <a:r>
              <a:rPr sz="1500" b="1" i="0">
                <a:solidFill>
                  <a:srgbClr val="FFFFFF"/>
                </a:solidFill>
                <a:latin typeface="Segoe UI"/>
              </a:rPr>
              <a:t>5</a:t>
            </a:r>
          </a:p>
        </p:txBody>
      </p:sp>
      <p:sp>
        <p:nvSpPr>
          <p:cNvPr id="21" name="TextBox 20"/>
          <p:cNvSpPr txBox="1"/>
          <p:nvPr/>
        </p:nvSpPr>
        <p:spPr>
          <a:xfrm>
            <a:off x="6821424" y="2011680"/>
            <a:ext cx="1783080" cy="365760"/>
          </a:xfrm>
          <a:prstGeom prst="rect">
            <a:avLst/>
          </a:prstGeom>
          <a:noFill/>
        </p:spPr>
        <p:txBody>
          <a:bodyPr wrap="square" anchor="t">
            <a:spAutoFit/>
          </a:bodyPr>
          <a:lstStyle/>
          <a:p>
            <a:pPr algn="l"/>
            <a:r>
              <a:rPr sz="1350" b="1" i="0">
                <a:solidFill>
                  <a:srgbClr val="116530"/>
                </a:solidFill>
                <a:latin typeface="Segoe UI"/>
              </a:rPr>
              <a:t>AI classifies</a:t>
            </a:r>
          </a:p>
        </p:txBody>
      </p:sp>
      <p:sp>
        <p:nvSpPr>
          <p:cNvPr id="22" name="TextBox 21"/>
          <p:cNvSpPr txBox="1"/>
          <p:nvPr/>
        </p:nvSpPr>
        <p:spPr>
          <a:xfrm>
            <a:off x="6345936" y="2450592"/>
            <a:ext cx="2212848" cy="1005840"/>
          </a:xfrm>
          <a:prstGeom prst="rect">
            <a:avLst/>
          </a:prstGeom>
          <a:noFill/>
        </p:spPr>
        <p:txBody>
          <a:bodyPr wrap="square" anchor="t">
            <a:spAutoFit/>
          </a:bodyPr>
          <a:lstStyle/>
          <a:p>
            <a:pPr algn="l">
              <a:lnSpc>
                <a:spcPts val="1400"/>
              </a:lnSpc>
            </a:pPr>
            <a:r>
              <a:rPr sz="1050" b="0" i="0">
                <a:solidFill>
                  <a:srgbClr val="5A6B58"/>
                </a:solidFill>
                <a:latin typeface="Segoe UI"/>
              </a:rPr>
              <a:t>The classifier returns the most likely pests with confidence and severity</a:t>
            </a:r>
          </a:p>
        </p:txBody>
      </p:sp>
      <p:sp>
        <p:nvSpPr>
          <p:cNvPr id="23" name="Chevron 22"/>
          <p:cNvSpPr/>
          <p:nvPr/>
        </p:nvSpPr>
        <p:spPr>
          <a:xfrm>
            <a:off x="8723376" y="2487168"/>
            <a:ext cx="310896" cy="365760"/>
          </a:xfrm>
          <a:prstGeom prst="chevron">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15984" y="1828800"/>
            <a:ext cx="2487168" cy="16916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62288" y="1975104"/>
            <a:ext cx="384048" cy="384048"/>
          </a:xfrm>
          <a:prstGeom prst="roundRect">
            <a:avLst>
              <a:gd name="adj" fmla="val 50000"/>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2288" y="1975104"/>
            <a:ext cx="384048" cy="384048"/>
          </a:xfrm>
          <a:prstGeom prst="rect">
            <a:avLst/>
          </a:prstGeom>
          <a:noFill/>
        </p:spPr>
        <p:txBody>
          <a:bodyPr wrap="square" anchor="ctr">
            <a:spAutoFit/>
          </a:bodyPr>
          <a:lstStyle/>
          <a:p>
            <a:pPr algn="ctr"/>
            <a:r>
              <a:rPr sz="1500" b="1" i="0">
                <a:solidFill>
                  <a:srgbClr val="FFFFFF"/>
                </a:solidFill>
                <a:latin typeface="Segoe UI"/>
              </a:rPr>
              <a:t>5</a:t>
            </a:r>
          </a:p>
        </p:txBody>
      </p:sp>
      <p:sp>
        <p:nvSpPr>
          <p:cNvPr id="27" name="TextBox 26"/>
          <p:cNvSpPr txBox="1"/>
          <p:nvPr/>
        </p:nvSpPr>
        <p:spPr>
          <a:xfrm>
            <a:off x="9637776" y="2011680"/>
            <a:ext cx="1783080" cy="365760"/>
          </a:xfrm>
          <a:prstGeom prst="rect">
            <a:avLst/>
          </a:prstGeom>
          <a:noFill/>
        </p:spPr>
        <p:txBody>
          <a:bodyPr wrap="square" anchor="t">
            <a:spAutoFit/>
          </a:bodyPr>
          <a:lstStyle/>
          <a:p>
            <a:pPr algn="l"/>
            <a:r>
              <a:rPr sz="1350" b="1" i="0">
                <a:solidFill>
                  <a:srgbClr val="116530"/>
                </a:solidFill>
                <a:latin typeface="Segoe UI"/>
              </a:rPr>
              <a:t>Instant report</a:t>
            </a:r>
          </a:p>
        </p:txBody>
      </p:sp>
      <p:sp>
        <p:nvSpPr>
          <p:cNvPr id="28" name="TextBox 27"/>
          <p:cNvSpPr txBox="1"/>
          <p:nvPr/>
        </p:nvSpPr>
        <p:spPr>
          <a:xfrm>
            <a:off x="9162288" y="2450592"/>
            <a:ext cx="2212848" cy="1005840"/>
          </a:xfrm>
          <a:prstGeom prst="rect">
            <a:avLst/>
          </a:prstGeom>
          <a:noFill/>
        </p:spPr>
        <p:txBody>
          <a:bodyPr wrap="square" anchor="t">
            <a:spAutoFit/>
          </a:bodyPr>
          <a:lstStyle/>
          <a:p>
            <a:pPr algn="l">
              <a:lnSpc>
                <a:spcPts val="1400"/>
              </a:lnSpc>
            </a:pPr>
            <a:r>
              <a:rPr sz="1050" b="0" i="0">
                <a:solidFill>
                  <a:srgbClr val="5A6B58"/>
                </a:solidFill>
                <a:latin typeface="Segoe UI"/>
              </a:rPr>
              <a:t>Symptoms + preventive/curative + organic/chemical advice in farmer's language</a:t>
            </a:r>
          </a:p>
        </p:txBody>
      </p:sp>
      <p:sp>
        <p:nvSpPr>
          <p:cNvPr id="29" name="Rounded Rectangle 28"/>
          <p:cNvSpPr/>
          <p:nvPr/>
        </p:nvSpPr>
        <p:spPr>
          <a:xfrm>
            <a:off x="566928" y="4206240"/>
            <a:ext cx="2487168" cy="16916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13232" y="4352544"/>
            <a:ext cx="384048" cy="384048"/>
          </a:xfrm>
          <a:prstGeom prst="roundRect">
            <a:avLst>
              <a:gd name="adj" fmla="val 50000"/>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 y="4352544"/>
            <a:ext cx="384048" cy="384048"/>
          </a:xfrm>
          <a:prstGeom prst="rect">
            <a:avLst/>
          </a:prstGeom>
          <a:noFill/>
        </p:spPr>
        <p:txBody>
          <a:bodyPr wrap="square" anchor="ctr">
            <a:spAutoFit/>
          </a:bodyPr>
          <a:lstStyle/>
          <a:p>
            <a:pPr algn="ctr"/>
            <a:r>
              <a:rPr sz="1500" b="1" i="0">
                <a:solidFill>
                  <a:srgbClr val="FFFFFF"/>
                </a:solidFill>
                <a:latin typeface="Segoe UI"/>
              </a:rPr>
              <a:t>5</a:t>
            </a:r>
          </a:p>
        </p:txBody>
      </p:sp>
      <p:sp>
        <p:nvSpPr>
          <p:cNvPr id="32" name="TextBox 31"/>
          <p:cNvSpPr txBox="1"/>
          <p:nvPr/>
        </p:nvSpPr>
        <p:spPr>
          <a:xfrm>
            <a:off x="1188720" y="4389120"/>
            <a:ext cx="1783080" cy="365760"/>
          </a:xfrm>
          <a:prstGeom prst="rect">
            <a:avLst/>
          </a:prstGeom>
          <a:noFill/>
        </p:spPr>
        <p:txBody>
          <a:bodyPr wrap="square" anchor="t">
            <a:spAutoFit/>
          </a:bodyPr>
          <a:lstStyle/>
          <a:p>
            <a:pPr algn="l"/>
            <a:r>
              <a:rPr sz="1350" b="1" i="0">
                <a:solidFill>
                  <a:srgbClr val="116530"/>
                </a:solidFill>
                <a:latin typeface="Segoe UI"/>
              </a:rPr>
              <a:t>Feedback loop</a:t>
            </a:r>
          </a:p>
        </p:txBody>
      </p:sp>
      <p:sp>
        <p:nvSpPr>
          <p:cNvPr id="33" name="TextBox 32"/>
          <p:cNvSpPr txBox="1"/>
          <p:nvPr/>
        </p:nvSpPr>
        <p:spPr>
          <a:xfrm>
            <a:off x="713232" y="4828032"/>
            <a:ext cx="2212848" cy="1005840"/>
          </a:xfrm>
          <a:prstGeom prst="rect">
            <a:avLst/>
          </a:prstGeom>
          <a:noFill/>
        </p:spPr>
        <p:txBody>
          <a:bodyPr wrap="square" anchor="t">
            <a:spAutoFit/>
          </a:bodyPr>
          <a:lstStyle/>
          <a:p>
            <a:pPr algn="l">
              <a:lnSpc>
                <a:spcPts val="1400"/>
              </a:lnSpc>
            </a:pPr>
            <a:r>
              <a:rPr sz="1050" b="0" i="0">
                <a:solidFill>
                  <a:srgbClr val="5A6B58"/>
                </a:solidFill>
                <a:latin typeface="Segoe UI"/>
              </a:rPr>
              <a:t>Farmer marks result correct/wrong; every scan is saved with geo &amp; time</a:t>
            </a:r>
          </a:p>
        </p:txBody>
      </p:sp>
      <p:sp>
        <p:nvSpPr>
          <p:cNvPr id="34" name="Chevron 33"/>
          <p:cNvSpPr/>
          <p:nvPr/>
        </p:nvSpPr>
        <p:spPr>
          <a:xfrm>
            <a:off x="3090672" y="4864608"/>
            <a:ext cx="310896" cy="365760"/>
          </a:xfrm>
          <a:prstGeom prst="chevron">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3383280" y="4206240"/>
            <a:ext cx="2487168" cy="16916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3529584" y="4352544"/>
            <a:ext cx="384048" cy="384048"/>
          </a:xfrm>
          <a:prstGeom prst="roundRect">
            <a:avLst>
              <a:gd name="adj" fmla="val 50000"/>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29584" y="4352544"/>
            <a:ext cx="384048" cy="384048"/>
          </a:xfrm>
          <a:prstGeom prst="rect">
            <a:avLst/>
          </a:prstGeom>
          <a:noFill/>
        </p:spPr>
        <p:txBody>
          <a:bodyPr wrap="square" anchor="ctr">
            <a:spAutoFit/>
          </a:bodyPr>
          <a:lstStyle/>
          <a:p>
            <a:pPr algn="ctr"/>
            <a:r>
              <a:rPr sz="1500" b="1" i="0">
                <a:solidFill>
                  <a:srgbClr val="FFFFFF"/>
                </a:solidFill>
                <a:latin typeface="Segoe UI"/>
              </a:rPr>
              <a:t>5</a:t>
            </a:r>
          </a:p>
        </p:txBody>
      </p:sp>
      <p:sp>
        <p:nvSpPr>
          <p:cNvPr id="38" name="TextBox 37"/>
          <p:cNvSpPr txBox="1"/>
          <p:nvPr/>
        </p:nvSpPr>
        <p:spPr>
          <a:xfrm>
            <a:off x="4005072" y="4389120"/>
            <a:ext cx="1783080" cy="365760"/>
          </a:xfrm>
          <a:prstGeom prst="rect">
            <a:avLst/>
          </a:prstGeom>
          <a:noFill/>
        </p:spPr>
        <p:txBody>
          <a:bodyPr wrap="square" anchor="t">
            <a:spAutoFit/>
          </a:bodyPr>
          <a:lstStyle/>
          <a:p>
            <a:pPr algn="l"/>
            <a:r>
              <a:rPr sz="1350" b="1" i="0">
                <a:solidFill>
                  <a:srgbClr val="116530"/>
                </a:solidFill>
                <a:latin typeface="Segoe UI"/>
              </a:rPr>
              <a:t>Expert review</a:t>
            </a:r>
          </a:p>
        </p:txBody>
      </p:sp>
      <p:sp>
        <p:nvSpPr>
          <p:cNvPr id="39" name="TextBox 38"/>
          <p:cNvSpPr txBox="1"/>
          <p:nvPr/>
        </p:nvSpPr>
        <p:spPr>
          <a:xfrm>
            <a:off x="3529584" y="4828032"/>
            <a:ext cx="2212848" cy="1005840"/>
          </a:xfrm>
          <a:prstGeom prst="rect">
            <a:avLst/>
          </a:prstGeom>
          <a:noFill/>
        </p:spPr>
        <p:txBody>
          <a:bodyPr wrap="square" anchor="t">
            <a:spAutoFit/>
          </a:bodyPr>
          <a:lstStyle/>
          <a:p>
            <a:pPr algn="l">
              <a:lnSpc>
                <a:spcPts val="1400"/>
              </a:lnSpc>
            </a:pPr>
            <a:r>
              <a:rPr sz="1050" b="0" i="0">
                <a:solidFill>
                  <a:srgbClr val="5A6B58"/>
                </a:solidFill>
                <a:latin typeface="Segoe UI"/>
              </a:rPr>
              <a:t>Admin/agronomist verifies or corrects each detection; can approve for training</a:t>
            </a:r>
          </a:p>
        </p:txBody>
      </p:sp>
      <p:sp>
        <p:nvSpPr>
          <p:cNvPr id="40" name="Chevron 39"/>
          <p:cNvSpPr/>
          <p:nvPr/>
        </p:nvSpPr>
        <p:spPr>
          <a:xfrm>
            <a:off x="5907024" y="4864608"/>
            <a:ext cx="310896" cy="365760"/>
          </a:xfrm>
          <a:prstGeom prst="chevron">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199632" y="4206240"/>
            <a:ext cx="2487168" cy="16916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6345936" y="4352544"/>
            <a:ext cx="384048" cy="384048"/>
          </a:xfrm>
          <a:prstGeom prst="roundRect">
            <a:avLst>
              <a:gd name="adj" fmla="val 50000"/>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45936" y="4352544"/>
            <a:ext cx="384048" cy="384048"/>
          </a:xfrm>
          <a:prstGeom prst="rect">
            <a:avLst/>
          </a:prstGeom>
          <a:noFill/>
        </p:spPr>
        <p:txBody>
          <a:bodyPr wrap="square" anchor="ctr">
            <a:spAutoFit/>
          </a:bodyPr>
          <a:lstStyle/>
          <a:p>
            <a:pPr algn="ctr"/>
            <a:r>
              <a:rPr sz="1500" b="1" i="0">
                <a:solidFill>
                  <a:srgbClr val="FFFFFF"/>
                </a:solidFill>
                <a:latin typeface="Segoe UI"/>
              </a:rPr>
              <a:t>5</a:t>
            </a:r>
          </a:p>
        </p:txBody>
      </p:sp>
      <p:sp>
        <p:nvSpPr>
          <p:cNvPr id="44" name="TextBox 43"/>
          <p:cNvSpPr txBox="1"/>
          <p:nvPr/>
        </p:nvSpPr>
        <p:spPr>
          <a:xfrm>
            <a:off x="6821424" y="4389120"/>
            <a:ext cx="1783080" cy="365760"/>
          </a:xfrm>
          <a:prstGeom prst="rect">
            <a:avLst/>
          </a:prstGeom>
          <a:noFill/>
        </p:spPr>
        <p:txBody>
          <a:bodyPr wrap="square" anchor="t">
            <a:spAutoFit/>
          </a:bodyPr>
          <a:lstStyle/>
          <a:p>
            <a:pPr algn="l"/>
            <a:r>
              <a:rPr sz="1350" b="1" i="0">
                <a:solidFill>
                  <a:srgbClr val="116530"/>
                </a:solidFill>
                <a:latin typeface="Segoe UI"/>
              </a:rPr>
              <a:t>Verified dataset</a:t>
            </a:r>
          </a:p>
        </p:txBody>
      </p:sp>
      <p:sp>
        <p:nvSpPr>
          <p:cNvPr id="45" name="TextBox 44"/>
          <p:cNvSpPr txBox="1"/>
          <p:nvPr/>
        </p:nvSpPr>
        <p:spPr>
          <a:xfrm>
            <a:off x="6345936" y="4828032"/>
            <a:ext cx="2212848" cy="1005840"/>
          </a:xfrm>
          <a:prstGeom prst="rect">
            <a:avLst/>
          </a:prstGeom>
          <a:noFill/>
        </p:spPr>
        <p:txBody>
          <a:bodyPr wrap="square" anchor="t">
            <a:spAutoFit/>
          </a:bodyPr>
          <a:lstStyle/>
          <a:p>
            <a:pPr algn="l">
              <a:lnSpc>
                <a:spcPts val="1400"/>
              </a:lnSpc>
            </a:pPr>
            <a:r>
              <a:rPr sz="1050" b="0" i="0">
                <a:solidFill>
                  <a:srgbClr val="5A6B58"/>
                </a:solidFill>
                <a:latin typeface="Segoe UI"/>
              </a:rPr>
              <a:t>Corrected uploads become labelled training images (stage-wise, 21 classes)</a:t>
            </a:r>
          </a:p>
        </p:txBody>
      </p:sp>
      <p:sp>
        <p:nvSpPr>
          <p:cNvPr id="46" name="Chevron 45"/>
          <p:cNvSpPr/>
          <p:nvPr/>
        </p:nvSpPr>
        <p:spPr>
          <a:xfrm>
            <a:off x="8723376" y="4864608"/>
            <a:ext cx="310896" cy="365760"/>
          </a:xfrm>
          <a:prstGeom prst="chevron">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9015984" y="4206240"/>
            <a:ext cx="2487168" cy="16916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9162288" y="4352544"/>
            <a:ext cx="384048" cy="384048"/>
          </a:xfrm>
          <a:prstGeom prst="roundRect">
            <a:avLst>
              <a:gd name="adj" fmla="val 50000"/>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62288" y="4352544"/>
            <a:ext cx="384048" cy="384048"/>
          </a:xfrm>
          <a:prstGeom prst="rect">
            <a:avLst/>
          </a:prstGeom>
          <a:noFill/>
        </p:spPr>
        <p:txBody>
          <a:bodyPr wrap="square" anchor="ctr">
            <a:spAutoFit/>
          </a:bodyPr>
          <a:lstStyle/>
          <a:p>
            <a:pPr algn="ctr"/>
            <a:r>
              <a:rPr sz="1500" b="1" i="0">
                <a:solidFill>
                  <a:srgbClr val="FFFFFF"/>
                </a:solidFill>
                <a:latin typeface="Segoe UI"/>
              </a:rPr>
              <a:t>5</a:t>
            </a:r>
          </a:p>
        </p:txBody>
      </p:sp>
      <p:sp>
        <p:nvSpPr>
          <p:cNvPr id="50" name="TextBox 49"/>
          <p:cNvSpPr txBox="1"/>
          <p:nvPr/>
        </p:nvSpPr>
        <p:spPr>
          <a:xfrm>
            <a:off x="9637776" y="4389120"/>
            <a:ext cx="1783080" cy="365760"/>
          </a:xfrm>
          <a:prstGeom prst="rect">
            <a:avLst/>
          </a:prstGeom>
          <a:noFill/>
        </p:spPr>
        <p:txBody>
          <a:bodyPr wrap="square" anchor="t">
            <a:spAutoFit/>
          </a:bodyPr>
          <a:lstStyle/>
          <a:p>
            <a:pPr algn="l"/>
            <a:r>
              <a:rPr sz="1350" b="1" i="0">
                <a:solidFill>
                  <a:srgbClr val="116530"/>
                </a:solidFill>
                <a:latin typeface="Segoe UI"/>
              </a:rPr>
              <a:t>Retrained model</a:t>
            </a:r>
          </a:p>
        </p:txBody>
      </p:sp>
      <p:sp>
        <p:nvSpPr>
          <p:cNvPr id="51" name="TextBox 50"/>
          <p:cNvSpPr txBox="1"/>
          <p:nvPr/>
        </p:nvSpPr>
        <p:spPr>
          <a:xfrm>
            <a:off x="9162288" y="4828032"/>
            <a:ext cx="2212848" cy="1005840"/>
          </a:xfrm>
          <a:prstGeom prst="rect">
            <a:avLst/>
          </a:prstGeom>
          <a:noFill/>
        </p:spPr>
        <p:txBody>
          <a:bodyPr wrap="square" anchor="t">
            <a:spAutoFit/>
          </a:bodyPr>
          <a:lstStyle/>
          <a:p>
            <a:pPr algn="l">
              <a:lnSpc>
                <a:spcPts val="1400"/>
              </a:lnSpc>
            </a:pPr>
            <a:r>
              <a:rPr sz="1050" b="0" i="0">
                <a:solidFill>
                  <a:srgbClr val="5A6B58"/>
                </a:solidFill>
                <a:latin typeface="Segoe UI"/>
              </a:rPr>
              <a:t>A new model version goes live and accuracy climbs every cycle</a:t>
            </a:r>
          </a:p>
        </p:txBody>
      </p:sp>
      <p:sp>
        <p:nvSpPr>
          <p:cNvPr id="52" name="Down Arrow 51"/>
          <p:cNvSpPr/>
          <p:nvPr/>
        </p:nvSpPr>
        <p:spPr>
          <a:xfrm>
            <a:off x="11475720" y="3611880"/>
            <a:ext cx="365760" cy="502920"/>
          </a:xfrm>
          <a:prstGeom prst="downArrow">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Up Arrow 52"/>
          <p:cNvSpPr/>
          <p:nvPr/>
        </p:nvSpPr>
        <p:spPr>
          <a:xfrm>
            <a:off x="201168" y="3611880"/>
            <a:ext cx="365760" cy="502920"/>
          </a:xfrm>
          <a:prstGeom prst="upArrow">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76072" y="6144768"/>
            <a:ext cx="11064240" cy="320040"/>
          </a:xfrm>
          <a:prstGeom prst="rect">
            <a:avLst/>
          </a:prstGeom>
          <a:noFill/>
        </p:spPr>
        <p:txBody>
          <a:bodyPr wrap="square" anchor="t">
            <a:spAutoFit/>
          </a:bodyPr>
          <a:lstStyle/>
          <a:p>
            <a:pPr algn="ctr"/>
            <a:r>
              <a:rPr sz="1200" b="1" i="0">
                <a:solidFill>
                  <a:srgbClr val="116530"/>
                </a:solidFill>
                <a:latin typeface="Segoe UI"/>
              </a:rPr>
              <a:t>The loop keeps turning: more scans, more verified images, a sharper model, more trust, more scans.</a:t>
            </a:r>
          </a:p>
        </p:txBody>
      </p:sp>
      <p:sp>
        <p:nvSpPr>
          <p:cNvPr id="55" name="TextBox 54"/>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56" name="TextBox 55"/>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FARMER APP · SCREEN FLOW 1/4</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A farmer-friendly front door</a:t>
            </a:r>
          </a:p>
        </p:txBody>
      </p:sp>
      <p:sp>
        <p:nvSpPr>
          <p:cNvPr id="6" name="TextBox 5"/>
          <p:cNvSpPr txBox="1"/>
          <p:nvPr/>
        </p:nvSpPr>
        <p:spPr>
          <a:xfrm>
            <a:off x="566928" y="1389888"/>
            <a:ext cx="11155680" cy="457200"/>
          </a:xfrm>
          <a:prstGeom prst="rect">
            <a:avLst/>
          </a:prstGeom>
          <a:noFill/>
        </p:spPr>
        <p:txBody>
          <a:bodyPr wrap="square" anchor="t">
            <a:spAutoFit/>
          </a:bodyPr>
          <a:lstStyle/>
          <a:p>
            <a:pPr algn="l"/>
            <a:r>
              <a:rPr sz="1300" b="0" i="0">
                <a:solidFill>
                  <a:srgbClr val="5A6B58"/>
                </a:solidFill>
                <a:latin typeface="Segoe UI"/>
              </a:rPr>
              <a:t>Simple login with phone and password, and a dashboard where everything is one tap away.</a:t>
            </a:r>
          </a:p>
        </p:txBody>
      </p:sp>
      <p:sp>
        <p:nvSpPr>
          <p:cNvPr id="7" name="Rounded Rectangle 6"/>
          <p:cNvSpPr/>
          <p:nvPr/>
        </p:nvSpPr>
        <p:spPr>
          <a:xfrm>
            <a:off x="731010" y="1801367"/>
            <a:ext cx="2195578" cy="4581144"/>
          </a:xfrm>
          <a:prstGeom prst="roundRect">
            <a:avLst>
              <a:gd name="adj" fmla="val 5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gin.png"/>
          <p:cNvPicPr>
            <a:picLocks noChangeAspect="1"/>
          </p:cNvPicPr>
          <p:nvPr/>
        </p:nvPicPr>
        <p:blipFill>
          <a:blip r:embed="rId2"/>
          <a:stretch>
            <a:fillRect/>
          </a:stretch>
        </p:blipFill>
        <p:spPr>
          <a:xfrm>
            <a:off x="804162" y="1874519"/>
            <a:ext cx="2049274" cy="4434840"/>
          </a:xfrm>
          <a:prstGeom prst="rect">
            <a:avLst/>
          </a:prstGeom>
        </p:spPr>
      </p:pic>
      <p:sp>
        <p:nvSpPr>
          <p:cNvPr id="9" name="Rounded Rectangle 8"/>
          <p:cNvSpPr/>
          <p:nvPr/>
        </p:nvSpPr>
        <p:spPr>
          <a:xfrm>
            <a:off x="3565650" y="1801367"/>
            <a:ext cx="2195578" cy="4581144"/>
          </a:xfrm>
          <a:prstGeom prst="roundRect">
            <a:avLst>
              <a:gd name="adj" fmla="val 5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home.png"/>
          <p:cNvPicPr>
            <a:picLocks noChangeAspect="1"/>
          </p:cNvPicPr>
          <p:nvPr/>
        </p:nvPicPr>
        <p:blipFill>
          <a:blip r:embed="rId3"/>
          <a:stretch>
            <a:fillRect/>
          </a:stretch>
        </p:blipFill>
        <p:spPr>
          <a:xfrm>
            <a:off x="3638802" y="1874519"/>
            <a:ext cx="2049274" cy="4434840"/>
          </a:xfrm>
          <a:prstGeom prst="rect">
            <a:avLst/>
          </a:prstGeom>
        </p:spPr>
      </p:pic>
      <p:sp>
        <p:nvSpPr>
          <p:cNvPr id="11" name="TextBox 10"/>
          <p:cNvSpPr txBox="1"/>
          <p:nvPr/>
        </p:nvSpPr>
        <p:spPr>
          <a:xfrm>
            <a:off x="6949440" y="2011680"/>
            <a:ext cx="4754880" cy="5029200"/>
          </a:xfrm>
          <a:prstGeom prst="rect">
            <a:avLst/>
          </a:prstGeom>
          <a:noFill/>
        </p:spPr>
        <p:txBody>
          <a:bodyPr wrap="square">
            <a:spAutoFit/>
          </a:bodyPr>
          <a:lstStyle/>
          <a:p>
            <a:pPr>
              <a:spcAft>
                <a:spcPts val="1200"/>
              </a:spcAft>
            </a:pPr>
            <a:r>
              <a:rPr sz="1250" b="1">
                <a:solidFill>
                  <a:srgbClr val="116530"/>
                </a:solidFill>
                <a:latin typeface="Segoe UI"/>
              </a:rPr>
              <a:t>Onboarding takes minutes: phone login and a farm profile with village, crop and varieties.
One dashboard with every service: Scan, History, Pest Guide, Calendar, Blog, insecticides, Events and Chat.
Alerts appear on the bell the moment they arrive.</a:t>
            </a:r>
            <a:r>
              <a:rPr sz="1250">
                <a:solidFill>
                  <a:srgbClr val="1B271C"/>
                </a:solidFill>
                <a:latin typeface="Segoe UI"/>
              </a:rPr>
              <a:t/>
            </a:r>
          </a:p>
          <a:p>
            <a:pPr>
              <a:spcAft>
                <a:spcPts val="1200"/>
              </a:spcAft>
            </a:pPr>
            <a:r>
              <a:rPr sz="1250" b="1">
                <a:solidFill>
                  <a:srgbClr val="116530"/>
                </a:solidFill>
                <a:latin typeface="Segoe UI"/>
              </a:rPr>
              <a:t/>
            </a:r>
            <a:r>
              <a:rPr sz="1250">
                <a:solidFill>
                  <a:srgbClr val="1B271C"/>
                </a:solidFill>
                <a:latin typeface="Segoe UI"/>
              </a:rPr>
              <a:t/>
            </a:r>
          </a:p>
          <a:p>
            <a:pPr>
              <a:spcAft>
                <a:spcPts val="1200"/>
              </a:spcAft>
            </a:pPr>
            <a:r>
              <a:rPr sz="1250" b="1">
                <a:solidFill>
                  <a:srgbClr val="116530"/>
                </a:solidFill>
                <a:latin typeface="Segoe UI"/>
              </a:rPr>
              <a:t/>
            </a:r>
            <a:r>
              <a:rPr sz="1250">
                <a:solidFill>
                  <a:srgbClr val="1B271C"/>
                </a:solidFill>
                <a:latin typeface="Segoe UI"/>
              </a:rPr>
              <a:t/>
            </a:r>
          </a:p>
          <a:p>
            <a:pPr>
              <a:spcAft>
                <a:spcPts val="1200"/>
              </a:spcAft>
            </a:pPr>
            <a:r>
              <a:rPr sz="1250" b="1">
                <a:solidFill>
                  <a:srgbClr val="116530"/>
                </a:solidFill>
                <a:latin typeface="Segoe UI"/>
              </a:rPr>
              <a:t/>
            </a:r>
            <a:r>
              <a:rPr sz="1250">
                <a:solidFill>
                  <a:srgbClr val="1B271C"/>
                </a:solidFill>
                <a:latin typeface="Segoe UI"/>
              </a:rPr>
              <a:t/>
            </a:r>
          </a:p>
        </p:txBody>
      </p:sp>
      <p:sp>
        <p:nvSpPr>
          <p:cNvPr id="12" name="TextBox 11"/>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13" name="TextBox 12"/>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FARMER APP · SCREEN FLOW 2/4</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The 30-second AI diagnosis</a:t>
            </a:r>
          </a:p>
        </p:txBody>
      </p:sp>
      <p:sp>
        <p:nvSpPr>
          <p:cNvPr id="6" name="TextBox 5"/>
          <p:cNvSpPr txBox="1"/>
          <p:nvPr/>
        </p:nvSpPr>
        <p:spPr>
          <a:xfrm>
            <a:off x="566928" y="1389888"/>
            <a:ext cx="11155680" cy="457200"/>
          </a:xfrm>
          <a:prstGeom prst="rect">
            <a:avLst/>
          </a:prstGeom>
          <a:noFill/>
        </p:spPr>
        <p:txBody>
          <a:bodyPr wrap="square" anchor="t">
            <a:spAutoFit/>
          </a:bodyPr>
          <a:lstStyle/>
          <a:p>
            <a:pPr algn="l"/>
            <a:r>
              <a:rPr sz="1300" b="0" i="0">
                <a:solidFill>
                  <a:srgbClr val="5A6B58"/>
                </a:solidFill>
                <a:latin typeface="Segoe UI"/>
              </a:rPr>
              <a:t>The heart of the product: point, shoot, and receive a complete pest management report.</a:t>
            </a:r>
          </a:p>
        </p:txBody>
      </p:sp>
      <p:sp>
        <p:nvSpPr>
          <p:cNvPr id="7" name="Rounded Rectangle 6"/>
          <p:cNvSpPr/>
          <p:nvPr/>
        </p:nvSpPr>
        <p:spPr>
          <a:xfrm>
            <a:off x="731010" y="1801367"/>
            <a:ext cx="2195578" cy="4581144"/>
          </a:xfrm>
          <a:prstGeom prst="roundRect">
            <a:avLst>
              <a:gd name="adj" fmla="val 5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an.png"/>
          <p:cNvPicPr>
            <a:picLocks noChangeAspect="1"/>
          </p:cNvPicPr>
          <p:nvPr/>
        </p:nvPicPr>
        <p:blipFill>
          <a:blip r:embed="rId2"/>
          <a:stretch>
            <a:fillRect/>
          </a:stretch>
        </p:blipFill>
        <p:spPr>
          <a:xfrm>
            <a:off x="804162" y="1874519"/>
            <a:ext cx="2049274" cy="4434840"/>
          </a:xfrm>
          <a:prstGeom prst="rect">
            <a:avLst/>
          </a:prstGeom>
        </p:spPr>
      </p:pic>
      <p:sp>
        <p:nvSpPr>
          <p:cNvPr id="9" name="Rounded Rectangle 8"/>
          <p:cNvSpPr/>
          <p:nvPr/>
        </p:nvSpPr>
        <p:spPr>
          <a:xfrm>
            <a:off x="3565650" y="1801367"/>
            <a:ext cx="2195578" cy="4581144"/>
          </a:xfrm>
          <a:prstGeom prst="roundRect">
            <a:avLst>
              <a:gd name="adj" fmla="val 5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history.png"/>
          <p:cNvPicPr>
            <a:picLocks noChangeAspect="1"/>
          </p:cNvPicPr>
          <p:nvPr/>
        </p:nvPicPr>
        <p:blipFill>
          <a:blip r:embed="rId3"/>
          <a:stretch>
            <a:fillRect/>
          </a:stretch>
        </p:blipFill>
        <p:spPr>
          <a:xfrm>
            <a:off x="3638802" y="1874519"/>
            <a:ext cx="2049274" cy="4434840"/>
          </a:xfrm>
          <a:prstGeom prst="rect">
            <a:avLst/>
          </a:prstGeom>
        </p:spPr>
      </p:pic>
      <p:sp>
        <p:nvSpPr>
          <p:cNvPr id="11" name="TextBox 10"/>
          <p:cNvSpPr txBox="1"/>
          <p:nvPr/>
        </p:nvSpPr>
        <p:spPr>
          <a:xfrm>
            <a:off x="6949440" y="2011680"/>
            <a:ext cx="4754880" cy="5029200"/>
          </a:xfrm>
          <a:prstGeom prst="rect">
            <a:avLst/>
          </a:prstGeom>
          <a:noFill/>
        </p:spPr>
        <p:txBody>
          <a:bodyPr wrap="square">
            <a:spAutoFit/>
          </a:bodyPr>
          <a:lstStyle/>
          <a:p>
            <a:pPr>
              <a:spcAft>
                <a:spcPts val="1200"/>
              </a:spcAft>
            </a:pPr>
            <a:r>
              <a:rPr sz="1250" b="1">
                <a:solidFill>
                  <a:srgbClr val="116530"/>
                </a:solidFill>
                <a:latin typeface="Segoe UI"/>
              </a:rPr>
              <a:t>Camera or gallery: the photo is uploaded and answered in seconds.
A complete report with pest name, severity, stage, symptoms and preventive plus curative control.
Every report carries a safety note on registered pesticides.</a:t>
            </a:r>
            <a:r>
              <a:rPr sz="1250">
                <a:solidFill>
                  <a:srgbClr val="1B271C"/>
                </a:solidFill>
                <a:latin typeface="Segoe UI"/>
              </a:rPr>
              <a:t/>
            </a:r>
          </a:p>
          <a:p>
            <a:pPr>
              <a:spcAft>
                <a:spcPts val="1200"/>
              </a:spcAft>
            </a:pPr>
            <a:r>
              <a:rPr sz="1250" b="1">
                <a:solidFill>
                  <a:srgbClr val="116530"/>
                </a:solidFill>
                <a:latin typeface="Segoe UI"/>
              </a:rPr>
              <a:t/>
            </a:r>
            <a:r>
              <a:rPr sz="1250">
                <a:solidFill>
                  <a:srgbClr val="1B271C"/>
                </a:solidFill>
                <a:latin typeface="Segoe UI"/>
              </a:rPr>
              <a:t/>
            </a:r>
          </a:p>
          <a:p>
            <a:pPr>
              <a:spcAft>
                <a:spcPts val="1200"/>
              </a:spcAft>
            </a:pPr>
            <a:r>
              <a:rPr sz="1250" b="1">
                <a:solidFill>
                  <a:srgbClr val="116530"/>
                </a:solidFill>
                <a:latin typeface="Segoe UI"/>
              </a:rPr>
              <a:t/>
            </a:r>
            <a:r>
              <a:rPr sz="1250">
                <a:solidFill>
                  <a:srgbClr val="1B271C"/>
                </a:solidFill>
                <a:latin typeface="Segoe UI"/>
              </a:rPr>
              <a:t/>
            </a:r>
          </a:p>
          <a:p>
            <a:pPr>
              <a:spcAft>
                <a:spcPts val="1200"/>
              </a:spcAft>
            </a:pPr>
            <a:r>
              <a:rPr sz="1250" b="1">
                <a:solidFill>
                  <a:srgbClr val="116530"/>
                </a:solidFill>
                <a:latin typeface="Segoe UI"/>
              </a:rPr>
              <a:t/>
            </a:r>
            <a:r>
              <a:rPr sz="1250">
                <a:solidFill>
                  <a:srgbClr val="1B271C"/>
                </a:solidFill>
                <a:latin typeface="Segoe UI"/>
              </a:rPr>
              <a:t/>
            </a:r>
          </a:p>
        </p:txBody>
      </p:sp>
      <p:sp>
        <p:nvSpPr>
          <p:cNvPr id="12" name="TextBox 11"/>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13" name="TextBox 12"/>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FARMER APP · SCREEN FLOW 3/4</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A pocket plant-protection department</a:t>
            </a:r>
          </a:p>
        </p:txBody>
      </p:sp>
      <p:sp>
        <p:nvSpPr>
          <p:cNvPr id="6" name="TextBox 5"/>
          <p:cNvSpPr txBox="1"/>
          <p:nvPr/>
        </p:nvSpPr>
        <p:spPr>
          <a:xfrm>
            <a:off x="566928" y="1389888"/>
            <a:ext cx="11155680" cy="457200"/>
          </a:xfrm>
          <a:prstGeom prst="rect">
            <a:avLst/>
          </a:prstGeom>
          <a:noFill/>
        </p:spPr>
        <p:txBody>
          <a:bodyPr wrap="square" anchor="t">
            <a:spAutoFit/>
          </a:bodyPr>
          <a:lstStyle/>
          <a:p>
            <a:pPr algn="l"/>
            <a:r>
              <a:rPr sz="1300" b="0" i="0">
                <a:solidFill>
                  <a:srgbClr val="5A6B58"/>
                </a:solidFill>
                <a:latin typeface="Segoe UI"/>
              </a:rPr>
              <a:t>Knowledge taken from a 33 page scientific citrus pest compendium and advisories written by researchers.</a:t>
            </a:r>
          </a:p>
        </p:txBody>
      </p:sp>
      <p:sp>
        <p:nvSpPr>
          <p:cNvPr id="7" name="Rounded Rectangle 6"/>
          <p:cNvSpPr/>
          <p:nvPr/>
        </p:nvSpPr>
        <p:spPr>
          <a:xfrm>
            <a:off x="502410" y="1801367"/>
            <a:ext cx="2195578" cy="4581144"/>
          </a:xfrm>
          <a:prstGeom prst="roundRect">
            <a:avLst>
              <a:gd name="adj" fmla="val 5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ests.png"/>
          <p:cNvPicPr>
            <a:picLocks noChangeAspect="1"/>
          </p:cNvPicPr>
          <p:nvPr/>
        </p:nvPicPr>
        <p:blipFill>
          <a:blip r:embed="rId2"/>
          <a:stretch>
            <a:fillRect/>
          </a:stretch>
        </p:blipFill>
        <p:spPr>
          <a:xfrm>
            <a:off x="575562" y="1874519"/>
            <a:ext cx="2049274" cy="4434840"/>
          </a:xfrm>
          <a:prstGeom prst="rect">
            <a:avLst/>
          </a:prstGeom>
        </p:spPr>
      </p:pic>
      <p:sp>
        <p:nvSpPr>
          <p:cNvPr id="9" name="Rounded Rectangle 8"/>
          <p:cNvSpPr/>
          <p:nvPr/>
        </p:nvSpPr>
        <p:spPr>
          <a:xfrm>
            <a:off x="3337050" y="1801367"/>
            <a:ext cx="2195578" cy="4581144"/>
          </a:xfrm>
          <a:prstGeom prst="roundRect">
            <a:avLst>
              <a:gd name="adj" fmla="val 5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alendar.png"/>
          <p:cNvPicPr>
            <a:picLocks noChangeAspect="1"/>
          </p:cNvPicPr>
          <p:nvPr/>
        </p:nvPicPr>
        <p:blipFill>
          <a:blip r:embed="rId3"/>
          <a:stretch>
            <a:fillRect/>
          </a:stretch>
        </p:blipFill>
        <p:spPr>
          <a:xfrm>
            <a:off x="3410202" y="1874519"/>
            <a:ext cx="2049274" cy="4434840"/>
          </a:xfrm>
          <a:prstGeom prst="rect">
            <a:avLst/>
          </a:prstGeom>
        </p:spPr>
      </p:pic>
      <p:sp>
        <p:nvSpPr>
          <p:cNvPr id="11" name="Rounded Rectangle 10"/>
          <p:cNvSpPr/>
          <p:nvPr/>
        </p:nvSpPr>
        <p:spPr>
          <a:xfrm>
            <a:off x="6171690" y="1801367"/>
            <a:ext cx="2195578" cy="4581144"/>
          </a:xfrm>
          <a:prstGeom prst="roundRect">
            <a:avLst>
              <a:gd name="adj" fmla="val 5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log.png"/>
          <p:cNvPicPr>
            <a:picLocks noChangeAspect="1"/>
          </p:cNvPicPr>
          <p:nvPr/>
        </p:nvPicPr>
        <p:blipFill>
          <a:blip r:embed="rId4"/>
          <a:stretch>
            <a:fillRect/>
          </a:stretch>
        </p:blipFill>
        <p:spPr>
          <a:xfrm>
            <a:off x="6244842" y="1874519"/>
            <a:ext cx="2049274" cy="4434840"/>
          </a:xfrm>
          <a:prstGeom prst="rect">
            <a:avLst/>
          </a:prstGeom>
        </p:spPr>
      </p:pic>
      <p:sp>
        <p:nvSpPr>
          <p:cNvPr id="13" name="TextBox 12"/>
          <p:cNvSpPr txBox="1"/>
          <p:nvPr/>
        </p:nvSpPr>
        <p:spPr>
          <a:xfrm>
            <a:off x="9692640" y="2011680"/>
            <a:ext cx="2148840" cy="5029200"/>
          </a:xfrm>
          <a:prstGeom prst="rect">
            <a:avLst/>
          </a:prstGeom>
          <a:noFill/>
        </p:spPr>
        <p:txBody>
          <a:bodyPr wrap="square">
            <a:spAutoFit/>
          </a:bodyPr>
          <a:lstStyle/>
          <a:p>
            <a:pPr>
              <a:spcAft>
                <a:spcPts val="1200"/>
              </a:spcAft>
            </a:pPr>
            <a:r>
              <a:rPr sz="1150">
                <a:solidFill>
                  <a:srgbClr val="1B271C"/>
                </a:solidFill>
                <a:latin typeface="Segoe UI"/>
              </a:rPr>
              <a:t>Pest Guide: all 20 citrus pests with symptoms, prevention, cure and organic plus chemical control.
Calendar of Operation: month wise orchard care, managed by the admin team.
Blog and advisories published straight from the admin panel.
CIB and RC recommended insecticide reference for each pest.</a:t>
            </a:r>
          </a:p>
          <a:p>
            <a:pPr>
              <a:spcAft>
                <a:spcPts val="1200"/>
              </a:spcAft>
            </a:pPr>
            <a:r>
              <a:rPr sz="1150">
                <a:solidFill>
                  <a:srgbClr val="1B271C"/>
                </a:solidFill>
                <a:latin typeface="Segoe UI"/>
              </a:rPr>
              <a:t/>
            </a:r>
          </a:p>
          <a:p>
            <a:pPr>
              <a:spcAft>
                <a:spcPts val="1200"/>
              </a:spcAft>
            </a:pPr>
            <a:r>
              <a:rPr sz="1150">
                <a:solidFill>
                  <a:srgbClr val="1B271C"/>
                </a:solidFill>
                <a:latin typeface="Segoe UI"/>
              </a:rPr>
              <a:t/>
            </a:r>
          </a:p>
          <a:p>
            <a:pPr>
              <a:spcAft>
                <a:spcPts val="1200"/>
              </a:spcAft>
            </a:pPr>
            <a:r>
              <a:rPr sz="1150">
                <a:solidFill>
                  <a:srgbClr val="1B271C"/>
                </a:solidFill>
                <a:latin typeface="Segoe UI"/>
              </a:rPr>
              <a:t/>
            </a:r>
          </a:p>
        </p:txBody>
      </p:sp>
      <p:sp>
        <p:nvSpPr>
          <p:cNvPr id="14" name="TextBox 13"/>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15" name="TextBox 14"/>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FARMER APP · SCREEN FLOW 4/4</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Support that never sleeps</a:t>
            </a:r>
          </a:p>
        </p:txBody>
      </p:sp>
      <p:sp>
        <p:nvSpPr>
          <p:cNvPr id="6" name="TextBox 5"/>
          <p:cNvSpPr txBox="1"/>
          <p:nvPr/>
        </p:nvSpPr>
        <p:spPr>
          <a:xfrm>
            <a:off x="566928" y="1389888"/>
            <a:ext cx="11155680" cy="457200"/>
          </a:xfrm>
          <a:prstGeom prst="rect">
            <a:avLst/>
          </a:prstGeom>
          <a:noFill/>
        </p:spPr>
        <p:txBody>
          <a:bodyPr wrap="square" anchor="t">
            <a:spAutoFit/>
          </a:bodyPr>
          <a:lstStyle/>
          <a:p>
            <a:pPr algn="l"/>
            <a:r>
              <a:rPr sz="1300" b="0" i="0">
                <a:solidFill>
                  <a:srgbClr val="5A6B58"/>
                </a:solidFill>
                <a:latin typeface="Segoe UI"/>
              </a:rPr>
              <a:t>Chatbot first, human expert second, and district wide push alerts when it matters.</a:t>
            </a:r>
          </a:p>
        </p:txBody>
      </p:sp>
      <p:sp>
        <p:nvSpPr>
          <p:cNvPr id="7" name="Rounded Rectangle 6"/>
          <p:cNvSpPr/>
          <p:nvPr/>
        </p:nvSpPr>
        <p:spPr>
          <a:xfrm>
            <a:off x="731010" y="1801367"/>
            <a:ext cx="2195578" cy="4581144"/>
          </a:xfrm>
          <a:prstGeom prst="roundRect">
            <a:avLst>
              <a:gd name="adj" fmla="val 5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at.png"/>
          <p:cNvPicPr>
            <a:picLocks noChangeAspect="1"/>
          </p:cNvPicPr>
          <p:nvPr/>
        </p:nvPicPr>
        <p:blipFill>
          <a:blip r:embed="rId2"/>
          <a:stretch>
            <a:fillRect/>
          </a:stretch>
        </p:blipFill>
        <p:spPr>
          <a:xfrm>
            <a:off x="804162" y="1874519"/>
            <a:ext cx="2049274" cy="4434840"/>
          </a:xfrm>
          <a:prstGeom prst="rect">
            <a:avLst/>
          </a:prstGeom>
        </p:spPr>
      </p:pic>
      <p:sp>
        <p:nvSpPr>
          <p:cNvPr id="9" name="Rounded Rectangle 8"/>
          <p:cNvSpPr/>
          <p:nvPr/>
        </p:nvSpPr>
        <p:spPr>
          <a:xfrm>
            <a:off x="3565650" y="1801367"/>
            <a:ext cx="2195578" cy="4581144"/>
          </a:xfrm>
          <a:prstGeom prst="roundRect">
            <a:avLst>
              <a:gd name="adj" fmla="val 5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notifications.png"/>
          <p:cNvPicPr>
            <a:picLocks noChangeAspect="1"/>
          </p:cNvPicPr>
          <p:nvPr/>
        </p:nvPicPr>
        <p:blipFill>
          <a:blip r:embed="rId3"/>
          <a:stretch>
            <a:fillRect/>
          </a:stretch>
        </p:blipFill>
        <p:spPr>
          <a:xfrm>
            <a:off x="3638802" y="1874519"/>
            <a:ext cx="2049274" cy="4434840"/>
          </a:xfrm>
          <a:prstGeom prst="rect">
            <a:avLst/>
          </a:prstGeom>
        </p:spPr>
      </p:pic>
      <p:sp>
        <p:nvSpPr>
          <p:cNvPr id="11" name="TextBox 10"/>
          <p:cNvSpPr txBox="1"/>
          <p:nvPr/>
        </p:nvSpPr>
        <p:spPr>
          <a:xfrm>
            <a:off x="6949440" y="2011680"/>
            <a:ext cx="4754880" cy="5029200"/>
          </a:xfrm>
          <a:prstGeom prst="rect">
            <a:avLst/>
          </a:prstGeom>
          <a:noFill/>
        </p:spPr>
        <p:txBody>
          <a:bodyPr wrap="square">
            <a:spAutoFit/>
          </a:bodyPr>
          <a:lstStyle/>
          <a:p>
            <a:pPr>
              <a:spcAft>
                <a:spcPts val="1200"/>
              </a:spcAft>
            </a:pPr>
            <a:r>
              <a:rPr sz="1250" b="1">
                <a:solidFill>
                  <a:srgbClr val="116530"/>
                </a:solidFill>
                <a:latin typeface="Segoe UI"/>
              </a:rPr>
              <a:t>Real time chat: the bot answers at once, unresolved queries reach the admin panel and agronomists reply with attachments.
Push campaigns deliver district pest alerts and advisories even when the app is closed.
An in-app inbox keeps alerts with read and unread status.</a:t>
            </a:r>
            <a:r>
              <a:rPr sz="1250">
                <a:solidFill>
                  <a:srgbClr val="1B271C"/>
                </a:solidFill>
                <a:latin typeface="Segoe UI"/>
              </a:rPr>
              <a:t/>
            </a:r>
          </a:p>
          <a:p>
            <a:pPr>
              <a:spcAft>
                <a:spcPts val="1200"/>
              </a:spcAft>
            </a:pPr>
            <a:r>
              <a:rPr sz="1250" b="1">
                <a:solidFill>
                  <a:srgbClr val="116530"/>
                </a:solidFill>
                <a:latin typeface="Segoe UI"/>
              </a:rPr>
              <a:t/>
            </a:r>
            <a:r>
              <a:rPr sz="1250">
                <a:solidFill>
                  <a:srgbClr val="1B271C"/>
                </a:solidFill>
                <a:latin typeface="Segoe UI"/>
              </a:rPr>
              <a:t/>
            </a:r>
          </a:p>
          <a:p>
            <a:pPr>
              <a:spcAft>
                <a:spcPts val="1200"/>
              </a:spcAft>
            </a:pPr>
            <a:r>
              <a:rPr sz="1250" b="1">
                <a:solidFill>
                  <a:srgbClr val="116530"/>
                </a:solidFill>
                <a:latin typeface="Segoe UI"/>
              </a:rPr>
              <a:t/>
            </a:r>
            <a:r>
              <a:rPr sz="1250">
                <a:solidFill>
                  <a:srgbClr val="1B271C"/>
                </a:solidFill>
                <a:latin typeface="Segoe UI"/>
              </a:rPr>
              <a:t/>
            </a:r>
          </a:p>
        </p:txBody>
      </p:sp>
      <p:sp>
        <p:nvSpPr>
          <p:cNvPr id="12" name="TextBox 11"/>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13" name="TextBox 12"/>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INCLUSION BY DESIGN</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One tap: English, मराठी, हिंदी</a:t>
            </a:r>
          </a:p>
        </p:txBody>
      </p:sp>
      <p:sp>
        <p:nvSpPr>
          <p:cNvPr id="6" name="TextBox 5"/>
          <p:cNvSpPr txBox="1"/>
          <p:nvPr/>
        </p:nvSpPr>
        <p:spPr>
          <a:xfrm>
            <a:off x="566928" y="1389888"/>
            <a:ext cx="11155680" cy="457200"/>
          </a:xfrm>
          <a:prstGeom prst="rect">
            <a:avLst/>
          </a:prstGeom>
          <a:noFill/>
        </p:spPr>
        <p:txBody>
          <a:bodyPr wrap="square" anchor="t">
            <a:spAutoFit/>
          </a:bodyPr>
          <a:lstStyle/>
          <a:p>
            <a:pPr algn="l"/>
            <a:r>
              <a:rPr sz="1300" b="0" i="0">
                <a:solidFill>
                  <a:srgbClr val="5A6B58"/>
                </a:solidFill>
                <a:latin typeface="Segoe UI"/>
              </a:rPr>
              <a:t>The whole experience, from menus to pest names and cure advice, is localised per farmer and switchable anytime.</a:t>
            </a:r>
          </a:p>
        </p:txBody>
      </p:sp>
      <p:sp>
        <p:nvSpPr>
          <p:cNvPr id="7" name="Rounded Rectangle 6"/>
          <p:cNvSpPr/>
          <p:nvPr/>
        </p:nvSpPr>
        <p:spPr>
          <a:xfrm>
            <a:off x="731010" y="1801367"/>
            <a:ext cx="2195578" cy="4581144"/>
          </a:xfrm>
          <a:prstGeom prst="roundRect">
            <a:avLst>
              <a:gd name="adj" fmla="val 5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profile.png"/>
          <p:cNvPicPr>
            <a:picLocks noChangeAspect="1"/>
          </p:cNvPicPr>
          <p:nvPr/>
        </p:nvPicPr>
        <p:blipFill>
          <a:blip r:embed="rId2"/>
          <a:stretch>
            <a:fillRect/>
          </a:stretch>
        </p:blipFill>
        <p:spPr>
          <a:xfrm>
            <a:off x="804162" y="1874519"/>
            <a:ext cx="2049274" cy="4434840"/>
          </a:xfrm>
          <a:prstGeom prst="rect">
            <a:avLst/>
          </a:prstGeom>
        </p:spPr>
      </p:pic>
      <p:sp>
        <p:nvSpPr>
          <p:cNvPr id="9" name="TextBox 8"/>
          <p:cNvSpPr txBox="1"/>
          <p:nvPr/>
        </p:nvSpPr>
        <p:spPr>
          <a:xfrm>
            <a:off x="4206240" y="2011680"/>
            <a:ext cx="7406640" cy="5029200"/>
          </a:xfrm>
          <a:prstGeom prst="rect">
            <a:avLst/>
          </a:prstGeom>
          <a:noFill/>
        </p:spPr>
        <p:txBody>
          <a:bodyPr wrap="square">
            <a:spAutoFit/>
          </a:bodyPr>
          <a:lstStyle/>
          <a:p>
            <a:pPr>
              <a:spcAft>
                <a:spcPts val="1400"/>
              </a:spcAft>
            </a:pPr>
            <a:r>
              <a:rPr sz="1300" b="1">
                <a:solidFill>
                  <a:srgbClr val="116530"/>
                </a:solidFill>
                <a:latin typeface="Segoe UI"/>
              </a:rPr>
              <a:t>Trilingual from day one: English, Marathi and Hindi ship in the app and pest knowledge carries researcher checked translations.
The farmer's own profile: village, district, land, varieties and irrigation, so advice can follow the crop stage.
Language choice is stored on the server, so advisories and blogs arrive in the farmer's language.
Adding another Indian language later is a content job, not a rebuild.</a:t>
            </a:r>
            <a:r>
              <a:rPr sz="1300">
                <a:solidFill>
                  <a:srgbClr val="1B271C"/>
                </a:solidFill>
                <a:latin typeface="Segoe UI"/>
              </a:rPr>
              <a:t/>
            </a:r>
          </a:p>
          <a:p>
            <a:pPr>
              <a:spcAft>
                <a:spcPts val="1400"/>
              </a:spcAft>
            </a:pPr>
            <a:r>
              <a:rPr sz="1300" b="1">
                <a:solidFill>
                  <a:srgbClr val="116530"/>
                </a:solidFill>
                <a:latin typeface="Segoe UI"/>
              </a:rPr>
              <a:t/>
            </a:r>
            <a:r>
              <a:rPr sz="1300">
                <a:solidFill>
                  <a:srgbClr val="1B271C"/>
                </a:solidFill>
                <a:latin typeface="Segoe UI"/>
              </a:rPr>
              <a:t/>
            </a:r>
          </a:p>
          <a:p>
            <a:pPr>
              <a:spcAft>
                <a:spcPts val="1400"/>
              </a:spcAft>
            </a:pPr>
            <a:r>
              <a:rPr sz="1300" b="1">
                <a:solidFill>
                  <a:srgbClr val="116530"/>
                </a:solidFill>
                <a:latin typeface="Segoe UI"/>
              </a:rPr>
              <a:t/>
            </a:r>
            <a:r>
              <a:rPr sz="1300">
                <a:solidFill>
                  <a:srgbClr val="1B271C"/>
                </a:solidFill>
                <a:latin typeface="Segoe UI"/>
              </a:rPr>
              <a:t/>
            </a:r>
          </a:p>
          <a:p>
            <a:pPr>
              <a:spcAft>
                <a:spcPts val="1400"/>
              </a:spcAft>
            </a:pPr>
            <a:r>
              <a:rPr sz="1300" b="1">
                <a:solidFill>
                  <a:srgbClr val="116530"/>
                </a:solidFill>
                <a:latin typeface="Segoe UI"/>
              </a:rPr>
              <a:t/>
            </a:r>
            <a:r>
              <a:rPr sz="1300">
                <a:solidFill>
                  <a:srgbClr val="1B271C"/>
                </a:solidFill>
                <a:latin typeface="Segoe UI"/>
              </a:rPr>
              <a:t/>
            </a:r>
          </a:p>
        </p:txBody>
      </p:sp>
      <p:sp>
        <p:nvSpPr>
          <p:cNvPr id="10" name="Rounded Rectangle 9"/>
          <p:cNvSpPr/>
          <p:nvPr/>
        </p:nvSpPr>
        <p:spPr>
          <a:xfrm>
            <a:off x="4206240" y="5120640"/>
            <a:ext cx="7406640" cy="1143000"/>
          </a:xfrm>
          <a:prstGeom prst="roundRect">
            <a:avLst>
              <a:gd name="adj" fmla="val 8000"/>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5321808"/>
            <a:ext cx="6949440" cy="822960"/>
          </a:xfrm>
          <a:prstGeom prst="rect">
            <a:avLst/>
          </a:prstGeom>
          <a:noFill/>
        </p:spPr>
        <p:txBody>
          <a:bodyPr wrap="square" anchor="ctr">
            <a:spAutoFit/>
          </a:bodyPr>
          <a:lstStyle/>
          <a:p>
            <a:pPr algn="ctr"/>
            <a:r>
              <a:rPr sz="1500" b="1" i="0">
                <a:solidFill>
                  <a:srgbClr val="FFFFFF"/>
                </a:solidFill>
                <a:latin typeface="Segoe UI"/>
              </a:rPr>
              <a:t>"शेतकरी मित्रा स्वागत आहे" · "किसान मित्र आपका स्वागत है" · "Welcome Farmer"</a:t>
            </a:r>
          </a:p>
        </p:txBody>
      </p:sp>
      <p:sp>
        <p:nvSpPr>
          <p:cNvPr id="12" name="TextBox 11"/>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13" name="TextBox 12"/>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ADMIN PANEL 1/4</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The command centre</a:t>
            </a:r>
          </a:p>
        </p:txBody>
      </p:sp>
      <p:sp>
        <p:nvSpPr>
          <p:cNvPr id="6" name="TextBox 5"/>
          <p:cNvSpPr txBox="1"/>
          <p:nvPr/>
        </p:nvSpPr>
        <p:spPr>
          <a:xfrm>
            <a:off x="566928" y="1389888"/>
            <a:ext cx="11155680" cy="457200"/>
          </a:xfrm>
          <a:prstGeom prst="rect">
            <a:avLst/>
          </a:prstGeom>
          <a:noFill/>
        </p:spPr>
        <p:txBody>
          <a:bodyPr wrap="square" anchor="t">
            <a:spAutoFit/>
          </a:bodyPr>
          <a:lstStyle/>
          <a:p>
            <a:pPr algn="l"/>
            <a:r>
              <a:rPr sz="1300" b="0" i="0">
                <a:solidFill>
                  <a:srgbClr val="5A6B58"/>
                </a:solidFill>
                <a:latin typeface="Segoe UI"/>
              </a:rPr>
              <a:t>One dashboard to run the whole system. Numbers shown are demo data.</a:t>
            </a:r>
          </a:p>
        </p:txBody>
      </p:sp>
      <p:sp>
        <p:nvSpPr>
          <p:cNvPr id="7" name="Rounded Rectangle 6"/>
          <p:cNvSpPr/>
          <p:nvPr/>
        </p:nvSpPr>
        <p:spPr>
          <a:xfrm>
            <a:off x="502920" y="1810511"/>
            <a:ext cx="6986016" cy="4319015"/>
          </a:xfrm>
          <a:prstGeom prst="roundRect">
            <a:avLst>
              <a:gd name="adj" fmla="val 2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dmin-dashboard.png"/>
          <p:cNvPicPr>
            <a:picLocks noChangeAspect="1"/>
          </p:cNvPicPr>
          <p:nvPr/>
        </p:nvPicPr>
        <p:blipFill>
          <a:blip r:embed="rId2"/>
          <a:stretch>
            <a:fillRect/>
          </a:stretch>
        </p:blipFill>
        <p:spPr>
          <a:xfrm>
            <a:off x="566928" y="1874519"/>
            <a:ext cx="6858000" cy="4190999"/>
          </a:xfrm>
          <a:prstGeom prst="rect">
            <a:avLst/>
          </a:prstGeom>
        </p:spPr>
      </p:pic>
      <p:sp>
        <p:nvSpPr>
          <p:cNvPr id="9" name="TextBox 8"/>
          <p:cNvSpPr txBox="1"/>
          <p:nvPr/>
        </p:nvSpPr>
        <p:spPr>
          <a:xfrm>
            <a:off x="7772400" y="1920240"/>
            <a:ext cx="3931920" cy="5029200"/>
          </a:xfrm>
          <a:prstGeom prst="rect">
            <a:avLst/>
          </a:prstGeom>
          <a:noFill/>
        </p:spPr>
        <p:txBody>
          <a:bodyPr wrap="square">
            <a:spAutoFit/>
          </a:bodyPr>
          <a:lstStyle/>
          <a:p>
            <a:pPr>
              <a:spcAft>
                <a:spcPts val="1200"/>
              </a:spcAft>
            </a:pPr>
            <a:r>
              <a:rPr sz="1200">
                <a:solidFill>
                  <a:srgbClr val="1B271C"/>
                </a:solidFill>
                <a:latin typeface="Segoe UI"/>
              </a:rPr>
              <a:t>Live KPIs for users, pests, detections, the unreviewed queue, training images, feedback and alert-ready farmers.
Role based menus: admin, agronomist, labeler and support each see only their own workspace.
Every KPI card opens the screen where the work happens.</a:t>
            </a:r>
          </a:p>
          <a:p>
            <a:pPr>
              <a:spcAft>
                <a:spcPts val="1200"/>
              </a:spcAft>
            </a:pPr>
            <a:r>
              <a:rPr sz="1200">
                <a:solidFill>
                  <a:srgbClr val="1B271C"/>
                </a:solidFill>
                <a:latin typeface="Segoe UI"/>
              </a:rPr>
              <a:t/>
            </a:r>
          </a:p>
          <a:p>
            <a:pPr>
              <a:spcAft>
                <a:spcPts val="1200"/>
              </a:spcAft>
            </a:pPr>
            <a:r>
              <a:rPr sz="1200">
                <a:solidFill>
                  <a:srgbClr val="1B271C"/>
                </a:solidFill>
                <a:latin typeface="Segoe UI"/>
              </a:rPr>
              <a:t/>
            </a:r>
          </a:p>
        </p:txBody>
      </p:sp>
      <p:sp>
        <p:nvSpPr>
          <p:cNvPr id="10" name="TextBox 9"/>
          <p:cNvSpPr txBox="1"/>
          <p:nvPr/>
        </p:nvSpPr>
        <p:spPr>
          <a:xfrm>
            <a:off x="576072" y="6236208"/>
            <a:ext cx="6858000" cy="274320"/>
          </a:xfrm>
          <a:prstGeom prst="rect">
            <a:avLst/>
          </a:prstGeom>
          <a:noFill/>
        </p:spPr>
        <p:txBody>
          <a:bodyPr wrap="square" anchor="t">
            <a:spAutoFit/>
          </a:bodyPr>
          <a:lstStyle/>
          <a:p>
            <a:pPr algn="l"/>
            <a:r>
              <a:rPr sz="900" b="0" i="1">
                <a:solidFill>
                  <a:srgbClr val="5A6B58"/>
                </a:solidFill>
                <a:latin typeface="Segoe UI"/>
              </a:rPr>
              <a:t>Illustrative demo data.</a:t>
            </a:r>
          </a:p>
        </p:txBody>
      </p:sp>
      <p:sp>
        <p:nvSpPr>
          <p:cNvPr id="11" name="TextBox 10"/>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12" name="TextBox 11"/>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ADMIN PANEL 2/4</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Human-in-the-loop expert review</a:t>
            </a:r>
          </a:p>
        </p:txBody>
      </p:sp>
      <p:sp>
        <p:nvSpPr>
          <p:cNvPr id="6" name="TextBox 5"/>
          <p:cNvSpPr txBox="1"/>
          <p:nvPr/>
        </p:nvSpPr>
        <p:spPr>
          <a:xfrm>
            <a:off x="566928" y="1389888"/>
            <a:ext cx="11155680" cy="457200"/>
          </a:xfrm>
          <a:prstGeom prst="rect">
            <a:avLst/>
          </a:prstGeom>
          <a:noFill/>
        </p:spPr>
        <p:txBody>
          <a:bodyPr wrap="square" anchor="t">
            <a:spAutoFit/>
          </a:bodyPr>
          <a:lstStyle/>
          <a:p>
            <a:pPr algn="l"/>
            <a:r>
              <a:rPr sz="1300" b="0" i="0">
                <a:solidFill>
                  <a:srgbClr val="5A6B58"/>
                </a:solidFill>
                <a:latin typeface="Segoe UI"/>
              </a:rPr>
              <a:t>Every farmer scan lands here for verification. This is where the AI's accuracy is actually made.</a:t>
            </a:r>
          </a:p>
        </p:txBody>
      </p:sp>
      <p:sp>
        <p:nvSpPr>
          <p:cNvPr id="7" name="Rounded Rectangle 6"/>
          <p:cNvSpPr/>
          <p:nvPr/>
        </p:nvSpPr>
        <p:spPr>
          <a:xfrm>
            <a:off x="502920" y="1810511"/>
            <a:ext cx="6986016" cy="4319015"/>
          </a:xfrm>
          <a:prstGeom prst="roundRect">
            <a:avLst>
              <a:gd name="adj" fmla="val 2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dmin-uploads.png"/>
          <p:cNvPicPr>
            <a:picLocks noChangeAspect="1"/>
          </p:cNvPicPr>
          <p:nvPr/>
        </p:nvPicPr>
        <p:blipFill>
          <a:blip r:embed="rId2"/>
          <a:stretch>
            <a:fillRect/>
          </a:stretch>
        </p:blipFill>
        <p:spPr>
          <a:xfrm>
            <a:off x="566928" y="1874519"/>
            <a:ext cx="6858000" cy="4190999"/>
          </a:xfrm>
          <a:prstGeom prst="rect">
            <a:avLst/>
          </a:prstGeom>
        </p:spPr>
      </p:pic>
      <p:sp>
        <p:nvSpPr>
          <p:cNvPr id="9" name="TextBox 8"/>
          <p:cNvSpPr txBox="1"/>
          <p:nvPr/>
        </p:nvSpPr>
        <p:spPr>
          <a:xfrm>
            <a:off x="7772400" y="1920240"/>
            <a:ext cx="3931920" cy="5029200"/>
          </a:xfrm>
          <a:prstGeom prst="rect">
            <a:avLst/>
          </a:prstGeom>
          <a:noFill/>
        </p:spPr>
        <p:txBody>
          <a:bodyPr wrap="square">
            <a:spAutoFit/>
          </a:bodyPr>
          <a:lstStyle/>
          <a:p>
            <a:pPr>
              <a:spcAft>
                <a:spcPts val="1200"/>
              </a:spcAft>
            </a:pPr>
            <a:r>
              <a:rPr sz="1200">
                <a:solidFill>
                  <a:srgbClr val="1B271C"/>
                </a:solidFill>
                <a:latin typeface="Segoe UI"/>
              </a:rPr>
              <a:t>The agronomist sees the farmer's photo next to the AI's best guesses.
One click to verify, correct the pest or stage, and attach a scientist approved note.
Approve and Train turns a reviewed upload into a labelled training image on the spot.
Farmers see Verified or Corrected status in their history, so trust is visible.</a:t>
            </a:r>
          </a:p>
          <a:p>
            <a:pPr>
              <a:spcAft>
                <a:spcPts val="1200"/>
              </a:spcAft>
            </a:pPr>
            <a:r>
              <a:rPr sz="1200">
                <a:solidFill>
                  <a:srgbClr val="1B271C"/>
                </a:solidFill>
                <a:latin typeface="Segoe UI"/>
              </a:rPr>
              <a:t/>
            </a:r>
          </a:p>
          <a:p>
            <a:pPr>
              <a:spcAft>
                <a:spcPts val="1200"/>
              </a:spcAft>
            </a:pPr>
            <a:r>
              <a:rPr sz="1200">
                <a:solidFill>
                  <a:srgbClr val="1B271C"/>
                </a:solidFill>
                <a:latin typeface="Segoe UI"/>
              </a:rPr>
              <a:t/>
            </a:r>
          </a:p>
          <a:p>
            <a:pPr>
              <a:spcAft>
                <a:spcPts val="1200"/>
              </a:spcAft>
            </a:pPr>
            <a:r>
              <a:rPr sz="1200">
                <a:solidFill>
                  <a:srgbClr val="1B271C"/>
                </a:solidFill>
                <a:latin typeface="Segoe UI"/>
              </a:rPr>
              <a:t/>
            </a:r>
          </a:p>
        </p:txBody>
      </p:sp>
      <p:sp>
        <p:nvSpPr>
          <p:cNvPr id="10" name="TextBox 9"/>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11" name="TextBox 10"/>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ADMIN PANEL 3/4</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The AI Training Studio</a:t>
            </a:r>
          </a:p>
        </p:txBody>
      </p:sp>
      <p:sp>
        <p:nvSpPr>
          <p:cNvPr id="6" name="TextBox 5"/>
          <p:cNvSpPr txBox="1"/>
          <p:nvPr/>
        </p:nvSpPr>
        <p:spPr>
          <a:xfrm>
            <a:off x="566928" y="1389888"/>
            <a:ext cx="11155680" cy="457200"/>
          </a:xfrm>
          <a:prstGeom prst="rect">
            <a:avLst/>
          </a:prstGeom>
          <a:noFill/>
        </p:spPr>
        <p:txBody>
          <a:bodyPr wrap="square" anchor="t">
            <a:spAutoFit/>
          </a:bodyPr>
          <a:lstStyle/>
          <a:p>
            <a:pPr algn="l"/>
            <a:r>
              <a:rPr sz="1300" b="0" i="0">
                <a:solidFill>
                  <a:srgbClr val="5A6B58"/>
                </a:solidFill>
                <a:latin typeface="Segoe UI"/>
              </a:rPr>
              <a:t>Model training as a routine operation, not a research project.</a:t>
            </a:r>
          </a:p>
        </p:txBody>
      </p:sp>
      <p:sp>
        <p:nvSpPr>
          <p:cNvPr id="7" name="Rounded Rectangle 6"/>
          <p:cNvSpPr/>
          <p:nvPr/>
        </p:nvSpPr>
        <p:spPr>
          <a:xfrm>
            <a:off x="502920" y="1810511"/>
            <a:ext cx="6986016" cy="4319015"/>
          </a:xfrm>
          <a:prstGeom prst="roundRect">
            <a:avLst>
              <a:gd name="adj" fmla="val 2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dmin-train.png"/>
          <p:cNvPicPr>
            <a:picLocks noChangeAspect="1"/>
          </p:cNvPicPr>
          <p:nvPr/>
        </p:nvPicPr>
        <p:blipFill>
          <a:blip r:embed="rId2"/>
          <a:stretch>
            <a:fillRect/>
          </a:stretch>
        </p:blipFill>
        <p:spPr>
          <a:xfrm>
            <a:off x="566928" y="1874519"/>
            <a:ext cx="6858000" cy="4190999"/>
          </a:xfrm>
          <a:prstGeom prst="rect">
            <a:avLst/>
          </a:prstGeom>
        </p:spPr>
      </p:pic>
      <p:sp>
        <p:nvSpPr>
          <p:cNvPr id="9" name="TextBox 8"/>
          <p:cNvSpPr txBox="1"/>
          <p:nvPr/>
        </p:nvSpPr>
        <p:spPr>
          <a:xfrm>
            <a:off x="7772400" y="1920240"/>
            <a:ext cx="3931920" cy="5029200"/>
          </a:xfrm>
          <a:prstGeom prst="rect">
            <a:avLst/>
          </a:prstGeom>
          <a:noFill/>
        </p:spPr>
        <p:txBody>
          <a:bodyPr wrap="square">
            <a:spAutoFit/>
          </a:bodyPr>
          <a:lstStyle/>
          <a:p>
            <a:pPr>
              <a:spcAft>
                <a:spcPts val="1200"/>
              </a:spcAft>
            </a:pPr>
            <a:r>
              <a:rPr sz="1200">
                <a:solidFill>
                  <a:srgbClr val="1B271C"/>
                </a:solidFill>
                <a:latin typeface="Segoe UI"/>
              </a:rPr>
              <a:t>Strict discipline: no production model is registered until verified images exist for all 20 pests plus the negative class.
A live coverage board shows exactly which pest still needs photos.
Model profiles can be chosen per training run and custom pests can be added.
Researcher and browser data feeds keep enriching the knowledge base.</a:t>
            </a:r>
          </a:p>
          <a:p>
            <a:pPr>
              <a:spcAft>
                <a:spcPts val="1200"/>
              </a:spcAft>
            </a:pPr>
            <a:r>
              <a:rPr sz="1200">
                <a:solidFill>
                  <a:srgbClr val="1B271C"/>
                </a:solidFill>
                <a:latin typeface="Segoe UI"/>
              </a:rPr>
              <a:t/>
            </a:r>
          </a:p>
          <a:p>
            <a:pPr>
              <a:spcAft>
                <a:spcPts val="1200"/>
              </a:spcAft>
            </a:pPr>
            <a:r>
              <a:rPr sz="1200">
                <a:solidFill>
                  <a:srgbClr val="1B271C"/>
                </a:solidFill>
                <a:latin typeface="Segoe UI"/>
              </a:rPr>
              <a:t/>
            </a:r>
          </a:p>
          <a:p>
            <a:pPr>
              <a:spcAft>
                <a:spcPts val="1200"/>
              </a:spcAft>
            </a:pPr>
            <a:r>
              <a:rPr sz="1200">
                <a:solidFill>
                  <a:srgbClr val="1B271C"/>
                </a:solidFill>
                <a:latin typeface="Segoe UI"/>
              </a:rPr>
              <a:t/>
            </a:r>
          </a:p>
        </p:txBody>
      </p:sp>
      <p:sp>
        <p:nvSpPr>
          <p:cNvPr id="10" name="TextBox 9"/>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11" name="TextBox 10"/>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ADMIN PANEL 4/4</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Alerts at district scale</a:t>
            </a:r>
          </a:p>
        </p:txBody>
      </p:sp>
      <p:sp>
        <p:nvSpPr>
          <p:cNvPr id="6" name="TextBox 5"/>
          <p:cNvSpPr txBox="1"/>
          <p:nvPr/>
        </p:nvSpPr>
        <p:spPr>
          <a:xfrm>
            <a:off x="566928" y="1389888"/>
            <a:ext cx="11155680" cy="457200"/>
          </a:xfrm>
          <a:prstGeom prst="rect">
            <a:avLst/>
          </a:prstGeom>
          <a:noFill/>
        </p:spPr>
        <p:txBody>
          <a:bodyPr wrap="square" anchor="t">
            <a:spAutoFit/>
          </a:bodyPr>
          <a:lstStyle/>
          <a:p>
            <a:pPr algn="l"/>
            <a:r>
              <a:rPr sz="1300" b="0" i="0">
                <a:solidFill>
                  <a:srgbClr val="5A6B58"/>
                </a:solidFill>
                <a:latin typeface="Segoe UI"/>
              </a:rPr>
              <a:t>Firebase Cloud Messaging turns one observation into thousands of protected orchards.</a:t>
            </a:r>
          </a:p>
        </p:txBody>
      </p:sp>
      <p:sp>
        <p:nvSpPr>
          <p:cNvPr id="7" name="Rounded Rectangle 6"/>
          <p:cNvSpPr/>
          <p:nvPr/>
        </p:nvSpPr>
        <p:spPr>
          <a:xfrm>
            <a:off x="502920" y="1810511"/>
            <a:ext cx="6986016" cy="4319015"/>
          </a:xfrm>
          <a:prstGeom prst="roundRect">
            <a:avLst>
              <a:gd name="adj" fmla="val 2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admin-push.png"/>
          <p:cNvPicPr>
            <a:picLocks noChangeAspect="1"/>
          </p:cNvPicPr>
          <p:nvPr/>
        </p:nvPicPr>
        <p:blipFill>
          <a:blip r:embed="rId2"/>
          <a:stretch>
            <a:fillRect/>
          </a:stretch>
        </p:blipFill>
        <p:spPr>
          <a:xfrm>
            <a:off x="566928" y="1874519"/>
            <a:ext cx="6858000" cy="4190999"/>
          </a:xfrm>
          <a:prstGeom prst="rect">
            <a:avLst/>
          </a:prstGeom>
        </p:spPr>
      </p:pic>
      <p:sp>
        <p:nvSpPr>
          <p:cNvPr id="9" name="TextBox 8"/>
          <p:cNvSpPr txBox="1"/>
          <p:nvPr/>
        </p:nvSpPr>
        <p:spPr>
          <a:xfrm>
            <a:off x="7772400" y="1920240"/>
            <a:ext cx="3931920" cy="5029200"/>
          </a:xfrm>
          <a:prstGeom prst="rect">
            <a:avLst/>
          </a:prstGeom>
          <a:noFill/>
        </p:spPr>
        <p:txBody>
          <a:bodyPr wrap="square">
            <a:spAutoFit/>
          </a:bodyPr>
          <a:lstStyle/>
          <a:p>
            <a:pPr>
              <a:spcAft>
                <a:spcPts val="1200"/>
              </a:spcAft>
            </a:pPr>
            <a:r>
              <a:rPr sz="1200">
                <a:solidFill>
                  <a:srgbClr val="1B271C"/>
                </a:solidFill>
                <a:latin typeface="Segoe UI"/>
              </a:rPr>
              <a:t>Compose once and every registered farmer device receives the alert.
Firebase status and delivery logs are built into the panel for accountability.
Used for outbreak alerts, weather advisories, events and new advisories.
Delivery numbers feed back into engagement reporting.</a:t>
            </a:r>
          </a:p>
          <a:p>
            <a:pPr>
              <a:spcAft>
                <a:spcPts val="1200"/>
              </a:spcAft>
            </a:pPr>
            <a:r>
              <a:rPr sz="1200">
                <a:solidFill>
                  <a:srgbClr val="1B271C"/>
                </a:solidFill>
                <a:latin typeface="Segoe UI"/>
              </a:rPr>
              <a:t/>
            </a:r>
          </a:p>
          <a:p>
            <a:pPr>
              <a:spcAft>
                <a:spcPts val="1200"/>
              </a:spcAft>
            </a:pPr>
            <a:r>
              <a:rPr sz="1200">
                <a:solidFill>
                  <a:srgbClr val="1B271C"/>
                </a:solidFill>
                <a:latin typeface="Segoe UI"/>
              </a:rPr>
              <a:t/>
            </a:r>
          </a:p>
          <a:p>
            <a:pPr>
              <a:spcAft>
                <a:spcPts val="1200"/>
              </a:spcAft>
            </a:pPr>
            <a:r>
              <a:rPr sz="1200">
                <a:solidFill>
                  <a:srgbClr val="1B271C"/>
                </a:solidFill>
                <a:latin typeface="Segoe UI"/>
              </a:rPr>
              <a:t/>
            </a:r>
          </a:p>
        </p:txBody>
      </p:sp>
      <p:sp>
        <p:nvSpPr>
          <p:cNvPr id="10" name="TextBox 9"/>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11" name="TextBox 10"/>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76072" y="512064"/>
            <a:ext cx="7315200" cy="274320"/>
          </a:xfrm>
          <a:prstGeom prst="rect">
            <a:avLst/>
          </a:prstGeom>
          <a:noFill/>
        </p:spPr>
        <p:txBody>
          <a:bodyPr wrap="square" anchor="t">
            <a:spAutoFit/>
          </a:bodyPr>
          <a:lstStyle/>
          <a:p>
            <a:pPr algn="l"/>
            <a:r>
              <a:rPr sz="1100" b="1" i="0">
                <a:solidFill>
                  <a:srgbClr val="FFB000"/>
                </a:solidFill>
                <a:latin typeface="Segoe UI"/>
              </a:rPr>
              <a:t>TECHNOLOGY DEEP-DIVE</a:t>
            </a:r>
          </a:p>
        </p:txBody>
      </p:sp>
      <p:sp>
        <p:nvSpPr>
          <p:cNvPr id="4" name="TextBox 3"/>
          <p:cNvSpPr txBox="1"/>
          <p:nvPr/>
        </p:nvSpPr>
        <p:spPr>
          <a:xfrm>
            <a:off x="548640" y="749808"/>
            <a:ext cx="11155680" cy="731520"/>
          </a:xfrm>
          <a:prstGeom prst="rect">
            <a:avLst/>
          </a:prstGeom>
          <a:noFill/>
        </p:spPr>
        <p:txBody>
          <a:bodyPr wrap="square" anchor="t">
            <a:spAutoFit/>
          </a:bodyPr>
          <a:lstStyle/>
          <a:p>
            <a:pPr algn="l"/>
            <a:r>
              <a:rPr sz="2800" b="1" i="0">
                <a:solidFill>
                  <a:srgbClr val="FFFFFF"/>
                </a:solidFill>
                <a:latin typeface="Segoe UI"/>
              </a:rPr>
              <a:t>The AI engine under the hood</a:t>
            </a:r>
          </a:p>
        </p:txBody>
      </p:sp>
      <p:sp>
        <p:nvSpPr>
          <p:cNvPr id="5" name="Rounded Rectangle 4"/>
          <p:cNvSpPr/>
          <p:nvPr/>
        </p:nvSpPr>
        <p:spPr>
          <a:xfrm>
            <a:off x="566928" y="1783080"/>
            <a:ext cx="3611880" cy="4206240"/>
          </a:xfrm>
          <a:prstGeom prst="roundRect">
            <a:avLst>
              <a:gd name="adj" fmla="val 8000"/>
            </a:avLst>
          </a:prstGeom>
          <a:solidFill>
            <a:srgbClr val="0E2212"/>
          </a:solidFill>
          <a:ln w="15240">
            <a:solidFill>
              <a:srgbClr val="163D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95528" y="1965960"/>
            <a:ext cx="3200400" cy="457200"/>
          </a:xfrm>
          <a:prstGeom prst="rect">
            <a:avLst/>
          </a:prstGeom>
          <a:noFill/>
        </p:spPr>
        <p:txBody>
          <a:bodyPr wrap="square" anchor="t">
            <a:spAutoFit/>
          </a:bodyPr>
          <a:lstStyle/>
          <a:p>
            <a:pPr algn="l"/>
            <a:r>
              <a:rPr sz="1600" b="1" i="0">
                <a:solidFill>
                  <a:srgbClr val="FFB000"/>
                </a:solidFill>
                <a:latin typeface="Segoe UI"/>
              </a:rPr>
              <a:t>Vision model</a:t>
            </a:r>
          </a:p>
        </p:txBody>
      </p:sp>
      <p:sp>
        <p:nvSpPr>
          <p:cNvPr id="7" name="TextBox 6"/>
          <p:cNvSpPr txBox="1"/>
          <p:nvPr/>
        </p:nvSpPr>
        <p:spPr>
          <a:xfrm>
            <a:off x="795528" y="2514600"/>
            <a:ext cx="3200400" cy="5029200"/>
          </a:xfrm>
          <a:prstGeom prst="rect">
            <a:avLst/>
          </a:prstGeom>
          <a:noFill/>
        </p:spPr>
        <p:txBody>
          <a:bodyPr wrap="square">
            <a:spAutoFit/>
          </a:bodyPr>
          <a:lstStyle/>
          <a:p>
            <a:pPr>
              <a:lnSpc>
                <a:spcPts val="1600"/>
              </a:lnSpc>
              <a:spcAft>
                <a:spcPts val="1000"/>
              </a:spcAft>
            </a:pPr>
            <a:r>
              <a:rPr sz="1150">
                <a:solidFill>
                  <a:srgbClr val="C9D9C6"/>
                </a:solidFill>
                <a:latin typeface="Segoe UI"/>
              </a:rPr>
              <a:t>In-house vision engine, trained only on our own verified dataset.
The classifier covers the 20 citrus pests plus a no pest class and returns its best guesses with confidence.</a:t>
            </a:r>
          </a:p>
          <a:p>
            <a:pPr>
              <a:lnSpc>
                <a:spcPts val="1600"/>
              </a:lnSpc>
              <a:spcAft>
                <a:spcPts val="1000"/>
              </a:spcAft>
            </a:pPr>
            <a:r>
              <a:rPr sz="1150">
                <a:solidFill>
                  <a:srgbClr val="C9D9C6"/>
                </a:solidFill>
                <a:latin typeface="Segoe UI"/>
              </a:rPr>
              <a:t/>
            </a:r>
          </a:p>
          <a:p>
            <a:pPr>
              <a:lnSpc>
                <a:spcPts val="1600"/>
              </a:lnSpc>
              <a:spcAft>
                <a:spcPts val="1000"/>
              </a:spcAft>
            </a:pPr>
            <a:r>
              <a:rPr sz="1150">
                <a:solidFill>
                  <a:srgbClr val="C9D9C6"/>
                </a:solidFill>
                <a:latin typeface="Segoe UI"/>
              </a:rPr>
              <a:t/>
            </a:r>
          </a:p>
        </p:txBody>
      </p:sp>
      <p:sp>
        <p:nvSpPr>
          <p:cNvPr id="8" name="Rounded Rectangle 7"/>
          <p:cNvSpPr/>
          <p:nvPr/>
        </p:nvSpPr>
        <p:spPr>
          <a:xfrm>
            <a:off x="4315968" y="1783080"/>
            <a:ext cx="3611880" cy="4206240"/>
          </a:xfrm>
          <a:prstGeom prst="roundRect">
            <a:avLst>
              <a:gd name="adj" fmla="val 8000"/>
            </a:avLst>
          </a:prstGeom>
          <a:solidFill>
            <a:srgbClr val="0E2212"/>
          </a:solidFill>
          <a:ln w="15240">
            <a:solidFill>
              <a:srgbClr val="163D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965960"/>
            <a:ext cx="3200400" cy="457200"/>
          </a:xfrm>
          <a:prstGeom prst="rect">
            <a:avLst/>
          </a:prstGeom>
          <a:noFill/>
        </p:spPr>
        <p:txBody>
          <a:bodyPr wrap="square" anchor="t">
            <a:spAutoFit/>
          </a:bodyPr>
          <a:lstStyle/>
          <a:p>
            <a:pPr algn="l"/>
            <a:r>
              <a:rPr sz="1600" b="1" i="0">
                <a:solidFill>
                  <a:srgbClr val="FFB000"/>
                </a:solidFill>
                <a:latin typeface="Segoe UI"/>
              </a:rPr>
              <a:t>Training pipeline</a:t>
            </a:r>
          </a:p>
        </p:txBody>
      </p:sp>
      <p:sp>
        <p:nvSpPr>
          <p:cNvPr id="10" name="TextBox 9"/>
          <p:cNvSpPr txBox="1"/>
          <p:nvPr/>
        </p:nvSpPr>
        <p:spPr>
          <a:xfrm>
            <a:off x="4544568" y="2514600"/>
            <a:ext cx="3200400" cy="5029200"/>
          </a:xfrm>
          <a:prstGeom prst="rect">
            <a:avLst/>
          </a:prstGeom>
          <a:noFill/>
        </p:spPr>
        <p:txBody>
          <a:bodyPr wrap="square">
            <a:spAutoFit/>
          </a:bodyPr>
          <a:lstStyle/>
          <a:p>
            <a:pPr>
              <a:lnSpc>
                <a:spcPts val="1600"/>
              </a:lnSpc>
              <a:spcAft>
                <a:spcPts val="1000"/>
              </a:spcAft>
            </a:pPr>
            <a:r>
              <a:rPr sz="1150">
                <a:solidFill>
                  <a:srgbClr val="C9D9C6"/>
                </a:solidFill>
                <a:latin typeface="Segoe UI"/>
              </a:rPr>
              <a:t>Training runs from the panel or a command line, with jobs and metrics.</a:t>
            </a:r>
          </a:p>
          <a:p>
            <a:pPr>
              <a:lnSpc>
                <a:spcPts val="1600"/>
              </a:lnSpc>
              <a:spcAft>
                <a:spcPts val="1000"/>
              </a:spcAft>
            </a:pPr>
            <a:r>
              <a:rPr sz="1150">
                <a:solidFill>
                  <a:srgbClr val="C9D9C6"/>
                </a:solidFill>
                <a:latin typeface="Segoe UI"/>
              </a:rPr>
              <a:t>The registry refuses to promote a model until every class has verified images.</a:t>
            </a:r>
          </a:p>
          <a:p>
            <a:pPr>
              <a:lnSpc>
                <a:spcPts val="1600"/>
              </a:lnSpc>
              <a:spcAft>
                <a:spcPts val="1000"/>
              </a:spcAft>
            </a:pPr>
            <a:r>
              <a:rPr sz="1150">
                <a:solidFill>
                  <a:srgbClr val="C9D9C6"/>
                </a:solidFill>
                <a:latin typeface="Segoe UI"/>
              </a:rPr>
              <a:t>Model versions are listed and switchable from the AI Models screen.</a:t>
            </a:r>
          </a:p>
        </p:txBody>
      </p:sp>
      <p:sp>
        <p:nvSpPr>
          <p:cNvPr id="11" name="Rounded Rectangle 10"/>
          <p:cNvSpPr/>
          <p:nvPr/>
        </p:nvSpPr>
        <p:spPr>
          <a:xfrm>
            <a:off x="8065008" y="1783080"/>
            <a:ext cx="3611880" cy="4206240"/>
          </a:xfrm>
          <a:prstGeom prst="roundRect">
            <a:avLst>
              <a:gd name="adj" fmla="val 8000"/>
            </a:avLst>
          </a:prstGeom>
          <a:solidFill>
            <a:srgbClr val="0E2212"/>
          </a:solidFill>
          <a:ln w="15240">
            <a:solidFill>
              <a:srgbClr val="163D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93608" y="1965960"/>
            <a:ext cx="3200400" cy="457200"/>
          </a:xfrm>
          <a:prstGeom prst="rect">
            <a:avLst/>
          </a:prstGeom>
          <a:noFill/>
        </p:spPr>
        <p:txBody>
          <a:bodyPr wrap="square" anchor="t">
            <a:spAutoFit/>
          </a:bodyPr>
          <a:lstStyle/>
          <a:p>
            <a:pPr algn="l"/>
            <a:r>
              <a:rPr sz="1600" b="1" i="0">
                <a:solidFill>
                  <a:srgbClr val="FFB000"/>
                </a:solidFill>
                <a:latin typeface="Segoe UI"/>
              </a:rPr>
              <a:t>Data hygiene &amp; serving</a:t>
            </a:r>
          </a:p>
        </p:txBody>
      </p:sp>
      <p:sp>
        <p:nvSpPr>
          <p:cNvPr id="13" name="TextBox 12"/>
          <p:cNvSpPr txBox="1"/>
          <p:nvPr/>
        </p:nvSpPr>
        <p:spPr>
          <a:xfrm>
            <a:off x="8293608" y="2514600"/>
            <a:ext cx="3200400" cy="5029200"/>
          </a:xfrm>
          <a:prstGeom prst="rect">
            <a:avLst/>
          </a:prstGeom>
          <a:noFill/>
        </p:spPr>
        <p:txBody>
          <a:bodyPr wrap="square">
            <a:spAutoFit/>
          </a:bodyPr>
          <a:lstStyle/>
          <a:p>
            <a:pPr>
              <a:lnSpc>
                <a:spcPts val="1600"/>
              </a:lnSpc>
              <a:spcAft>
                <a:spcPts val="1000"/>
              </a:spcAft>
            </a:pPr>
            <a:r>
              <a:rPr sz="1150">
                <a:solidFill>
                  <a:srgbClr val="C9D9C6"/>
                </a:solidFill>
                <a:latin typeface="Segoe UI"/>
              </a:rPr>
              <a:t>Uploads are resized before inference and every call is timed and guarded.</a:t>
            </a:r>
          </a:p>
          <a:p>
            <a:pPr>
              <a:lnSpc>
                <a:spcPts val="1600"/>
              </a:lnSpc>
              <a:spcAft>
                <a:spcPts val="1000"/>
              </a:spcAft>
            </a:pPr>
            <a:r>
              <a:rPr sz="1150">
                <a:solidFill>
                  <a:srgbClr val="C9D9C6"/>
                </a:solidFill>
                <a:latin typeface="Segoe UI"/>
              </a:rPr>
              <a:t>Before enough real images exist, a cautious bootstrap answers plausible photos and rejects blank ones, so the app is never dead.</a:t>
            </a:r>
          </a:p>
          <a:p>
            <a:pPr>
              <a:lnSpc>
                <a:spcPts val="1600"/>
              </a:lnSpc>
              <a:spcAft>
                <a:spcPts val="1000"/>
              </a:spcAft>
            </a:pPr>
            <a:r>
              <a:rPr sz="1150">
                <a:solidFill>
                  <a:srgbClr val="C9D9C6"/>
                </a:solidFill>
                <a:latin typeface="Segoe UI"/>
              </a:rPr>
              <a:t/>
            </a:r>
          </a:p>
        </p:txBody>
      </p:sp>
      <p:sp>
        <p:nvSpPr>
          <p:cNvPr id="14" name="TextBox 13"/>
          <p:cNvSpPr txBox="1"/>
          <p:nvPr/>
        </p:nvSpPr>
        <p:spPr>
          <a:xfrm>
            <a:off x="576072" y="6172200"/>
            <a:ext cx="11064240" cy="365760"/>
          </a:xfrm>
          <a:prstGeom prst="rect">
            <a:avLst/>
          </a:prstGeom>
          <a:noFill/>
        </p:spPr>
        <p:txBody>
          <a:bodyPr wrap="square" anchor="t">
            <a:spAutoFit/>
          </a:bodyPr>
          <a:lstStyle/>
          <a:p>
            <a:pPr algn="l"/>
            <a:r>
              <a:rPr sz="1200" b="1" i="0">
                <a:solidFill>
                  <a:srgbClr val="84BD00"/>
                </a:solidFill>
                <a:latin typeface="Segoe UI"/>
              </a:rPr>
              <a:t>Privacy &amp; ownership: all images, labels and models remain on our servers, a strategic data asset, not a vendor's.</a:t>
            </a:r>
          </a:p>
        </p:txBody>
      </p:sp>
      <p:sp>
        <p:nvSpPr>
          <p:cNvPr id="15" name="TextBox 14"/>
          <p:cNvSpPr txBox="1"/>
          <p:nvPr/>
        </p:nvSpPr>
        <p:spPr>
          <a:xfrm>
            <a:off x="548640" y="6473952"/>
            <a:ext cx="7315200" cy="274320"/>
          </a:xfrm>
          <a:prstGeom prst="rect">
            <a:avLst/>
          </a:prstGeom>
          <a:noFill/>
        </p:spPr>
        <p:txBody>
          <a:bodyPr wrap="square" anchor="t">
            <a:spAutoFit/>
          </a:bodyPr>
          <a:lstStyle/>
          <a:p>
            <a:pPr algn="l"/>
            <a:r>
              <a:rPr sz="900" b="0" i="0">
                <a:solidFill>
                  <a:srgbClr val="B9CCB6"/>
                </a:solidFill>
                <a:latin typeface="Segoe UI"/>
              </a:rPr>
              <a:t>CitriSuraksha AI  ·  Scan · Detect · Protect  ·  Board Pitch, Confidential</a:t>
            </a:r>
          </a:p>
        </p:txBody>
      </p:sp>
      <p:sp>
        <p:nvSpPr>
          <p:cNvPr id="16" name="TextBox 15"/>
          <p:cNvSpPr txBox="1"/>
          <p:nvPr/>
        </p:nvSpPr>
        <p:spPr>
          <a:xfrm>
            <a:off x="11247120" y="6473952"/>
            <a:ext cx="457200" cy="274320"/>
          </a:xfrm>
          <a:prstGeom prst="rect">
            <a:avLst/>
          </a:prstGeom>
          <a:noFill/>
        </p:spPr>
        <p:txBody>
          <a:bodyPr wrap="square" anchor="t">
            <a:spAutoFit/>
          </a:bodyPr>
          <a:lstStyle/>
          <a:p>
            <a:pPr algn="r"/>
            <a:r>
              <a:rPr sz="900" b="1" i="0">
                <a:solidFill>
                  <a:srgbClr val="B9CCB6"/>
                </a:solidFill>
                <a:latin typeface="Segoe U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COMPOUNDING ADVANTAGE</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The data flywheel</a:t>
            </a:r>
          </a:p>
        </p:txBody>
      </p:sp>
      <p:sp>
        <p:nvSpPr>
          <p:cNvPr id="6" name="TextBox 5"/>
          <p:cNvSpPr txBox="1"/>
          <p:nvPr/>
        </p:nvSpPr>
        <p:spPr>
          <a:xfrm>
            <a:off x="566928" y="1389888"/>
            <a:ext cx="11155680" cy="457200"/>
          </a:xfrm>
          <a:prstGeom prst="rect">
            <a:avLst/>
          </a:prstGeom>
          <a:noFill/>
        </p:spPr>
        <p:txBody>
          <a:bodyPr wrap="square" anchor="t">
            <a:spAutoFit/>
          </a:bodyPr>
          <a:lstStyle/>
          <a:p>
            <a:pPr algn="l"/>
            <a:r>
              <a:rPr sz="1300" b="0" i="0">
                <a:solidFill>
                  <a:srgbClr val="5A6B58"/>
                </a:solidFill>
                <a:latin typeface="Segoe UI"/>
              </a:rPr>
              <a:t>Every stakeholder action makes the platform more valuable for every other stakeholder.</a:t>
            </a:r>
          </a:p>
        </p:txBody>
      </p:sp>
      <p:sp>
        <p:nvSpPr>
          <p:cNvPr id="7" name="Rounded Rectangle 6"/>
          <p:cNvSpPr/>
          <p:nvPr/>
        </p:nvSpPr>
        <p:spPr>
          <a:xfrm>
            <a:off x="5047488" y="1648663"/>
            <a:ext cx="2103120" cy="1133856"/>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157216" y="1740103"/>
            <a:ext cx="1920240" cy="365760"/>
          </a:xfrm>
          <a:prstGeom prst="rect">
            <a:avLst/>
          </a:prstGeom>
          <a:noFill/>
        </p:spPr>
        <p:txBody>
          <a:bodyPr wrap="square" anchor="t">
            <a:spAutoFit/>
          </a:bodyPr>
          <a:lstStyle/>
          <a:p>
            <a:pPr algn="l"/>
            <a:r>
              <a:rPr sz="1250" b="1" i="0">
                <a:solidFill>
                  <a:srgbClr val="116530"/>
                </a:solidFill>
                <a:latin typeface="Segoe UI"/>
              </a:rPr>
              <a:t>📷 Farmers scan</a:t>
            </a:r>
          </a:p>
        </p:txBody>
      </p:sp>
      <p:sp>
        <p:nvSpPr>
          <p:cNvPr id="9" name="TextBox 8"/>
          <p:cNvSpPr txBox="1"/>
          <p:nvPr/>
        </p:nvSpPr>
        <p:spPr>
          <a:xfrm>
            <a:off x="5157216" y="2124151"/>
            <a:ext cx="1920240" cy="548640"/>
          </a:xfrm>
          <a:prstGeom prst="rect">
            <a:avLst/>
          </a:prstGeom>
          <a:noFill/>
        </p:spPr>
        <p:txBody>
          <a:bodyPr wrap="square" anchor="t">
            <a:spAutoFit/>
          </a:bodyPr>
          <a:lstStyle/>
          <a:p>
            <a:pPr algn="l"/>
            <a:r>
              <a:rPr sz="1050" b="0" i="0">
                <a:solidFill>
                  <a:srgbClr val="5A6B58"/>
                </a:solidFill>
                <a:latin typeface="Segoe UI"/>
              </a:rPr>
              <a:t>more orchards covered</a:t>
            </a:r>
          </a:p>
        </p:txBody>
      </p:sp>
      <p:sp>
        <p:nvSpPr>
          <p:cNvPr id="10" name="Rounded Rectangle 9"/>
          <p:cNvSpPr/>
          <p:nvPr/>
        </p:nvSpPr>
        <p:spPr>
          <a:xfrm>
            <a:off x="6908438" y="2529687"/>
            <a:ext cx="2103120" cy="1133856"/>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18166" y="2621127"/>
            <a:ext cx="1920240" cy="365760"/>
          </a:xfrm>
          <a:prstGeom prst="rect">
            <a:avLst/>
          </a:prstGeom>
          <a:noFill/>
        </p:spPr>
        <p:txBody>
          <a:bodyPr wrap="square" anchor="t">
            <a:spAutoFit/>
          </a:bodyPr>
          <a:lstStyle/>
          <a:p>
            <a:pPr algn="l"/>
            <a:r>
              <a:rPr sz="1250" b="1" i="0">
                <a:solidFill>
                  <a:srgbClr val="116530"/>
                </a:solidFill>
                <a:latin typeface="Segoe UI"/>
              </a:rPr>
              <a:t>✅ Experts verify</a:t>
            </a:r>
          </a:p>
        </p:txBody>
      </p:sp>
      <p:sp>
        <p:nvSpPr>
          <p:cNvPr id="12" name="TextBox 11"/>
          <p:cNvSpPr txBox="1"/>
          <p:nvPr/>
        </p:nvSpPr>
        <p:spPr>
          <a:xfrm>
            <a:off x="7018166" y="3005175"/>
            <a:ext cx="1920240" cy="548640"/>
          </a:xfrm>
          <a:prstGeom prst="rect">
            <a:avLst/>
          </a:prstGeom>
          <a:noFill/>
        </p:spPr>
        <p:txBody>
          <a:bodyPr wrap="square" anchor="t">
            <a:spAutoFit/>
          </a:bodyPr>
          <a:lstStyle/>
          <a:p>
            <a:pPr algn="l"/>
            <a:r>
              <a:rPr sz="1050" b="0" i="0">
                <a:solidFill>
                  <a:srgbClr val="5A6B58"/>
                </a:solidFill>
                <a:latin typeface="Segoe UI"/>
              </a:rPr>
              <a:t>labels of research grade</a:t>
            </a:r>
          </a:p>
        </p:txBody>
      </p:sp>
      <p:sp>
        <p:nvSpPr>
          <p:cNvPr id="13" name="Rounded Rectangle 12"/>
          <p:cNvSpPr/>
          <p:nvPr/>
        </p:nvSpPr>
        <p:spPr>
          <a:xfrm>
            <a:off x="6908438" y="4291736"/>
            <a:ext cx="2103120" cy="1133856"/>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18166" y="4383176"/>
            <a:ext cx="1920240" cy="365760"/>
          </a:xfrm>
          <a:prstGeom prst="rect">
            <a:avLst/>
          </a:prstGeom>
          <a:noFill/>
        </p:spPr>
        <p:txBody>
          <a:bodyPr wrap="square" anchor="t">
            <a:spAutoFit/>
          </a:bodyPr>
          <a:lstStyle/>
          <a:p>
            <a:pPr algn="l"/>
            <a:r>
              <a:rPr sz="1250" b="1" i="0">
                <a:solidFill>
                  <a:srgbClr val="116530"/>
                </a:solidFill>
                <a:latin typeface="Segoe UI"/>
              </a:rPr>
              <a:t>🧠 Model retrains</a:t>
            </a:r>
          </a:p>
        </p:txBody>
      </p:sp>
      <p:sp>
        <p:nvSpPr>
          <p:cNvPr id="15" name="TextBox 14"/>
          <p:cNvSpPr txBox="1"/>
          <p:nvPr/>
        </p:nvSpPr>
        <p:spPr>
          <a:xfrm>
            <a:off x="7018166" y="4767224"/>
            <a:ext cx="1920240" cy="548640"/>
          </a:xfrm>
          <a:prstGeom prst="rect">
            <a:avLst/>
          </a:prstGeom>
          <a:noFill/>
        </p:spPr>
        <p:txBody>
          <a:bodyPr wrap="square" anchor="t">
            <a:spAutoFit/>
          </a:bodyPr>
          <a:lstStyle/>
          <a:p>
            <a:pPr algn="l"/>
            <a:r>
              <a:rPr sz="1050" b="0" i="0">
                <a:solidFill>
                  <a:srgbClr val="5A6B58"/>
                </a:solidFill>
                <a:latin typeface="Segoe UI"/>
              </a:rPr>
              <a:t>accuracy climbs</a:t>
            </a:r>
          </a:p>
        </p:txBody>
      </p:sp>
      <p:sp>
        <p:nvSpPr>
          <p:cNvPr id="16" name="Rounded Rectangle 15"/>
          <p:cNvSpPr/>
          <p:nvPr/>
        </p:nvSpPr>
        <p:spPr>
          <a:xfrm>
            <a:off x="5047488" y="5172760"/>
            <a:ext cx="2103120" cy="1133856"/>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57216" y="5264200"/>
            <a:ext cx="1920240" cy="365760"/>
          </a:xfrm>
          <a:prstGeom prst="rect">
            <a:avLst/>
          </a:prstGeom>
          <a:noFill/>
        </p:spPr>
        <p:txBody>
          <a:bodyPr wrap="square" anchor="t">
            <a:spAutoFit/>
          </a:bodyPr>
          <a:lstStyle/>
          <a:p>
            <a:pPr algn="l"/>
            <a:r>
              <a:rPr sz="1250" b="1" i="0">
                <a:solidFill>
                  <a:srgbClr val="116530"/>
                </a:solidFill>
                <a:latin typeface="Segoe UI"/>
              </a:rPr>
              <a:t>📈 Trust grows</a:t>
            </a:r>
          </a:p>
        </p:txBody>
      </p:sp>
      <p:sp>
        <p:nvSpPr>
          <p:cNvPr id="18" name="TextBox 17"/>
          <p:cNvSpPr txBox="1"/>
          <p:nvPr/>
        </p:nvSpPr>
        <p:spPr>
          <a:xfrm>
            <a:off x="5157216" y="5648248"/>
            <a:ext cx="1920240" cy="548640"/>
          </a:xfrm>
          <a:prstGeom prst="rect">
            <a:avLst/>
          </a:prstGeom>
          <a:noFill/>
        </p:spPr>
        <p:txBody>
          <a:bodyPr wrap="square" anchor="t">
            <a:spAutoFit/>
          </a:bodyPr>
          <a:lstStyle/>
          <a:p>
            <a:pPr algn="l"/>
            <a:r>
              <a:rPr sz="1050" b="0" i="0">
                <a:solidFill>
                  <a:srgbClr val="5A6B58"/>
                </a:solidFill>
                <a:latin typeface="Segoe UI"/>
              </a:rPr>
              <a:t>adoption accelerates</a:t>
            </a:r>
          </a:p>
        </p:txBody>
      </p:sp>
      <p:sp>
        <p:nvSpPr>
          <p:cNvPr id="19" name="Rounded Rectangle 18"/>
          <p:cNvSpPr/>
          <p:nvPr/>
        </p:nvSpPr>
        <p:spPr>
          <a:xfrm>
            <a:off x="3186537" y="4291736"/>
            <a:ext cx="2103120" cy="1133856"/>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96265" y="4383176"/>
            <a:ext cx="1920240" cy="365760"/>
          </a:xfrm>
          <a:prstGeom prst="rect">
            <a:avLst/>
          </a:prstGeom>
          <a:noFill/>
        </p:spPr>
        <p:txBody>
          <a:bodyPr wrap="square" anchor="t">
            <a:spAutoFit/>
          </a:bodyPr>
          <a:lstStyle/>
          <a:p>
            <a:pPr algn="l"/>
            <a:r>
              <a:rPr sz="1250" b="1" i="0">
                <a:solidFill>
                  <a:srgbClr val="116530"/>
                </a:solidFill>
                <a:latin typeface="Segoe UI"/>
              </a:rPr>
              <a:t>🗺️ Data deepens</a:t>
            </a:r>
          </a:p>
        </p:txBody>
      </p:sp>
      <p:sp>
        <p:nvSpPr>
          <p:cNvPr id="21" name="TextBox 20"/>
          <p:cNvSpPr txBox="1"/>
          <p:nvPr/>
        </p:nvSpPr>
        <p:spPr>
          <a:xfrm>
            <a:off x="3296265" y="4767224"/>
            <a:ext cx="1920240" cy="548640"/>
          </a:xfrm>
          <a:prstGeom prst="rect">
            <a:avLst/>
          </a:prstGeom>
          <a:noFill/>
        </p:spPr>
        <p:txBody>
          <a:bodyPr wrap="square" anchor="t">
            <a:spAutoFit/>
          </a:bodyPr>
          <a:lstStyle/>
          <a:p>
            <a:pPr algn="l"/>
            <a:r>
              <a:rPr sz="1050" b="0" i="0">
                <a:solidFill>
                  <a:srgbClr val="5A6B58"/>
                </a:solidFill>
                <a:latin typeface="Segoe UI"/>
              </a:rPr>
              <a:t>surveillance value for agencies</a:t>
            </a:r>
          </a:p>
        </p:txBody>
      </p:sp>
      <p:sp>
        <p:nvSpPr>
          <p:cNvPr id="22" name="Rounded Rectangle 21"/>
          <p:cNvSpPr/>
          <p:nvPr/>
        </p:nvSpPr>
        <p:spPr>
          <a:xfrm>
            <a:off x="3186537" y="2529687"/>
            <a:ext cx="2103120" cy="1133856"/>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96265" y="2621127"/>
            <a:ext cx="1920240" cy="365760"/>
          </a:xfrm>
          <a:prstGeom prst="rect">
            <a:avLst/>
          </a:prstGeom>
          <a:noFill/>
        </p:spPr>
        <p:txBody>
          <a:bodyPr wrap="square" anchor="t">
            <a:spAutoFit/>
          </a:bodyPr>
          <a:lstStyle/>
          <a:p>
            <a:pPr algn="l"/>
            <a:r>
              <a:rPr sz="1250" b="1" i="0">
                <a:solidFill>
                  <a:srgbClr val="116530"/>
                </a:solidFill>
                <a:latin typeface="Segoe UI"/>
              </a:rPr>
              <a:t>💬 Advisories improve</a:t>
            </a:r>
          </a:p>
        </p:txBody>
      </p:sp>
      <p:sp>
        <p:nvSpPr>
          <p:cNvPr id="24" name="TextBox 23"/>
          <p:cNvSpPr txBox="1"/>
          <p:nvPr/>
        </p:nvSpPr>
        <p:spPr>
          <a:xfrm>
            <a:off x="3296265" y="3005175"/>
            <a:ext cx="1920240" cy="548640"/>
          </a:xfrm>
          <a:prstGeom prst="rect">
            <a:avLst/>
          </a:prstGeom>
          <a:noFill/>
        </p:spPr>
        <p:txBody>
          <a:bodyPr wrap="square" anchor="t">
            <a:spAutoFit/>
          </a:bodyPr>
          <a:lstStyle/>
          <a:p>
            <a:pPr algn="l"/>
            <a:r>
              <a:rPr sz="1050" b="0" i="0">
                <a:solidFill>
                  <a:srgbClr val="5A6B58"/>
                </a:solidFill>
                <a:latin typeface="Segoe UI"/>
              </a:rPr>
              <a:t>fewer losses season on season</a:t>
            </a:r>
          </a:p>
        </p:txBody>
      </p:sp>
      <p:sp>
        <p:nvSpPr>
          <p:cNvPr id="25" name="Rounded Rectangle 24"/>
          <p:cNvSpPr/>
          <p:nvPr/>
        </p:nvSpPr>
        <p:spPr>
          <a:xfrm>
            <a:off x="4864608" y="3291839"/>
            <a:ext cx="2468880" cy="1371600"/>
          </a:xfrm>
          <a:prstGeom prst="roundRect">
            <a:avLst>
              <a:gd name="adj" fmla="val 50000"/>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64608" y="3474720"/>
            <a:ext cx="2468880" cy="1005840"/>
          </a:xfrm>
          <a:prstGeom prst="rect">
            <a:avLst/>
          </a:prstGeom>
          <a:noFill/>
        </p:spPr>
        <p:txBody>
          <a:bodyPr wrap="square" anchor="ctr">
            <a:spAutoFit/>
          </a:bodyPr>
          <a:lstStyle/>
          <a:p>
            <a:pPr algn="ctr"/>
            <a:r>
              <a:rPr sz="1600" b="1" i="0">
                <a:solidFill>
                  <a:srgbClr val="FFFFFF"/>
                </a:solidFill>
                <a:latin typeface="Segoe UI"/>
              </a:rPr>
              <a:t>Better AI
every cycle</a:t>
            </a:r>
          </a:p>
        </p:txBody>
      </p:sp>
      <p:sp>
        <p:nvSpPr>
          <p:cNvPr id="27" name="TextBox 26"/>
          <p:cNvSpPr txBox="1"/>
          <p:nvPr/>
        </p:nvSpPr>
        <p:spPr>
          <a:xfrm>
            <a:off x="8778240" y="2103120"/>
            <a:ext cx="3017520" cy="4023360"/>
          </a:xfrm>
          <a:prstGeom prst="rect">
            <a:avLst/>
          </a:prstGeom>
          <a:noFill/>
        </p:spPr>
        <p:txBody>
          <a:bodyPr wrap="square" anchor="t">
            <a:spAutoFit/>
          </a:bodyPr>
          <a:lstStyle/>
          <a:p>
            <a:pPr algn="l">
              <a:lnSpc>
                <a:spcPts val="2000"/>
              </a:lnSpc>
            </a:pPr>
            <a:r>
              <a:rPr sz="1400" b="1" i="0">
                <a:solidFill>
                  <a:srgbClr val="116530"/>
                </a:solidFill>
                <a:latin typeface="Segoe UI"/>
              </a:rPr>
              <a:t>Anyone can copy a model.
Nobody can copy a labelled,
location tagged, expert verified
citrus pest dataset grown
season after season with
farmers and departments.  That dataset is the moat.</a:t>
            </a:r>
          </a:p>
        </p:txBody>
      </p:sp>
      <p:sp>
        <p:nvSpPr>
          <p:cNvPr id="28" name="TextBox 27"/>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29" name="TextBox 28"/>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VALUE PROPOSITION</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What the farmer gains</a:t>
            </a:r>
          </a:p>
        </p:txBody>
      </p:sp>
      <p:sp>
        <p:nvSpPr>
          <p:cNvPr id="6" name="Rounded Rectangle 5"/>
          <p:cNvSpPr/>
          <p:nvPr/>
        </p:nvSpPr>
        <p:spPr>
          <a:xfrm>
            <a:off x="566928" y="178308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94767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8" name="TextBox 7"/>
          <p:cNvSpPr txBox="1"/>
          <p:nvPr/>
        </p:nvSpPr>
        <p:spPr>
          <a:xfrm>
            <a:off x="768096" y="2331720"/>
            <a:ext cx="3163824" cy="685800"/>
          </a:xfrm>
          <a:prstGeom prst="rect">
            <a:avLst/>
          </a:prstGeom>
          <a:noFill/>
        </p:spPr>
        <p:txBody>
          <a:bodyPr wrap="square" anchor="t">
            <a:spAutoFit/>
          </a:bodyPr>
          <a:lstStyle/>
          <a:p>
            <a:pPr algn="l"/>
            <a:r>
              <a:rPr sz="1400" b="1" i="0">
                <a:solidFill>
                  <a:srgbClr val="116530"/>
                </a:solidFill>
                <a:latin typeface="Segoe UI"/>
              </a:rPr>
              <a:t>Diagnosis in seconds</a:t>
            </a:r>
          </a:p>
        </p:txBody>
      </p:sp>
      <p:sp>
        <p:nvSpPr>
          <p:cNvPr id="9" name="TextBox 8"/>
          <p:cNvSpPr txBox="1"/>
          <p:nvPr/>
        </p:nvSpPr>
        <p:spPr>
          <a:xfrm>
            <a:off x="768096" y="2679191"/>
            <a:ext cx="3163824" cy="320040"/>
          </a:xfrm>
          <a:prstGeom prst="rect">
            <a:avLst/>
          </a:prstGeom>
          <a:noFill/>
        </p:spPr>
        <p:txBody>
          <a:bodyPr wrap="square" anchor="t">
            <a:spAutoFit/>
          </a:bodyPr>
          <a:lstStyle/>
          <a:p>
            <a:pPr algn="l">
              <a:lnSpc>
                <a:spcPts val="1600"/>
              </a:lnSpc>
            </a:pPr>
            <a:r>
              <a:rPr sz="1150" b="0" i="0">
                <a:solidFill>
                  <a:srgbClr val="5A6B58"/>
                </a:solidFill>
                <a:latin typeface="Segoe UI"/>
              </a:rPr>
              <a:t>From 'what is eating my crop?' to a named pest with severity, without travel or waiting.</a:t>
            </a:r>
          </a:p>
        </p:txBody>
      </p:sp>
      <p:sp>
        <p:nvSpPr>
          <p:cNvPr id="10" name="Rounded Rectangle 9"/>
          <p:cNvSpPr/>
          <p:nvPr/>
        </p:nvSpPr>
        <p:spPr>
          <a:xfrm>
            <a:off x="4315968" y="178308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7136" y="194767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12" name="TextBox 11"/>
          <p:cNvSpPr txBox="1"/>
          <p:nvPr/>
        </p:nvSpPr>
        <p:spPr>
          <a:xfrm>
            <a:off x="4517136" y="2331720"/>
            <a:ext cx="3163824" cy="685800"/>
          </a:xfrm>
          <a:prstGeom prst="rect">
            <a:avLst/>
          </a:prstGeom>
          <a:noFill/>
        </p:spPr>
        <p:txBody>
          <a:bodyPr wrap="square" anchor="t">
            <a:spAutoFit/>
          </a:bodyPr>
          <a:lstStyle/>
          <a:p>
            <a:pPr algn="l"/>
            <a:r>
              <a:rPr sz="1400" b="1" i="0">
                <a:solidFill>
                  <a:srgbClr val="116530"/>
                </a:solidFill>
                <a:latin typeface="Segoe UI"/>
              </a:rPr>
              <a:t>Right spray, right time</a:t>
            </a:r>
          </a:p>
        </p:txBody>
      </p:sp>
      <p:sp>
        <p:nvSpPr>
          <p:cNvPr id="13" name="TextBox 12"/>
          <p:cNvSpPr txBox="1"/>
          <p:nvPr/>
        </p:nvSpPr>
        <p:spPr>
          <a:xfrm>
            <a:off x="4517136" y="2679191"/>
            <a:ext cx="3163824" cy="320040"/>
          </a:xfrm>
          <a:prstGeom prst="rect">
            <a:avLst/>
          </a:prstGeom>
          <a:noFill/>
        </p:spPr>
        <p:txBody>
          <a:bodyPr wrap="square" anchor="t">
            <a:spAutoFit/>
          </a:bodyPr>
          <a:lstStyle/>
          <a:p>
            <a:pPr algn="l">
              <a:lnSpc>
                <a:spcPts val="1600"/>
              </a:lnSpc>
            </a:pPr>
            <a:r>
              <a:rPr sz="1150" b="0" i="0">
                <a:solidFill>
                  <a:srgbClr val="5A6B58"/>
                </a:solidFill>
                <a:latin typeface="Segoe UI"/>
              </a:rPr>
              <a:t>CIB and RC aligned chemical plus organic options, matched to the stage, cut wasted spray spend.</a:t>
            </a:r>
          </a:p>
        </p:txBody>
      </p:sp>
      <p:sp>
        <p:nvSpPr>
          <p:cNvPr id="14" name="Rounded Rectangle 13"/>
          <p:cNvSpPr/>
          <p:nvPr/>
        </p:nvSpPr>
        <p:spPr>
          <a:xfrm>
            <a:off x="8065008" y="178308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6176" y="194767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16" name="TextBox 15"/>
          <p:cNvSpPr txBox="1"/>
          <p:nvPr/>
        </p:nvSpPr>
        <p:spPr>
          <a:xfrm>
            <a:off x="8266176" y="2331720"/>
            <a:ext cx="3163824" cy="685800"/>
          </a:xfrm>
          <a:prstGeom prst="rect">
            <a:avLst/>
          </a:prstGeom>
          <a:noFill/>
        </p:spPr>
        <p:txBody>
          <a:bodyPr wrap="square" anchor="t">
            <a:spAutoFit/>
          </a:bodyPr>
          <a:lstStyle/>
          <a:p>
            <a:pPr algn="l"/>
            <a:r>
              <a:rPr sz="1400" b="1" i="0">
                <a:solidFill>
                  <a:srgbClr val="116530"/>
                </a:solidFill>
                <a:latin typeface="Segoe UI"/>
              </a:rPr>
              <a:t>Prevention first</a:t>
            </a:r>
          </a:p>
        </p:txBody>
      </p:sp>
      <p:sp>
        <p:nvSpPr>
          <p:cNvPr id="17" name="TextBox 16"/>
          <p:cNvSpPr txBox="1"/>
          <p:nvPr/>
        </p:nvSpPr>
        <p:spPr>
          <a:xfrm>
            <a:off x="8266176" y="2679191"/>
            <a:ext cx="3163824" cy="320040"/>
          </a:xfrm>
          <a:prstGeom prst="rect">
            <a:avLst/>
          </a:prstGeom>
          <a:noFill/>
        </p:spPr>
        <p:txBody>
          <a:bodyPr wrap="square" anchor="t">
            <a:spAutoFit/>
          </a:bodyPr>
          <a:lstStyle/>
          <a:p>
            <a:pPr algn="l">
              <a:lnSpc>
                <a:spcPts val="1600"/>
              </a:lnSpc>
            </a:pPr>
            <a:r>
              <a:rPr sz="1150" b="0" i="0">
                <a:solidFill>
                  <a:srgbClr val="5A6B58"/>
                </a:solidFill>
                <a:latin typeface="Segoe UI"/>
              </a:rPr>
              <a:t>A month wise Calendar of Operation and timely alerts stop outbreaks before damage.</a:t>
            </a:r>
          </a:p>
        </p:txBody>
      </p:sp>
      <p:sp>
        <p:nvSpPr>
          <p:cNvPr id="18" name="Rounded Rectangle 17"/>
          <p:cNvSpPr/>
          <p:nvPr/>
        </p:nvSpPr>
        <p:spPr>
          <a:xfrm>
            <a:off x="566928" y="338328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354787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20" name="TextBox 19"/>
          <p:cNvSpPr txBox="1"/>
          <p:nvPr/>
        </p:nvSpPr>
        <p:spPr>
          <a:xfrm>
            <a:off x="768096" y="3931920"/>
            <a:ext cx="3163824" cy="685800"/>
          </a:xfrm>
          <a:prstGeom prst="rect">
            <a:avLst/>
          </a:prstGeom>
          <a:noFill/>
        </p:spPr>
        <p:txBody>
          <a:bodyPr wrap="square" anchor="t">
            <a:spAutoFit/>
          </a:bodyPr>
          <a:lstStyle/>
          <a:p>
            <a:pPr algn="l"/>
            <a:r>
              <a:rPr sz="1400" b="1" i="0">
                <a:solidFill>
                  <a:srgbClr val="116530"/>
                </a:solidFill>
                <a:latin typeface="Segoe UI"/>
              </a:rPr>
              <a:t>Expert in the pocket</a:t>
            </a:r>
          </a:p>
        </p:txBody>
      </p:sp>
      <p:sp>
        <p:nvSpPr>
          <p:cNvPr id="21" name="TextBox 20"/>
          <p:cNvSpPr txBox="1"/>
          <p:nvPr/>
        </p:nvSpPr>
        <p:spPr>
          <a:xfrm>
            <a:off x="768096" y="4279392"/>
            <a:ext cx="3163824" cy="320039"/>
          </a:xfrm>
          <a:prstGeom prst="rect">
            <a:avLst/>
          </a:prstGeom>
          <a:noFill/>
        </p:spPr>
        <p:txBody>
          <a:bodyPr wrap="square" anchor="t">
            <a:spAutoFit/>
          </a:bodyPr>
          <a:lstStyle/>
          <a:p>
            <a:pPr algn="l">
              <a:lnSpc>
                <a:spcPts val="1600"/>
              </a:lnSpc>
            </a:pPr>
            <a:r>
              <a:rPr sz="1150" b="0" i="0">
                <a:solidFill>
                  <a:srgbClr val="5A6B58"/>
                </a:solidFill>
                <a:latin typeface="Segoe UI"/>
              </a:rPr>
              <a:t>Chatbot plus real agronomist replies in the farmer's own language.</a:t>
            </a:r>
          </a:p>
        </p:txBody>
      </p:sp>
      <p:sp>
        <p:nvSpPr>
          <p:cNvPr id="22" name="Rounded Rectangle 21"/>
          <p:cNvSpPr/>
          <p:nvPr/>
        </p:nvSpPr>
        <p:spPr>
          <a:xfrm>
            <a:off x="4315968" y="338328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17136" y="354787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24" name="TextBox 23"/>
          <p:cNvSpPr txBox="1"/>
          <p:nvPr/>
        </p:nvSpPr>
        <p:spPr>
          <a:xfrm>
            <a:off x="4517136" y="3931920"/>
            <a:ext cx="3163824" cy="685800"/>
          </a:xfrm>
          <a:prstGeom prst="rect">
            <a:avLst/>
          </a:prstGeom>
          <a:noFill/>
        </p:spPr>
        <p:txBody>
          <a:bodyPr wrap="square" anchor="t">
            <a:spAutoFit/>
          </a:bodyPr>
          <a:lstStyle/>
          <a:p>
            <a:pPr algn="l"/>
            <a:r>
              <a:rPr sz="1400" b="1" i="0">
                <a:solidFill>
                  <a:srgbClr val="116530"/>
                </a:solidFill>
                <a:latin typeface="Segoe UI"/>
              </a:rPr>
              <a:t>Personal farm record</a:t>
            </a:r>
          </a:p>
        </p:txBody>
      </p:sp>
      <p:sp>
        <p:nvSpPr>
          <p:cNvPr id="25" name="TextBox 24"/>
          <p:cNvSpPr txBox="1"/>
          <p:nvPr/>
        </p:nvSpPr>
        <p:spPr>
          <a:xfrm>
            <a:off x="4517136" y="4279392"/>
            <a:ext cx="3163824" cy="320039"/>
          </a:xfrm>
          <a:prstGeom prst="rect">
            <a:avLst/>
          </a:prstGeom>
          <a:noFill/>
        </p:spPr>
        <p:txBody>
          <a:bodyPr wrap="square" anchor="t">
            <a:spAutoFit/>
          </a:bodyPr>
          <a:lstStyle/>
          <a:p>
            <a:pPr algn="l">
              <a:lnSpc>
                <a:spcPts val="1600"/>
              </a:lnSpc>
            </a:pPr>
            <a:r>
              <a:rPr sz="1150" b="0" i="0">
                <a:solidFill>
                  <a:srgbClr val="5A6B58"/>
                </a:solidFill>
                <a:latin typeface="Segoe UI"/>
              </a:rPr>
              <a:t>Every scan is saved, building a crop health history that helps with loans and insurance.</a:t>
            </a:r>
          </a:p>
        </p:txBody>
      </p:sp>
      <p:sp>
        <p:nvSpPr>
          <p:cNvPr id="26" name="Rounded Rectangle 25"/>
          <p:cNvSpPr/>
          <p:nvPr/>
        </p:nvSpPr>
        <p:spPr>
          <a:xfrm>
            <a:off x="8065008" y="338328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6" y="354787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28" name="TextBox 27"/>
          <p:cNvSpPr txBox="1"/>
          <p:nvPr/>
        </p:nvSpPr>
        <p:spPr>
          <a:xfrm>
            <a:off x="8266176" y="3931920"/>
            <a:ext cx="3163824" cy="685800"/>
          </a:xfrm>
          <a:prstGeom prst="rect">
            <a:avLst/>
          </a:prstGeom>
          <a:noFill/>
        </p:spPr>
        <p:txBody>
          <a:bodyPr wrap="square" anchor="t">
            <a:spAutoFit/>
          </a:bodyPr>
          <a:lstStyle/>
          <a:p>
            <a:pPr algn="l"/>
            <a:r>
              <a:rPr sz="1400" b="1" i="0">
                <a:solidFill>
                  <a:srgbClr val="116530"/>
                </a:solidFill>
                <a:latin typeface="Segoe UI"/>
              </a:rPr>
              <a:t>Never misses an alert</a:t>
            </a:r>
          </a:p>
        </p:txBody>
      </p:sp>
      <p:sp>
        <p:nvSpPr>
          <p:cNvPr id="29" name="TextBox 28"/>
          <p:cNvSpPr txBox="1"/>
          <p:nvPr/>
        </p:nvSpPr>
        <p:spPr>
          <a:xfrm>
            <a:off x="8266176" y="4279392"/>
            <a:ext cx="3163824" cy="320039"/>
          </a:xfrm>
          <a:prstGeom prst="rect">
            <a:avLst/>
          </a:prstGeom>
          <a:noFill/>
        </p:spPr>
        <p:txBody>
          <a:bodyPr wrap="square" anchor="t">
            <a:spAutoFit/>
          </a:bodyPr>
          <a:lstStyle/>
          <a:p>
            <a:pPr algn="l">
              <a:lnSpc>
                <a:spcPts val="1600"/>
              </a:lnSpc>
            </a:pPr>
            <a:r>
              <a:rPr sz="1150" b="0" i="0">
                <a:solidFill>
                  <a:srgbClr val="5A6B58"/>
                </a:solidFill>
                <a:latin typeface="Segoe UI"/>
              </a:rPr>
              <a:t>District pest warnings and advisories arrive as push notifications.</a:t>
            </a:r>
          </a:p>
        </p:txBody>
      </p:sp>
      <p:sp>
        <p:nvSpPr>
          <p:cNvPr id="30" name="Rounded Rectangle 29"/>
          <p:cNvSpPr/>
          <p:nvPr/>
        </p:nvSpPr>
        <p:spPr>
          <a:xfrm>
            <a:off x="566928" y="5029200"/>
            <a:ext cx="11064240" cy="1234440"/>
          </a:xfrm>
          <a:prstGeom prst="roundRect">
            <a:avLst>
              <a:gd name="adj" fmla="val 8000"/>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212080"/>
            <a:ext cx="10515600" cy="914400"/>
          </a:xfrm>
          <a:prstGeom prst="rect">
            <a:avLst/>
          </a:prstGeom>
          <a:noFill/>
        </p:spPr>
        <p:txBody>
          <a:bodyPr wrap="square" anchor="ctr">
            <a:spAutoFit/>
          </a:bodyPr>
          <a:lstStyle/>
          <a:p>
            <a:pPr algn="ctr"/>
            <a:r>
              <a:rPr sz="1450" b="1" i="0">
                <a:solidFill>
                  <a:srgbClr val="FFFFFF"/>
                </a:solidFill>
                <a:latin typeface="Segoe UI"/>
              </a:rPr>
              <a:t>Bottom line for the farmer: fewer losses, lower input cost, safer produce, and the expert now comes to them.</a:t>
            </a:r>
          </a:p>
        </p:txBody>
      </p:sp>
      <p:sp>
        <p:nvSpPr>
          <p:cNvPr id="32" name="TextBox 31"/>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33" name="TextBox 32"/>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VALUE PROPOSITION</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What partner agencies gain</a:t>
            </a:r>
          </a:p>
        </p:txBody>
      </p:sp>
      <p:sp>
        <p:nvSpPr>
          <p:cNvPr id="6" name="TextBox 5"/>
          <p:cNvSpPr txBox="1"/>
          <p:nvPr/>
        </p:nvSpPr>
        <p:spPr>
          <a:xfrm>
            <a:off x="566928" y="1389888"/>
            <a:ext cx="11155680" cy="457200"/>
          </a:xfrm>
          <a:prstGeom prst="rect">
            <a:avLst/>
          </a:prstGeom>
          <a:noFill/>
        </p:spPr>
        <p:txBody>
          <a:bodyPr wrap="square" anchor="t">
            <a:spAutoFit/>
          </a:bodyPr>
          <a:lstStyle/>
          <a:p>
            <a:pPr algn="l"/>
            <a:r>
              <a:rPr sz="1300" b="0" i="0">
                <a:solidFill>
                  <a:srgbClr val="5A6B58"/>
                </a:solidFill>
                <a:latin typeface="Segoe UI"/>
              </a:rPr>
              <a:t>The same platform becomes critical infrastructure for everyone working in citrus.</a:t>
            </a:r>
          </a:p>
        </p:txBody>
      </p:sp>
      <p:sp>
        <p:nvSpPr>
          <p:cNvPr id="7" name="Rounded Rectangle 6"/>
          <p:cNvSpPr/>
          <p:nvPr/>
        </p:nvSpPr>
        <p:spPr>
          <a:xfrm>
            <a:off x="566928" y="1783080"/>
            <a:ext cx="544068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947672"/>
            <a:ext cx="5038344" cy="685800"/>
          </a:xfrm>
          <a:prstGeom prst="rect">
            <a:avLst/>
          </a:prstGeom>
          <a:noFill/>
        </p:spPr>
        <p:txBody>
          <a:bodyPr wrap="square" anchor="t">
            <a:spAutoFit/>
          </a:bodyPr>
          <a:lstStyle/>
          <a:p>
            <a:pPr algn="l"/>
            <a:r>
              <a:rPr sz="1400" b="1" i="0">
                <a:solidFill>
                  <a:srgbClr val="116530"/>
                </a:solidFill>
                <a:latin typeface="Segoe UI"/>
              </a:rPr>
              <a:t>🏛️ Agriculture Departments &amp; KVKs</a:t>
            </a:r>
          </a:p>
        </p:txBody>
      </p:sp>
      <p:sp>
        <p:nvSpPr>
          <p:cNvPr id="9" name="TextBox 8"/>
          <p:cNvSpPr txBox="1"/>
          <p:nvPr/>
        </p:nvSpPr>
        <p:spPr>
          <a:xfrm>
            <a:off x="768096" y="2295144"/>
            <a:ext cx="5038344" cy="704088"/>
          </a:xfrm>
          <a:prstGeom prst="rect">
            <a:avLst/>
          </a:prstGeom>
          <a:noFill/>
        </p:spPr>
        <p:txBody>
          <a:bodyPr wrap="square" anchor="t">
            <a:spAutoFit/>
          </a:bodyPr>
          <a:lstStyle/>
          <a:p>
            <a:pPr algn="l">
              <a:lnSpc>
                <a:spcPts val="1600"/>
              </a:lnSpc>
            </a:pPr>
            <a:r>
              <a:rPr sz="1150" b="0" i="0">
                <a:solidFill>
                  <a:srgbClr val="5A6B58"/>
                </a:solidFill>
                <a:latin typeface="Segoe UI"/>
              </a:rPr>
              <a:t>Live, location tagged pest incidence from thousands of scans; outbreak alerts go to a whole district in one click; extension staff triage with AI pre screening.</a:t>
            </a:r>
          </a:p>
        </p:txBody>
      </p:sp>
      <p:sp>
        <p:nvSpPr>
          <p:cNvPr id="10" name="Rounded Rectangle 9"/>
          <p:cNvSpPr/>
          <p:nvPr/>
        </p:nvSpPr>
        <p:spPr>
          <a:xfrm>
            <a:off x="6190488" y="1783080"/>
            <a:ext cx="544068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1655" y="1947672"/>
            <a:ext cx="5038344" cy="685800"/>
          </a:xfrm>
          <a:prstGeom prst="rect">
            <a:avLst/>
          </a:prstGeom>
          <a:noFill/>
        </p:spPr>
        <p:txBody>
          <a:bodyPr wrap="square" anchor="t">
            <a:spAutoFit/>
          </a:bodyPr>
          <a:lstStyle/>
          <a:p>
            <a:pPr algn="l"/>
            <a:r>
              <a:rPr sz="1400" b="1" i="0">
                <a:solidFill>
                  <a:srgbClr val="116530"/>
                </a:solidFill>
                <a:latin typeface="Segoe UI"/>
              </a:rPr>
              <a:t>🎓 Universities &amp; Researchers</a:t>
            </a:r>
          </a:p>
        </p:txBody>
      </p:sp>
      <p:sp>
        <p:nvSpPr>
          <p:cNvPr id="12" name="TextBox 11"/>
          <p:cNvSpPr txBox="1"/>
          <p:nvPr/>
        </p:nvSpPr>
        <p:spPr>
          <a:xfrm>
            <a:off x="6391655" y="2295144"/>
            <a:ext cx="5038344" cy="704088"/>
          </a:xfrm>
          <a:prstGeom prst="rect">
            <a:avLst/>
          </a:prstGeom>
          <a:noFill/>
        </p:spPr>
        <p:txBody>
          <a:bodyPr wrap="square" anchor="t">
            <a:spAutoFit/>
          </a:bodyPr>
          <a:lstStyle/>
          <a:p>
            <a:pPr algn="l">
              <a:lnSpc>
                <a:spcPts val="1600"/>
              </a:lnSpc>
            </a:pPr>
            <a:r>
              <a:rPr sz="1150" b="0" i="0">
                <a:solidFill>
                  <a:srgbClr val="5A6B58"/>
                </a:solidFill>
                <a:latin typeface="Segoe UI"/>
              </a:rPr>
              <a:t>A growing, expert verified, stage labelled image dataset plus researcher data feeds: raw material for papers, trials and varietal studies.</a:t>
            </a:r>
          </a:p>
        </p:txBody>
      </p:sp>
      <p:sp>
        <p:nvSpPr>
          <p:cNvPr id="13" name="Rounded Rectangle 12"/>
          <p:cNvSpPr/>
          <p:nvPr/>
        </p:nvSpPr>
        <p:spPr>
          <a:xfrm>
            <a:off x="566928" y="3383280"/>
            <a:ext cx="544068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3547872"/>
            <a:ext cx="5038344" cy="685800"/>
          </a:xfrm>
          <a:prstGeom prst="rect">
            <a:avLst/>
          </a:prstGeom>
          <a:noFill/>
        </p:spPr>
        <p:txBody>
          <a:bodyPr wrap="square" anchor="t">
            <a:spAutoFit/>
          </a:bodyPr>
          <a:lstStyle/>
          <a:p>
            <a:pPr algn="l"/>
            <a:r>
              <a:rPr sz="1400" b="1" i="0">
                <a:solidFill>
                  <a:srgbClr val="116530"/>
                </a:solidFill>
                <a:latin typeface="Segoe UI"/>
              </a:rPr>
              <a:t>🧪 Agri-input &amp; Advisory Companies</a:t>
            </a:r>
          </a:p>
        </p:txBody>
      </p:sp>
      <p:sp>
        <p:nvSpPr>
          <p:cNvPr id="15" name="TextBox 14"/>
          <p:cNvSpPr txBox="1"/>
          <p:nvPr/>
        </p:nvSpPr>
        <p:spPr>
          <a:xfrm>
            <a:off x="768096" y="3895344"/>
            <a:ext cx="5038344" cy="704087"/>
          </a:xfrm>
          <a:prstGeom prst="rect">
            <a:avLst/>
          </a:prstGeom>
          <a:noFill/>
        </p:spPr>
        <p:txBody>
          <a:bodyPr wrap="square" anchor="t">
            <a:spAutoFit/>
          </a:bodyPr>
          <a:lstStyle/>
          <a:p>
            <a:pPr algn="l">
              <a:lnSpc>
                <a:spcPts val="1600"/>
              </a:lnSpc>
            </a:pPr>
            <a:r>
              <a:rPr sz="1150" b="0" i="0">
                <a:solidFill>
                  <a:srgbClr val="5A6B58"/>
                </a:solidFill>
                <a:latin typeface="Segoe UI"/>
              </a:rPr>
              <a:t>Evidence based demand signals: which pests, where and when, enabling responsible product guidance aligned with CIB and RC.</a:t>
            </a:r>
          </a:p>
        </p:txBody>
      </p:sp>
      <p:sp>
        <p:nvSpPr>
          <p:cNvPr id="16" name="Rounded Rectangle 15"/>
          <p:cNvSpPr/>
          <p:nvPr/>
        </p:nvSpPr>
        <p:spPr>
          <a:xfrm>
            <a:off x="6190488" y="3383280"/>
            <a:ext cx="544068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5" y="3547872"/>
            <a:ext cx="5038344" cy="685800"/>
          </a:xfrm>
          <a:prstGeom prst="rect">
            <a:avLst/>
          </a:prstGeom>
          <a:noFill/>
        </p:spPr>
        <p:txBody>
          <a:bodyPr wrap="square" anchor="t">
            <a:spAutoFit/>
          </a:bodyPr>
          <a:lstStyle/>
          <a:p>
            <a:pPr algn="l"/>
            <a:r>
              <a:rPr sz="1400" b="1" i="0">
                <a:solidFill>
                  <a:srgbClr val="116530"/>
                </a:solidFill>
                <a:latin typeface="Segoe UI"/>
              </a:rPr>
              <a:t>🍊 FPOs &amp; Grower Associations</a:t>
            </a:r>
          </a:p>
        </p:txBody>
      </p:sp>
      <p:sp>
        <p:nvSpPr>
          <p:cNvPr id="18" name="TextBox 17"/>
          <p:cNvSpPr txBox="1"/>
          <p:nvPr/>
        </p:nvSpPr>
        <p:spPr>
          <a:xfrm>
            <a:off x="6391655" y="3895344"/>
            <a:ext cx="5038344" cy="704087"/>
          </a:xfrm>
          <a:prstGeom prst="rect">
            <a:avLst/>
          </a:prstGeom>
          <a:noFill/>
        </p:spPr>
        <p:txBody>
          <a:bodyPr wrap="square" anchor="t">
            <a:spAutoFit/>
          </a:bodyPr>
          <a:lstStyle/>
          <a:p>
            <a:pPr algn="l">
              <a:lnSpc>
                <a:spcPts val="1600"/>
              </a:lnSpc>
            </a:pPr>
            <a:r>
              <a:rPr sz="1150" b="0" i="0">
                <a:solidFill>
                  <a:srgbClr val="5A6B58"/>
                </a:solidFill>
                <a:latin typeface="Segoe UI"/>
              </a:rPr>
              <a:t>Protect member orchards at scale with shared advisories, calendars and alert channels; reduce collective losses.</a:t>
            </a:r>
          </a:p>
        </p:txBody>
      </p:sp>
      <p:sp>
        <p:nvSpPr>
          <p:cNvPr id="19" name="Rounded Rectangle 18"/>
          <p:cNvSpPr/>
          <p:nvPr/>
        </p:nvSpPr>
        <p:spPr>
          <a:xfrm>
            <a:off x="566928" y="4983480"/>
            <a:ext cx="5440680" cy="128016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 y="5148072"/>
            <a:ext cx="5038344" cy="685800"/>
          </a:xfrm>
          <a:prstGeom prst="rect">
            <a:avLst/>
          </a:prstGeom>
          <a:noFill/>
        </p:spPr>
        <p:txBody>
          <a:bodyPr wrap="square" anchor="t">
            <a:spAutoFit/>
          </a:bodyPr>
          <a:lstStyle/>
          <a:p>
            <a:pPr algn="l"/>
            <a:r>
              <a:rPr sz="1400" b="1" i="0">
                <a:solidFill>
                  <a:srgbClr val="116530"/>
                </a:solidFill>
                <a:latin typeface="Segoe UI"/>
              </a:rPr>
              <a:t>🏦 Insurers &amp; Rural Credit</a:t>
            </a:r>
          </a:p>
        </p:txBody>
      </p:sp>
      <p:sp>
        <p:nvSpPr>
          <p:cNvPr id="21" name="TextBox 20"/>
          <p:cNvSpPr txBox="1"/>
          <p:nvPr/>
        </p:nvSpPr>
        <p:spPr>
          <a:xfrm>
            <a:off x="768096" y="5495544"/>
            <a:ext cx="5038344" cy="566928"/>
          </a:xfrm>
          <a:prstGeom prst="rect">
            <a:avLst/>
          </a:prstGeom>
          <a:noFill/>
        </p:spPr>
        <p:txBody>
          <a:bodyPr wrap="square" anchor="t">
            <a:spAutoFit/>
          </a:bodyPr>
          <a:lstStyle/>
          <a:p>
            <a:pPr algn="l">
              <a:lnSpc>
                <a:spcPts val="1600"/>
              </a:lnSpc>
            </a:pPr>
            <a:r>
              <a:rPr sz="1150" b="0" i="0">
                <a:solidFill>
                  <a:srgbClr val="5A6B58"/>
                </a:solidFill>
                <a:latin typeface="Segoe UI"/>
              </a:rPr>
              <a:t>Time stamped, photo verified crop damage history reduces risk in assessment and claims.</a:t>
            </a:r>
          </a:p>
        </p:txBody>
      </p:sp>
      <p:sp>
        <p:nvSpPr>
          <p:cNvPr id="22" name="Rounded Rectangle 21"/>
          <p:cNvSpPr/>
          <p:nvPr/>
        </p:nvSpPr>
        <p:spPr>
          <a:xfrm>
            <a:off x="6190488" y="4983480"/>
            <a:ext cx="5440680" cy="128016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91655" y="5148072"/>
            <a:ext cx="5038344" cy="685800"/>
          </a:xfrm>
          <a:prstGeom prst="rect">
            <a:avLst/>
          </a:prstGeom>
          <a:noFill/>
        </p:spPr>
        <p:txBody>
          <a:bodyPr wrap="square" anchor="t">
            <a:spAutoFit/>
          </a:bodyPr>
          <a:lstStyle/>
          <a:p>
            <a:pPr algn="l"/>
            <a:r>
              <a:rPr sz="1400" b="1" i="0">
                <a:solidFill>
                  <a:srgbClr val="116530"/>
                </a:solidFill>
                <a:latin typeface="Segoe UI"/>
              </a:rPr>
              <a:t>📊 Policy &amp; Planning</a:t>
            </a:r>
          </a:p>
        </p:txBody>
      </p:sp>
      <p:sp>
        <p:nvSpPr>
          <p:cNvPr id="24" name="TextBox 23"/>
          <p:cNvSpPr txBox="1"/>
          <p:nvPr/>
        </p:nvSpPr>
        <p:spPr>
          <a:xfrm>
            <a:off x="6391655" y="5495544"/>
            <a:ext cx="5038344" cy="566928"/>
          </a:xfrm>
          <a:prstGeom prst="rect">
            <a:avLst/>
          </a:prstGeom>
          <a:noFill/>
        </p:spPr>
        <p:txBody>
          <a:bodyPr wrap="square" anchor="t">
            <a:spAutoFit/>
          </a:bodyPr>
          <a:lstStyle/>
          <a:p>
            <a:pPr algn="l">
              <a:lnSpc>
                <a:spcPts val="1600"/>
              </a:lnSpc>
            </a:pPr>
            <a:r>
              <a:rPr sz="1150" b="0" i="0">
                <a:solidFill>
                  <a:srgbClr val="5A6B58"/>
                </a:solidFill>
                <a:latin typeface="Segoe UI"/>
              </a:rPr>
              <a:t>Season over season pest maps inform spray programs, nursery policy and greening containment.</a:t>
            </a:r>
          </a:p>
        </p:txBody>
      </p:sp>
      <p:sp>
        <p:nvSpPr>
          <p:cNvPr id="25" name="TextBox 24"/>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26" name="TextBox 25"/>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MARKET</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Why citrus, why now, why here</a:t>
            </a:r>
          </a:p>
        </p:txBody>
      </p:sp>
      <p:sp>
        <p:nvSpPr>
          <p:cNvPr id="6" name="Rounded Rectangle 5"/>
          <p:cNvSpPr/>
          <p:nvPr/>
        </p:nvSpPr>
        <p:spPr>
          <a:xfrm>
            <a:off x="566928" y="1828800"/>
            <a:ext cx="5440680" cy="21031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993392"/>
            <a:ext cx="5038344" cy="685800"/>
          </a:xfrm>
          <a:prstGeom prst="rect">
            <a:avLst/>
          </a:prstGeom>
          <a:noFill/>
        </p:spPr>
        <p:txBody>
          <a:bodyPr wrap="square" anchor="t">
            <a:spAutoFit/>
          </a:bodyPr>
          <a:lstStyle/>
          <a:p>
            <a:pPr algn="l"/>
            <a:r>
              <a:rPr sz="1400" b="1" i="0">
                <a:solidFill>
                  <a:srgbClr val="116530"/>
                </a:solidFill>
                <a:latin typeface="Segoe UI"/>
              </a:rPr>
              <a:t>🍊 A crop worth protecting</a:t>
            </a:r>
          </a:p>
        </p:txBody>
      </p:sp>
      <p:sp>
        <p:nvSpPr>
          <p:cNvPr id="8" name="TextBox 7"/>
          <p:cNvSpPr txBox="1"/>
          <p:nvPr/>
        </p:nvSpPr>
        <p:spPr>
          <a:xfrm>
            <a:off x="768096" y="2340864"/>
            <a:ext cx="5038344" cy="1389887"/>
          </a:xfrm>
          <a:prstGeom prst="rect">
            <a:avLst/>
          </a:prstGeom>
          <a:noFill/>
        </p:spPr>
        <p:txBody>
          <a:bodyPr wrap="square" anchor="t">
            <a:spAutoFit/>
          </a:bodyPr>
          <a:lstStyle/>
          <a:p>
            <a:pPr algn="l">
              <a:lnSpc>
                <a:spcPts val="1600"/>
              </a:lnSpc>
            </a:pPr>
            <a:r>
              <a:rPr sz="1150" b="0" i="0">
                <a:solidFill>
                  <a:srgbClr val="5A6B58"/>
                </a:solidFill>
                <a:latin typeface="Segoe UI"/>
              </a:rPr>
              <a:t>India is among the world's leading citrus producers, and Vidarbha is home to the famous Nagpur orange. Citrus is high value and high risk, exactly where careful detection pays.</a:t>
            </a:r>
          </a:p>
        </p:txBody>
      </p:sp>
      <p:sp>
        <p:nvSpPr>
          <p:cNvPr id="9" name="Rounded Rectangle 8"/>
          <p:cNvSpPr/>
          <p:nvPr/>
        </p:nvSpPr>
        <p:spPr>
          <a:xfrm>
            <a:off x="6190488" y="1828800"/>
            <a:ext cx="5440680" cy="21031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91655" y="1993392"/>
            <a:ext cx="5038344" cy="685800"/>
          </a:xfrm>
          <a:prstGeom prst="rect">
            <a:avLst/>
          </a:prstGeom>
          <a:noFill/>
        </p:spPr>
        <p:txBody>
          <a:bodyPr wrap="square" anchor="t">
            <a:spAutoFit/>
          </a:bodyPr>
          <a:lstStyle/>
          <a:p>
            <a:pPr algn="l"/>
            <a:r>
              <a:rPr sz="1400" b="1" i="0">
                <a:solidFill>
                  <a:srgbClr val="116530"/>
                </a:solidFill>
                <a:latin typeface="Segoe UI"/>
              </a:rPr>
              <a:t>📱 The phone is already there</a:t>
            </a:r>
          </a:p>
        </p:txBody>
      </p:sp>
      <p:sp>
        <p:nvSpPr>
          <p:cNvPr id="11" name="TextBox 10"/>
          <p:cNvSpPr txBox="1"/>
          <p:nvPr/>
        </p:nvSpPr>
        <p:spPr>
          <a:xfrm>
            <a:off x="6391655" y="2340864"/>
            <a:ext cx="5038344" cy="1389887"/>
          </a:xfrm>
          <a:prstGeom prst="rect">
            <a:avLst/>
          </a:prstGeom>
          <a:noFill/>
        </p:spPr>
        <p:txBody>
          <a:bodyPr wrap="square" anchor="t">
            <a:spAutoFit/>
          </a:bodyPr>
          <a:lstStyle/>
          <a:p>
            <a:pPr algn="l">
              <a:lnSpc>
                <a:spcPts val="1600"/>
              </a:lnSpc>
            </a:pPr>
            <a:r>
              <a:rPr sz="1150" b="0" i="0">
                <a:solidFill>
                  <a:srgbClr val="5A6B58"/>
                </a:solidFill>
                <a:latin typeface="Segoe UI"/>
              </a:rPr>
              <a:t>Rural smartphones and cheap data mean we need no hardware rollout. The distribution channel already sits in the farmer's pocket.</a:t>
            </a:r>
          </a:p>
        </p:txBody>
      </p:sp>
      <p:sp>
        <p:nvSpPr>
          <p:cNvPr id="12" name="Rounded Rectangle 11"/>
          <p:cNvSpPr/>
          <p:nvPr/>
        </p:nvSpPr>
        <p:spPr>
          <a:xfrm>
            <a:off x="566928" y="4114800"/>
            <a:ext cx="5440680" cy="21031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8096" y="4279392"/>
            <a:ext cx="5038344" cy="685800"/>
          </a:xfrm>
          <a:prstGeom prst="rect">
            <a:avLst/>
          </a:prstGeom>
          <a:noFill/>
        </p:spPr>
        <p:txBody>
          <a:bodyPr wrap="square" anchor="t">
            <a:spAutoFit/>
          </a:bodyPr>
          <a:lstStyle/>
          <a:p>
            <a:pPr algn="l"/>
            <a:r>
              <a:rPr sz="1400" b="1" i="0">
                <a:solidFill>
                  <a:srgbClr val="116530"/>
                </a:solidFill>
                <a:latin typeface="Segoe UI"/>
              </a:rPr>
              <a:t>🤝 Policy tailwinds</a:t>
            </a:r>
          </a:p>
        </p:txBody>
      </p:sp>
      <p:sp>
        <p:nvSpPr>
          <p:cNvPr id="14" name="TextBox 13"/>
          <p:cNvSpPr txBox="1"/>
          <p:nvPr/>
        </p:nvSpPr>
        <p:spPr>
          <a:xfrm>
            <a:off x="768096" y="4626864"/>
            <a:ext cx="5038344" cy="1389888"/>
          </a:xfrm>
          <a:prstGeom prst="rect">
            <a:avLst/>
          </a:prstGeom>
          <a:noFill/>
        </p:spPr>
        <p:txBody>
          <a:bodyPr wrap="square" anchor="t">
            <a:spAutoFit/>
          </a:bodyPr>
          <a:lstStyle/>
          <a:p>
            <a:pPr algn="l">
              <a:lnSpc>
                <a:spcPts val="1600"/>
              </a:lnSpc>
            </a:pPr>
            <a:r>
              <a:rPr sz="1150" b="0" i="0">
                <a:solidFill>
                  <a:srgbClr val="5A6B58"/>
                </a:solidFill>
                <a:latin typeface="Segoe UI"/>
              </a:rPr>
              <a:t>Digital agriculture and plant surveillance are national priorities, and departments are actively looking for technology partners.</a:t>
            </a:r>
          </a:p>
        </p:txBody>
      </p:sp>
      <p:sp>
        <p:nvSpPr>
          <p:cNvPr id="15" name="Rounded Rectangle 14"/>
          <p:cNvSpPr/>
          <p:nvPr/>
        </p:nvSpPr>
        <p:spPr>
          <a:xfrm>
            <a:off x="6190488" y="4114800"/>
            <a:ext cx="5440680" cy="21031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1655" y="4279392"/>
            <a:ext cx="5038344" cy="685800"/>
          </a:xfrm>
          <a:prstGeom prst="rect">
            <a:avLst/>
          </a:prstGeom>
          <a:noFill/>
        </p:spPr>
        <p:txBody>
          <a:bodyPr wrap="square" anchor="t">
            <a:spAutoFit/>
          </a:bodyPr>
          <a:lstStyle/>
          <a:p>
            <a:pPr algn="l"/>
            <a:r>
              <a:rPr sz="1400" b="1" i="0">
                <a:solidFill>
                  <a:srgbClr val="116530"/>
                </a:solidFill>
                <a:latin typeface="Segoe UI"/>
              </a:rPr>
              <a:t>♻️ Expandable playbook</a:t>
            </a:r>
          </a:p>
        </p:txBody>
      </p:sp>
      <p:sp>
        <p:nvSpPr>
          <p:cNvPr id="17" name="TextBox 16"/>
          <p:cNvSpPr txBox="1"/>
          <p:nvPr/>
        </p:nvSpPr>
        <p:spPr>
          <a:xfrm>
            <a:off x="6391655" y="4626864"/>
            <a:ext cx="5038344" cy="1389888"/>
          </a:xfrm>
          <a:prstGeom prst="rect">
            <a:avLst/>
          </a:prstGeom>
          <a:noFill/>
        </p:spPr>
        <p:txBody>
          <a:bodyPr wrap="square" anchor="t">
            <a:spAutoFit/>
          </a:bodyPr>
          <a:lstStyle/>
          <a:p>
            <a:pPr algn="l">
              <a:lnSpc>
                <a:spcPts val="1600"/>
              </a:lnSpc>
            </a:pPr>
            <a:r>
              <a:rPr sz="1150" b="0" i="0">
                <a:solidFill>
                  <a:srgbClr val="5A6B58"/>
                </a:solidFill>
                <a:latin typeface="Segoe UI"/>
              </a:rPr>
              <a:t>The routine of scan, verify, train and advise works for any crop. Citrus is where we start; other horticulture crops can follow.</a:t>
            </a:r>
          </a:p>
        </p:txBody>
      </p:sp>
      <p:sp>
        <p:nvSpPr>
          <p:cNvPr id="18" name="TextBox 17"/>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19" name="TextBox 18"/>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TRACTION &amp; READINESS</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This is not a slide deck. The platform is built.</a:t>
            </a:r>
          </a:p>
        </p:txBody>
      </p:sp>
      <p:sp>
        <p:nvSpPr>
          <p:cNvPr id="6" name="TextBox 5"/>
          <p:cNvSpPr txBox="1"/>
          <p:nvPr/>
        </p:nvSpPr>
        <p:spPr>
          <a:xfrm>
            <a:off x="566928" y="1389888"/>
            <a:ext cx="11155680" cy="457200"/>
          </a:xfrm>
          <a:prstGeom prst="rect">
            <a:avLst/>
          </a:prstGeom>
          <a:noFill/>
        </p:spPr>
        <p:txBody>
          <a:bodyPr wrap="square" anchor="t">
            <a:spAutoFit/>
          </a:bodyPr>
          <a:lstStyle/>
          <a:p>
            <a:pPr algn="l"/>
            <a:r>
              <a:rPr sz="1300" b="0" i="0">
                <a:solidFill>
                  <a:srgbClr val="5A6B58"/>
                </a:solidFill>
                <a:latin typeface="Segoe UI"/>
              </a:rPr>
              <a:t>A working product across app, backend and admin panel, ready for a pilot.</a:t>
            </a:r>
          </a:p>
        </p:txBody>
      </p:sp>
      <p:sp>
        <p:nvSpPr>
          <p:cNvPr id="7" name="TextBox 6"/>
          <p:cNvSpPr txBox="1"/>
          <p:nvPr/>
        </p:nvSpPr>
        <p:spPr>
          <a:xfrm>
            <a:off x="594360" y="1783080"/>
            <a:ext cx="5577840" cy="5029200"/>
          </a:xfrm>
          <a:prstGeom prst="rect">
            <a:avLst/>
          </a:prstGeom>
          <a:noFill/>
        </p:spPr>
        <p:txBody>
          <a:bodyPr wrap="square">
            <a:spAutoFit/>
          </a:bodyPr>
          <a:lstStyle/>
          <a:p>
            <a:pPr>
              <a:spcAft>
                <a:spcPts val="900"/>
              </a:spcAft>
            </a:pPr>
            <a:r>
              <a:rPr sz="1250" b="1">
                <a:solidFill>
                  <a:srgbClr val="116530"/>
                </a:solidFill>
                <a:latin typeface="Segoe UI"/>
              </a:rPr>
              <a:t>Farmer app for Android and iOS in three languages, ready to ship.
Backend with role based auth, review workflows, live chat and push logging.
AI service with its own training pipeline and model registry.
Admin panel covering every operation from review to campaigns.</a:t>
            </a:r>
            <a:r>
              <a:rPr sz="1250">
                <a:solidFill>
                  <a:srgbClr val="1B271C"/>
                </a:solidFill>
                <a:latin typeface="Segoe UI"/>
              </a:rPr>
              <a:t/>
            </a:r>
          </a:p>
          <a:p>
            <a:pPr>
              <a:spcAft>
                <a:spcPts val="900"/>
              </a:spcAft>
            </a:pPr>
            <a:r>
              <a:rPr sz="1250" b="1">
                <a:solidFill>
                  <a:srgbClr val="116530"/>
                </a:solidFill>
                <a:latin typeface="Segoe UI"/>
              </a:rPr>
              <a:t/>
            </a:r>
            <a:r>
              <a:rPr sz="1250">
                <a:solidFill>
                  <a:srgbClr val="1B271C"/>
                </a:solidFill>
                <a:latin typeface="Segoe UI"/>
              </a:rPr>
              <a:t/>
            </a:r>
          </a:p>
          <a:p>
            <a:pPr>
              <a:spcAft>
                <a:spcPts val="900"/>
              </a:spcAft>
            </a:pPr>
            <a:r>
              <a:rPr sz="1250" b="1">
                <a:solidFill>
                  <a:srgbClr val="116530"/>
                </a:solidFill>
                <a:latin typeface="Segoe UI"/>
              </a:rPr>
              <a:t/>
            </a:r>
            <a:r>
              <a:rPr sz="1250">
                <a:solidFill>
                  <a:srgbClr val="1B271C"/>
                </a:solidFill>
                <a:latin typeface="Segoe UI"/>
              </a:rPr>
              <a:t/>
            </a:r>
          </a:p>
          <a:p>
            <a:pPr>
              <a:spcAft>
                <a:spcPts val="900"/>
              </a:spcAft>
            </a:pPr>
            <a:r>
              <a:rPr sz="1250" b="1">
                <a:solidFill>
                  <a:srgbClr val="116530"/>
                </a:solidFill>
                <a:latin typeface="Segoe UI"/>
              </a:rPr>
              <a:t/>
            </a:r>
            <a:r>
              <a:rPr sz="1250">
                <a:solidFill>
                  <a:srgbClr val="1B271C"/>
                </a:solidFill>
                <a:latin typeface="Segoe UI"/>
              </a:rPr>
              <a:t/>
            </a:r>
          </a:p>
          <a:p>
            <a:pPr>
              <a:spcAft>
                <a:spcPts val="900"/>
              </a:spcAft>
            </a:pPr>
            <a:r>
              <a:rPr sz="1250" b="1">
                <a:solidFill>
                  <a:srgbClr val="116530"/>
                </a:solidFill>
                <a:latin typeface="Segoe UI"/>
              </a:rPr>
              <a:t/>
            </a:r>
            <a:r>
              <a:rPr sz="1250">
                <a:solidFill>
                  <a:srgbClr val="1B271C"/>
                </a:solidFill>
                <a:latin typeface="Segoe UI"/>
              </a:rPr>
              <a:t/>
            </a:r>
          </a:p>
          <a:p>
            <a:pPr>
              <a:spcAft>
                <a:spcPts val="900"/>
              </a:spcAft>
            </a:pPr>
            <a:r>
              <a:rPr sz="1250" b="1">
                <a:solidFill>
                  <a:srgbClr val="116530"/>
                </a:solidFill>
                <a:latin typeface="Segoe UI"/>
              </a:rPr>
              <a:t/>
            </a:r>
            <a:r>
              <a:rPr sz="1250">
                <a:solidFill>
                  <a:srgbClr val="1B271C"/>
                </a:solidFill>
                <a:latin typeface="Segoe UI"/>
              </a:rPr>
              <a:t/>
            </a:r>
          </a:p>
        </p:txBody>
      </p:sp>
      <p:sp>
        <p:nvSpPr>
          <p:cNvPr id="8" name="Rounded Rectangle 7"/>
          <p:cNvSpPr/>
          <p:nvPr/>
        </p:nvSpPr>
        <p:spPr>
          <a:xfrm>
            <a:off x="6492240" y="1783080"/>
            <a:ext cx="5120640" cy="4480560"/>
          </a:xfrm>
          <a:prstGeom prst="roundRect">
            <a:avLst>
              <a:gd name="adj" fmla="val 5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0" y="2011680"/>
            <a:ext cx="4663440" cy="457200"/>
          </a:xfrm>
          <a:prstGeom prst="rect">
            <a:avLst/>
          </a:prstGeom>
          <a:noFill/>
        </p:spPr>
        <p:txBody>
          <a:bodyPr wrap="square" anchor="t">
            <a:spAutoFit/>
          </a:bodyPr>
          <a:lstStyle/>
          <a:p>
            <a:pPr algn="l"/>
            <a:r>
              <a:rPr sz="1500" b="1" i="0">
                <a:solidFill>
                  <a:srgbClr val="FFB000"/>
                </a:solidFill>
                <a:latin typeface="Segoe UI"/>
              </a:rPr>
              <a:t>Engineering highlights</a:t>
            </a:r>
          </a:p>
        </p:txBody>
      </p:sp>
      <p:sp>
        <p:nvSpPr>
          <p:cNvPr id="10" name="TextBox 9"/>
          <p:cNvSpPr txBox="1"/>
          <p:nvPr/>
        </p:nvSpPr>
        <p:spPr>
          <a:xfrm>
            <a:off x="6720840" y="2514600"/>
            <a:ext cx="4663440" cy="5029200"/>
          </a:xfrm>
          <a:prstGeom prst="rect">
            <a:avLst/>
          </a:prstGeom>
          <a:noFill/>
        </p:spPr>
        <p:txBody>
          <a:bodyPr wrap="square">
            <a:spAutoFit/>
          </a:bodyPr>
          <a:lstStyle/>
          <a:p>
            <a:pPr>
              <a:spcAft>
                <a:spcPts val="1100"/>
              </a:spcAft>
            </a:pPr>
            <a:r>
              <a:rPr sz="1200">
                <a:solidFill>
                  <a:srgbClr val="C9D9C6"/>
                </a:solidFill>
                <a:latin typeface="Segoe UI"/>
              </a:rPr>
              <a:t>All IP and data owned by us; every model trained in house.
A cautious bootstrap keeps the app useful before the first training run.
A human expert is in the loop on every detection.
Security basics done: token auth, hashed passwords, secrets kept out of code.</a:t>
            </a:r>
          </a:p>
          <a:p>
            <a:pPr>
              <a:spcAft>
                <a:spcPts val="1100"/>
              </a:spcAft>
            </a:pPr>
            <a:r>
              <a:rPr sz="1200">
                <a:solidFill>
                  <a:srgbClr val="C9D9C6"/>
                </a:solidFill>
                <a:latin typeface="Segoe UI"/>
              </a:rPr>
              <a:t/>
            </a:r>
          </a:p>
          <a:p>
            <a:pPr>
              <a:spcAft>
                <a:spcPts val="1100"/>
              </a:spcAft>
            </a:pPr>
            <a:r>
              <a:rPr sz="1200">
                <a:solidFill>
                  <a:srgbClr val="C9D9C6"/>
                </a:solidFill>
                <a:latin typeface="Segoe UI"/>
              </a:rPr>
              <a:t/>
            </a:r>
          </a:p>
          <a:p>
            <a:pPr>
              <a:spcAft>
                <a:spcPts val="1100"/>
              </a:spcAft>
            </a:pPr>
            <a:r>
              <a:rPr sz="1200">
                <a:solidFill>
                  <a:srgbClr val="C9D9C6"/>
                </a:solidFill>
                <a:latin typeface="Segoe UI"/>
              </a:rPr>
              <a:t/>
            </a:r>
          </a:p>
          <a:p>
            <a:pPr>
              <a:spcAft>
                <a:spcPts val="1100"/>
              </a:spcAft>
            </a:pPr>
            <a:r>
              <a:rPr sz="1200">
                <a:solidFill>
                  <a:srgbClr val="C9D9C6"/>
                </a:solidFill>
                <a:latin typeface="Segoe UI"/>
              </a:rPr>
              <a:t/>
            </a:r>
          </a:p>
        </p:txBody>
      </p:sp>
      <p:sp>
        <p:nvSpPr>
          <p:cNvPr id="11" name="TextBox 10"/>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12" name="TextBox 11"/>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ROADMAP</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Four phases to category leadership</a:t>
            </a:r>
          </a:p>
        </p:txBody>
      </p:sp>
      <p:sp>
        <p:nvSpPr>
          <p:cNvPr id="6" name="Rounded Rectangle 5"/>
          <p:cNvSpPr/>
          <p:nvPr/>
        </p:nvSpPr>
        <p:spPr>
          <a:xfrm>
            <a:off x="566928" y="1920240"/>
            <a:ext cx="2670048" cy="32918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920240"/>
            <a:ext cx="2670048" cy="502920"/>
          </a:xfrm>
          <a:prstGeom prst="roundRect">
            <a:avLst>
              <a:gd name="adj" fmla="val 8000"/>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2240280"/>
            <a:ext cx="2670048" cy="274320"/>
          </a:xfrm>
          <a:prstGeom prst="rect">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6656" y="2011680"/>
            <a:ext cx="2468880" cy="365760"/>
          </a:xfrm>
          <a:prstGeom prst="rect">
            <a:avLst/>
          </a:prstGeom>
          <a:noFill/>
        </p:spPr>
        <p:txBody>
          <a:bodyPr wrap="square" anchor="t">
            <a:spAutoFit/>
          </a:bodyPr>
          <a:lstStyle/>
          <a:p>
            <a:pPr algn="l"/>
            <a:r>
              <a:rPr sz="1100" b="1" i="0">
                <a:solidFill>
                  <a:srgbClr val="FFFFFF"/>
                </a:solidFill>
                <a:latin typeface="Segoe UI"/>
              </a:rPr>
              <a:t>PHASE 0 · DONE</a:t>
            </a:r>
          </a:p>
        </p:txBody>
      </p:sp>
      <p:sp>
        <p:nvSpPr>
          <p:cNvPr id="10" name="TextBox 9"/>
          <p:cNvSpPr txBox="1"/>
          <p:nvPr/>
        </p:nvSpPr>
        <p:spPr>
          <a:xfrm>
            <a:off x="704088" y="2606040"/>
            <a:ext cx="2377440" cy="457200"/>
          </a:xfrm>
          <a:prstGeom prst="rect">
            <a:avLst/>
          </a:prstGeom>
          <a:noFill/>
        </p:spPr>
        <p:txBody>
          <a:bodyPr wrap="square" anchor="t">
            <a:spAutoFit/>
          </a:bodyPr>
          <a:lstStyle/>
          <a:p>
            <a:pPr algn="l"/>
            <a:r>
              <a:rPr sz="1450" b="1" i="0">
                <a:solidFill>
                  <a:srgbClr val="116530"/>
                </a:solidFill>
                <a:latin typeface="Segoe UI"/>
              </a:rPr>
              <a:t>Platform MVP</a:t>
            </a:r>
          </a:p>
        </p:txBody>
      </p:sp>
      <p:sp>
        <p:nvSpPr>
          <p:cNvPr id="11" name="TextBox 10"/>
          <p:cNvSpPr txBox="1"/>
          <p:nvPr/>
        </p:nvSpPr>
        <p:spPr>
          <a:xfrm>
            <a:off x="704088" y="3108960"/>
            <a:ext cx="2377440" cy="2011680"/>
          </a:xfrm>
          <a:prstGeom prst="rect">
            <a:avLst/>
          </a:prstGeom>
          <a:noFill/>
        </p:spPr>
        <p:txBody>
          <a:bodyPr wrap="square" anchor="t">
            <a:spAutoFit/>
          </a:bodyPr>
          <a:lstStyle/>
          <a:p>
            <a:pPr algn="l">
              <a:lnSpc>
                <a:spcPts val="1500"/>
              </a:lnSpc>
            </a:pPr>
            <a:r>
              <a:rPr sz="1100" b="0" i="0">
                <a:solidFill>
                  <a:srgbClr val="5A6B58"/>
                </a:solidFill>
                <a:latin typeface="Segoe UI"/>
              </a:rPr>
              <a:t>App, backend, admin and AI pipeline built; knowledge digitised.</a:t>
            </a:r>
          </a:p>
        </p:txBody>
      </p:sp>
      <p:sp>
        <p:nvSpPr>
          <p:cNvPr id="12" name="Rounded Rectangle 11"/>
          <p:cNvSpPr/>
          <p:nvPr/>
        </p:nvSpPr>
        <p:spPr>
          <a:xfrm>
            <a:off x="3401568" y="1920240"/>
            <a:ext cx="2670048" cy="32918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01568" y="1920240"/>
            <a:ext cx="2670048" cy="502920"/>
          </a:xfrm>
          <a:prstGeom prst="roundRect">
            <a:avLst>
              <a:gd name="adj" fmla="val 8000"/>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2240280"/>
            <a:ext cx="2670048" cy="274320"/>
          </a:xfrm>
          <a:prstGeom prst="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1296" y="2011680"/>
            <a:ext cx="2468880" cy="365760"/>
          </a:xfrm>
          <a:prstGeom prst="rect">
            <a:avLst/>
          </a:prstGeom>
          <a:noFill/>
        </p:spPr>
        <p:txBody>
          <a:bodyPr wrap="square" anchor="t">
            <a:spAutoFit/>
          </a:bodyPr>
          <a:lstStyle/>
          <a:p>
            <a:pPr algn="l"/>
            <a:r>
              <a:rPr sz="1100" b="1" i="0">
                <a:solidFill>
                  <a:srgbClr val="FFFFFF"/>
                </a:solidFill>
                <a:latin typeface="Segoe UI"/>
              </a:rPr>
              <a:t>PHASE 1 · FIRST 6 MONTHS</a:t>
            </a:r>
          </a:p>
        </p:txBody>
      </p:sp>
      <p:sp>
        <p:nvSpPr>
          <p:cNvPr id="16" name="TextBox 15"/>
          <p:cNvSpPr txBox="1"/>
          <p:nvPr/>
        </p:nvSpPr>
        <p:spPr>
          <a:xfrm>
            <a:off x="3538728" y="2606040"/>
            <a:ext cx="2377440" cy="457200"/>
          </a:xfrm>
          <a:prstGeom prst="rect">
            <a:avLst/>
          </a:prstGeom>
          <a:noFill/>
        </p:spPr>
        <p:txBody>
          <a:bodyPr wrap="square" anchor="t">
            <a:spAutoFit/>
          </a:bodyPr>
          <a:lstStyle/>
          <a:p>
            <a:pPr algn="l"/>
            <a:r>
              <a:rPr sz="1450" b="1" i="0">
                <a:solidFill>
                  <a:srgbClr val="116530"/>
                </a:solidFill>
                <a:latin typeface="Segoe UI"/>
              </a:rPr>
              <a:t>Pilot: Nagpur district</a:t>
            </a:r>
          </a:p>
        </p:txBody>
      </p:sp>
      <p:sp>
        <p:nvSpPr>
          <p:cNvPr id="17" name="TextBox 16"/>
          <p:cNvSpPr txBox="1"/>
          <p:nvPr/>
        </p:nvSpPr>
        <p:spPr>
          <a:xfrm>
            <a:off x="3538728" y="3108960"/>
            <a:ext cx="2377440" cy="2011680"/>
          </a:xfrm>
          <a:prstGeom prst="rect">
            <a:avLst/>
          </a:prstGeom>
          <a:noFill/>
        </p:spPr>
        <p:txBody>
          <a:bodyPr wrap="square" anchor="t">
            <a:spAutoFit/>
          </a:bodyPr>
          <a:lstStyle/>
          <a:p>
            <a:pPr algn="l">
              <a:lnSpc>
                <a:spcPts val="1500"/>
              </a:lnSpc>
            </a:pPr>
            <a:r>
              <a:rPr sz="1100" b="0" i="0">
                <a:solidFill>
                  <a:srgbClr val="5A6B58"/>
                </a:solidFill>
                <a:latin typeface="Segoe UI"/>
              </a:rPr>
              <a:t>A pilot with 500 farmers and a KVK or university partner; a labelled image drive for all 21 classes; the first trained models.</a:t>
            </a:r>
          </a:p>
        </p:txBody>
      </p:sp>
      <p:sp>
        <p:nvSpPr>
          <p:cNvPr id="18" name="Rounded Rectangle 17"/>
          <p:cNvSpPr/>
          <p:nvPr/>
        </p:nvSpPr>
        <p:spPr>
          <a:xfrm>
            <a:off x="6236208" y="1920240"/>
            <a:ext cx="2670048" cy="32918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36208" y="1920240"/>
            <a:ext cx="2670048" cy="502920"/>
          </a:xfrm>
          <a:prstGeom prst="roundRect">
            <a:avLst>
              <a:gd name="adj" fmla="val 8000"/>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36208" y="2240280"/>
            <a:ext cx="2670048" cy="274320"/>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5936" y="2011680"/>
            <a:ext cx="2468880" cy="365760"/>
          </a:xfrm>
          <a:prstGeom prst="rect">
            <a:avLst/>
          </a:prstGeom>
          <a:noFill/>
        </p:spPr>
        <p:txBody>
          <a:bodyPr wrap="square" anchor="t">
            <a:spAutoFit/>
          </a:bodyPr>
          <a:lstStyle/>
          <a:p>
            <a:pPr algn="l"/>
            <a:r>
              <a:rPr sz="1100" b="1" i="0">
                <a:solidFill>
                  <a:srgbClr val="FFFFFF"/>
                </a:solidFill>
                <a:latin typeface="Segoe UI"/>
              </a:rPr>
              <a:t>PHASE 2 · MONTH 6 TO 12</a:t>
            </a:r>
          </a:p>
        </p:txBody>
      </p:sp>
      <p:sp>
        <p:nvSpPr>
          <p:cNvPr id="22" name="TextBox 21"/>
          <p:cNvSpPr txBox="1"/>
          <p:nvPr/>
        </p:nvSpPr>
        <p:spPr>
          <a:xfrm>
            <a:off x="6373368" y="2606040"/>
            <a:ext cx="2377440" cy="457200"/>
          </a:xfrm>
          <a:prstGeom prst="rect">
            <a:avLst/>
          </a:prstGeom>
          <a:noFill/>
        </p:spPr>
        <p:txBody>
          <a:bodyPr wrap="square" anchor="t">
            <a:spAutoFit/>
          </a:bodyPr>
          <a:lstStyle/>
          <a:p>
            <a:pPr algn="l"/>
            <a:r>
              <a:rPr sz="1450" b="1" i="0">
                <a:solidFill>
                  <a:srgbClr val="116530"/>
                </a:solidFill>
                <a:latin typeface="Segoe UI"/>
              </a:rPr>
              <a:t>Accuracy &amp; automation</a:t>
            </a:r>
          </a:p>
        </p:txBody>
      </p:sp>
      <p:sp>
        <p:nvSpPr>
          <p:cNvPr id="23" name="TextBox 22"/>
          <p:cNvSpPr txBox="1"/>
          <p:nvPr/>
        </p:nvSpPr>
        <p:spPr>
          <a:xfrm>
            <a:off x="6373368" y="3108960"/>
            <a:ext cx="2377440" cy="2011680"/>
          </a:xfrm>
          <a:prstGeom prst="rect">
            <a:avLst/>
          </a:prstGeom>
          <a:noFill/>
        </p:spPr>
        <p:txBody>
          <a:bodyPr wrap="square" anchor="t">
            <a:spAutoFit/>
          </a:bodyPr>
          <a:lstStyle/>
          <a:p>
            <a:pPr algn="l">
              <a:lnSpc>
                <a:spcPts val="1500"/>
              </a:lnSpc>
            </a:pPr>
            <a:r>
              <a:rPr sz="1100" b="0" i="0">
                <a:solidFill>
                  <a:srgbClr val="5A6B58"/>
                </a:solidFill>
                <a:latin typeface="Segoe UI"/>
              </a:rPr>
              <a:t>At least 90% top accuracy on field images; a light on device model; automatic outbreak clustering from location data.</a:t>
            </a:r>
          </a:p>
        </p:txBody>
      </p:sp>
      <p:sp>
        <p:nvSpPr>
          <p:cNvPr id="24" name="Rounded Rectangle 23"/>
          <p:cNvSpPr/>
          <p:nvPr/>
        </p:nvSpPr>
        <p:spPr>
          <a:xfrm>
            <a:off x="9070848" y="1920240"/>
            <a:ext cx="2670048" cy="32918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70848" y="1920240"/>
            <a:ext cx="2670048" cy="502920"/>
          </a:xfrm>
          <a:prstGeom prst="roundRect">
            <a:avLst>
              <a:gd name="adj" fmla="val 8000"/>
            </a:avLst>
          </a:prstGeom>
          <a:solidFill>
            <a:srgbClr val="D81B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70848" y="2240280"/>
            <a:ext cx="2670048" cy="274320"/>
          </a:xfrm>
          <a:prstGeom prst="rect">
            <a:avLst/>
          </a:prstGeom>
          <a:solidFill>
            <a:srgbClr val="D81B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80576" y="2011680"/>
            <a:ext cx="2468880" cy="365760"/>
          </a:xfrm>
          <a:prstGeom prst="rect">
            <a:avLst/>
          </a:prstGeom>
          <a:noFill/>
        </p:spPr>
        <p:txBody>
          <a:bodyPr wrap="square" anchor="t">
            <a:spAutoFit/>
          </a:bodyPr>
          <a:lstStyle/>
          <a:p>
            <a:pPr algn="l"/>
            <a:r>
              <a:rPr sz="1100" b="1" i="0">
                <a:solidFill>
                  <a:srgbClr val="FFFFFF"/>
                </a:solidFill>
                <a:latin typeface="Segoe UI"/>
              </a:rPr>
              <a:t>PHASE 3 · MONTH 12 TO 24</a:t>
            </a:r>
          </a:p>
        </p:txBody>
      </p:sp>
      <p:sp>
        <p:nvSpPr>
          <p:cNvPr id="28" name="TextBox 27"/>
          <p:cNvSpPr txBox="1"/>
          <p:nvPr/>
        </p:nvSpPr>
        <p:spPr>
          <a:xfrm>
            <a:off x="9208008" y="2606040"/>
            <a:ext cx="2377440" cy="457200"/>
          </a:xfrm>
          <a:prstGeom prst="rect">
            <a:avLst/>
          </a:prstGeom>
          <a:noFill/>
        </p:spPr>
        <p:txBody>
          <a:bodyPr wrap="square" anchor="t">
            <a:spAutoFit/>
          </a:bodyPr>
          <a:lstStyle/>
          <a:p>
            <a:pPr algn="l"/>
            <a:r>
              <a:rPr sz="1450" b="1" i="0">
                <a:solidFill>
                  <a:srgbClr val="116530"/>
                </a:solidFill>
                <a:latin typeface="Segoe UI"/>
              </a:rPr>
              <a:t>Scale &amp; expand</a:t>
            </a:r>
          </a:p>
        </p:txBody>
      </p:sp>
      <p:sp>
        <p:nvSpPr>
          <p:cNvPr id="29" name="TextBox 28"/>
          <p:cNvSpPr txBox="1"/>
          <p:nvPr/>
        </p:nvSpPr>
        <p:spPr>
          <a:xfrm>
            <a:off x="9208008" y="3108960"/>
            <a:ext cx="2377440" cy="2011680"/>
          </a:xfrm>
          <a:prstGeom prst="rect">
            <a:avLst/>
          </a:prstGeom>
          <a:noFill/>
        </p:spPr>
        <p:txBody>
          <a:bodyPr wrap="square" anchor="t">
            <a:spAutoFit/>
          </a:bodyPr>
          <a:lstStyle/>
          <a:p>
            <a:pPr algn="l">
              <a:lnSpc>
                <a:spcPts val="1500"/>
              </a:lnSpc>
            </a:pPr>
            <a:r>
              <a:rPr sz="1100" b="0" i="0">
                <a:solidFill>
                  <a:srgbClr val="5A6B58"/>
                </a:solidFill>
                <a:latin typeface="Segoe UI"/>
              </a:rPr>
              <a:t>State wide rollout in Maharashtra, more citrus regions, a second crop playbook and data access for agencies.</a:t>
            </a:r>
          </a:p>
        </p:txBody>
      </p:sp>
      <p:sp>
        <p:nvSpPr>
          <p:cNvPr id="30" name="Rounded Rectangle 29"/>
          <p:cNvSpPr/>
          <p:nvPr/>
        </p:nvSpPr>
        <p:spPr>
          <a:xfrm>
            <a:off x="566928" y="5486400"/>
            <a:ext cx="11064240" cy="868680"/>
          </a:xfrm>
          <a:prstGeom prst="roundRect">
            <a:avLst>
              <a:gd name="adj" fmla="val 8000"/>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623560"/>
            <a:ext cx="10515600" cy="640080"/>
          </a:xfrm>
          <a:prstGeom prst="rect">
            <a:avLst/>
          </a:prstGeom>
          <a:noFill/>
        </p:spPr>
        <p:txBody>
          <a:bodyPr wrap="square" anchor="ctr">
            <a:spAutoFit/>
          </a:bodyPr>
          <a:lstStyle/>
          <a:p>
            <a:pPr algn="ctr"/>
            <a:r>
              <a:rPr sz="1250" b="1" i="0">
                <a:solidFill>
                  <a:srgbClr val="FFFFFF"/>
                </a:solidFill>
                <a:latin typeface="Segoe UI"/>
              </a:rPr>
              <a:t>We will report to the board every quarter: model accuracy, verified image coverage, active farmers, scans per week, alert delivery rate and estimated loss avoided.</a:t>
            </a:r>
          </a:p>
        </p:txBody>
      </p:sp>
      <p:sp>
        <p:nvSpPr>
          <p:cNvPr id="32" name="TextBox 31"/>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33" name="TextBox 32"/>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7315200" cy="274320"/>
          </a:xfrm>
          <a:prstGeom prst="rect">
            <a:avLst/>
          </a:prstGeom>
          <a:noFill/>
        </p:spPr>
        <p:txBody>
          <a:bodyPr wrap="square" anchor="t">
            <a:spAutoFit/>
          </a:bodyPr>
          <a:lstStyle/>
          <a:p>
            <a:pPr algn="l"/>
            <a:r>
              <a:rPr sz="1100" b="1" i="0">
                <a:solidFill>
                  <a:srgbClr val="C77800"/>
                </a:solidFill>
                <a:latin typeface="Segoe UI"/>
              </a:rPr>
              <a:t>THE ASK</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800" b="1" i="0">
                <a:solidFill>
                  <a:srgbClr val="116530"/>
                </a:solidFill>
                <a:latin typeface="Segoe UI"/>
              </a:rPr>
              <a:t>What we need from the board</a:t>
            </a:r>
          </a:p>
        </p:txBody>
      </p:sp>
      <p:sp>
        <p:nvSpPr>
          <p:cNvPr id="6" name="Rounded Rectangle 5"/>
          <p:cNvSpPr/>
          <p:nvPr/>
        </p:nvSpPr>
        <p:spPr>
          <a:xfrm>
            <a:off x="566928" y="1828800"/>
            <a:ext cx="3566160" cy="228600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99339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8" name="TextBox 7"/>
          <p:cNvSpPr txBox="1"/>
          <p:nvPr/>
        </p:nvSpPr>
        <p:spPr>
          <a:xfrm>
            <a:off x="768096" y="2377440"/>
            <a:ext cx="3163824" cy="685800"/>
          </a:xfrm>
          <a:prstGeom prst="rect">
            <a:avLst/>
          </a:prstGeom>
          <a:noFill/>
        </p:spPr>
        <p:txBody>
          <a:bodyPr wrap="square" anchor="t">
            <a:spAutoFit/>
          </a:bodyPr>
          <a:lstStyle/>
          <a:p>
            <a:pPr algn="l"/>
            <a:r>
              <a:rPr sz="1400" b="1" i="0">
                <a:solidFill>
                  <a:srgbClr val="116530"/>
                </a:solidFill>
                <a:latin typeface="Segoe UI"/>
              </a:rPr>
              <a:t>Approve the pilot</a:t>
            </a:r>
          </a:p>
        </p:txBody>
      </p:sp>
      <p:sp>
        <p:nvSpPr>
          <p:cNvPr id="9" name="TextBox 8"/>
          <p:cNvSpPr txBox="1"/>
          <p:nvPr/>
        </p:nvSpPr>
        <p:spPr>
          <a:xfrm>
            <a:off x="768096" y="2724912"/>
            <a:ext cx="3163824" cy="1188719"/>
          </a:xfrm>
          <a:prstGeom prst="rect">
            <a:avLst/>
          </a:prstGeom>
          <a:noFill/>
        </p:spPr>
        <p:txBody>
          <a:bodyPr wrap="square" anchor="t">
            <a:spAutoFit/>
          </a:bodyPr>
          <a:lstStyle/>
          <a:p>
            <a:pPr algn="l">
              <a:lnSpc>
                <a:spcPts val="1600"/>
              </a:lnSpc>
            </a:pPr>
            <a:r>
              <a:rPr sz="1150" b="0" i="0">
                <a:solidFill>
                  <a:srgbClr val="5A6B58"/>
                </a:solidFill>
                <a:latin typeface="Segoe UI"/>
              </a:rPr>
              <a:t>Sanction a 6-month, 500-farmer pilot in Nagpur district with a named department/KVK partner.</a:t>
            </a:r>
          </a:p>
        </p:txBody>
      </p:sp>
      <p:sp>
        <p:nvSpPr>
          <p:cNvPr id="10" name="Rounded Rectangle 9"/>
          <p:cNvSpPr/>
          <p:nvPr/>
        </p:nvSpPr>
        <p:spPr>
          <a:xfrm>
            <a:off x="4315968" y="1828800"/>
            <a:ext cx="3566160" cy="228600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17136" y="199339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12" name="TextBox 11"/>
          <p:cNvSpPr txBox="1"/>
          <p:nvPr/>
        </p:nvSpPr>
        <p:spPr>
          <a:xfrm>
            <a:off x="4517136" y="2377440"/>
            <a:ext cx="3163824" cy="685800"/>
          </a:xfrm>
          <a:prstGeom prst="rect">
            <a:avLst/>
          </a:prstGeom>
          <a:noFill/>
        </p:spPr>
        <p:txBody>
          <a:bodyPr wrap="square" anchor="t">
            <a:spAutoFit/>
          </a:bodyPr>
          <a:lstStyle/>
          <a:p>
            <a:pPr algn="l"/>
            <a:r>
              <a:rPr sz="1400" b="1" i="0">
                <a:solidFill>
                  <a:srgbClr val="116530"/>
                </a:solidFill>
                <a:latin typeface="Segoe UI"/>
              </a:rPr>
              <a:t>Fund the data drive</a:t>
            </a:r>
          </a:p>
        </p:txBody>
      </p:sp>
      <p:sp>
        <p:nvSpPr>
          <p:cNvPr id="13" name="TextBox 12"/>
          <p:cNvSpPr txBox="1"/>
          <p:nvPr/>
        </p:nvSpPr>
        <p:spPr>
          <a:xfrm>
            <a:off x="4517136" y="2724912"/>
            <a:ext cx="3163824" cy="1188719"/>
          </a:xfrm>
          <a:prstGeom prst="rect">
            <a:avLst/>
          </a:prstGeom>
          <a:noFill/>
        </p:spPr>
        <p:txBody>
          <a:bodyPr wrap="square" anchor="t">
            <a:spAutoFit/>
          </a:bodyPr>
          <a:lstStyle/>
          <a:p>
            <a:pPr algn="l">
              <a:lnSpc>
                <a:spcPts val="1600"/>
              </a:lnSpc>
            </a:pPr>
            <a:r>
              <a:rPr sz="1150" b="0" i="0">
                <a:solidFill>
                  <a:srgbClr val="5A6B58"/>
                </a:solidFill>
                <a:latin typeface="Segoe UI"/>
              </a:rPr>
              <a:t>Budget for field image collection, labelling camps with university students and agronomist review time. That is the fuel of the flywheel.</a:t>
            </a:r>
          </a:p>
        </p:txBody>
      </p:sp>
      <p:sp>
        <p:nvSpPr>
          <p:cNvPr id="14" name="Rounded Rectangle 13"/>
          <p:cNvSpPr/>
          <p:nvPr/>
        </p:nvSpPr>
        <p:spPr>
          <a:xfrm>
            <a:off x="8065008" y="1828800"/>
            <a:ext cx="3566160" cy="228600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6176" y="1993392"/>
            <a:ext cx="3200400" cy="365760"/>
          </a:xfrm>
          <a:prstGeom prst="rect">
            <a:avLst/>
          </a:prstGeom>
          <a:noFill/>
        </p:spPr>
        <p:txBody>
          <a:bodyPr wrap="square" anchor="t">
            <a:spAutoFit/>
          </a:bodyPr>
          <a:lstStyle/>
          <a:p>
            <a:pPr algn="l"/>
            <a:r>
              <a:rPr sz="1800" b="0" i="0">
                <a:solidFill>
                  <a:srgbClr val="116530"/>
                </a:solidFill>
                <a:latin typeface="Segoe UI"/>
              </a:rPr>
              <a:t>🤝</a:t>
            </a:r>
          </a:p>
        </p:txBody>
      </p:sp>
      <p:sp>
        <p:nvSpPr>
          <p:cNvPr id="16" name="TextBox 15"/>
          <p:cNvSpPr txBox="1"/>
          <p:nvPr/>
        </p:nvSpPr>
        <p:spPr>
          <a:xfrm>
            <a:off x="8266176" y="2377440"/>
            <a:ext cx="3163824" cy="685800"/>
          </a:xfrm>
          <a:prstGeom prst="rect">
            <a:avLst/>
          </a:prstGeom>
          <a:noFill/>
        </p:spPr>
        <p:txBody>
          <a:bodyPr wrap="square" anchor="t">
            <a:spAutoFit/>
          </a:bodyPr>
          <a:lstStyle/>
          <a:p>
            <a:pPr algn="l"/>
            <a:r>
              <a:rPr sz="1400" b="1" i="0">
                <a:solidFill>
                  <a:srgbClr val="116530"/>
                </a:solidFill>
                <a:latin typeface="Segoe UI"/>
              </a:rPr>
              <a:t>Open doors</a:t>
            </a:r>
          </a:p>
        </p:txBody>
      </p:sp>
      <p:sp>
        <p:nvSpPr>
          <p:cNvPr id="17" name="TextBox 16"/>
          <p:cNvSpPr txBox="1"/>
          <p:nvPr/>
        </p:nvSpPr>
        <p:spPr>
          <a:xfrm>
            <a:off x="8266176" y="2724912"/>
            <a:ext cx="3163824" cy="1188719"/>
          </a:xfrm>
          <a:prstGeom prst="rect">
            <a:avLst/>
          </a:prstGeom>
          <a:noFill/>
        </p:spPr>
        <p:txBody>
          <a:bodyPr wrap="square" anchor="t">
            <a:spAutoFit/>
          </a:bodyPr>
          <a:lstStyle/>
          <a:p>
            <a:pPr algn="l">
              <a:lnSpc>
                <a:spcPts val="1600"/>
              </a:lnSpc>
            </a:pPr>
            <a:r>
              <a:rPr sz="1150" b="0" i="0">
                <a:solidFill>
                  <a:srgbClr val="5A6B58"/>
                </a:solidFill>
                <a:latin typeface="Segoe UI"/>
              </a:rPr>
              <a:t>Introductions to agriculture departments, KVKs and FPO networks for partnerships and endorsements.</a:t>
            </a:r>
          </a:p>
        </p:txBody>
      </p:sp>
      <p:sp>
        <p:nvSpPr>
          <p:cNvPr id="18" name="Rounded Rectangle 17"/>
          <p:cNvSpPr/>
          <p:nvPr/>
        </p:nvSpPr>
        <p:spPr>
          <a:xfrm>
            <a:off x="566928" y="4389120"/>
            <a:ext cx="11064240" cy="1874519"/>
          </a:xfrm>
          <a:prstGeom prst="roundRect">
            <a:avLst>
              <a:gd name="adj" fmla="val 6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572000"/>
            <a:ext cx="10515600" cy="457200"/>
          </a:xfrm>
          <a:prstGeom prst="rect">
            <a:avLst/>
          </a:prstGeom>
          <a:noFill/>
        </p:spPr>
        <p:txBody>
          <a:bodyPr wrap="square" anchor="t">
            <a:spAutoFit/>
          </a:bodyPr>
          <a:lstStyle/>
          <a:p>
            <a:pPr algn="l"/>
            <a:r>
              <a:rPr sz="1400" b="1" i="0">
                <a:solidFill>
                  <a:srgbClr val="FFB000"/>
                </a:solidFill>
                <a:latin typeface="Segoe UI"/>
              </a:rPr>
              <a:t>In return, the board receives:</a:t>
            </a:r>
          </a:p>
        </p:txBody>
      </p:sp>
      <p:sp>
        <p:nvSpPr>
          <p:cNvPr id="20" name="TextBox 19"/>
          <p:cNvSpPr txBox="1"/>
          <p:nvPr/>
        </p:nvSpPr>
        <p:spPr>
          <a:xfrm>
            <a:off x="822960" y="5029200"/>
            <a:ext cx="10515600" cy="1188720"/>
          </a:xfrm>
          <a:prstGeom prst="rect">
            <a:avLst/>
          </a:prstGeom>
          <a:noFill/>
        </p:spPr>
        <p:txBody>
          <a:bodyPr wrap="square" anchor="t">
            <a:spAutoFit/>
          </a:bodyPr>
          <a:lstStyle/>
          <a:p>
            <a:pPr algn="l">
              <a:lnSpc>
                <a:spcPts val="1900"/>
              </a:lnSpc>
            </a:pPr>
            <a:r>
              <a:rPr sz="1250" b="0" i="0">
                <a:solidFill>
                  <a:srgbClr val="C9D9C6"/>
                </a:solidFill>
                <a:latin typeface="Segoe UI"/>
              </a:rPr>
              <a:t>• A defensible, data backed AI asset in Indian horticulture
• A public good platform with strong CSR and policy alignment
• Recurring value: agency dashboards, certified advisories, research datasets
• First mover brand: the app that protects oranges</a:t>
            </a:r>
          </a:p>
        </p:txBody>
      </p:sp>
      <p:sp>
        <p:nvSpPr>
          <p:cNvPr id="21" name="TextBox 20"/>
          <p:cNvSpPr txBox="1"/>
          <p:nvPr/>
        </p:nvSpPr>
        <p:spPr>
          <a:xfrm>
            <a:off x="548640" y="6473952"/>
            <a:ext cx="7315200" cy="274320"/>
          </a:xfrm>
          <a:prstGeom prst="rect">
            <a:avLst/>
          </a:prstGeom>
          <a:noFill/>
        </p:spPr>
        <p:txBody>
          <a:bodyPr wrap="square" anchor="t">
            <a:spAutoFit/>
          </a:bodyPr>
          <a:lstStyle/>
          <a:p>
            <a:pPr algn="l"/>
            <a:r>
              <a:rPr sz="900" b="0" i="0">
                <a:solidFill>
                  <a:srgbClr val="9AAA97"/>
                </a:solidFill>
                <a:latin typeface="Segoe UI"/>
              </a:rPr>
              <a:t>CitriSuraksha AI  ·  Scan · Detect · Protect  ·  Board Pitch, Confidential</a:t>
            </a:r>
          </a:p>
        </p:txBody>
      </p:sp>
      <p:sp>
        <p:nvSpPr>
          <p:cNvPr id="22" name="TextBox 21"/>
          <p:cNvSpPr txBox="1"/>
          <p:nvPr/>
        </p:nvSpPr>
        <p:spPr>
          <a:xfrm>
            <a:off x="11247120" y="6473952"/>
            <a:ext cx="457200" cy="274320"/>
          </a:xfrm>
          <a:prstGeom prst="rect">
            <a:avLst/>
          </a:prstGeom>
          <a:noFill/>
        </p:spPr>
        <p:txBody>
          <a:bodyPr wrap="square" anchor="t">
            <a:spAutoFit/>
          </a:bodyPr>
          <a:lstStyle/>
          <a:p>
            <a:pPr algn="r"/>
            <a:r>
              <a:rPr sz="900" b="1" i="0">
                <a:solidFill>
                  <a:srgbClr val="9AAA97"/>
                </a:solidFill>
                <a:latin typeface="Segoe U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8229600" cy="274320"/>
          </a:xfrm>
          <a:prstGeom prst="rect">
            <a:avLst/>
          </a:prstGeom>
          <a:noFill/>
        </p:spPr>
        <p:txBody>
          <a:bodyPr wrap="square" anchor="t">
            <a:spAutoFit/>
          </a:bodyPr>
          <a:lstStyle/>
          <a:p>
            <a:pPr algn="l"/>
            <a:r>
              <a:rPr sz="1100" b="1">
                <a:solidFill>
                  <a:srgbClr val="C77800"/>
                </a:solidFill>
                <a:latin typeface="Segoe UI"/>
              </a:rPr>
              <a:t>MULTI-STAGE PIPELINE (AI v2)</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600" b="1">
                <a:solidFill>
                  <a:srgbClr val="116530"/>
                </a:solidFill>
                <a:latin typeface="Segoe UI"/>
              </a:rPr>
              <a:t>From a single classifier to a six signal decision engine</a:t>
            </a:r>
          </a:p>
        </p:txBody>
      </p:sp>
      <p:sp>
        <p:nvSpPr>
          <p:cNvPr id="6" name="TextBox 5"/>
          <p:cNvSpPr txBox="1"/>
          <p:nvPr/>
        </p:nvSpPr>
        <p:spPr>
          <a:xfrm>
            <a:off x="566928" y="1371600"/>
            <a:ext cx="11155680" cy="457200"/>
          </a:xfrm>
          <a:prstGeom prst="rect">
            <a:avLst/>
          </a:prstGeom>
          <a:noFill/>
        </p:spPr>
        <p:txBody>
          <a:bodyPr wrap="square" anchor="t">
            <a:spAutoFit/>
          </a:bodyPr>
          <a:lstStyle/>
          <a:p>
            <a:pPr algn="l"/>
            <a:r>
              <a:rPr sz="1250" b="0">
                <a:solidFill>
                  <a:srgbClr val="5A6B58"/>
                </a:solidFill>
                <a:latin typeface="Segoe UI"/>
              </a:rPr>
              <a:t>Photo in, honest answer out, including 'I don't know'.</a:t>
            </a:r>
          </a:p>
        </p:txBody>
      </p:sp>
      <p:sp>
        <p:nvSpPr>
          <p:cNvPr id="7" name="Rounded Rectangle 6"/>
          <p:cNvSpPr/>
          <p:nvPr/>
        </p:nvSpPr>
        <p:spPr>
          <a:xfrm>
            <a:off x="566928" y="1920240"/>
            <a:ext cx="1755648" cy="12344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1609344" cy="1097280"/>
          </a:xfrm>
          <a:prstGeom prst="rect">
            <a:avLst/>
          </a:prstGeom>
          <a:noFill/>
        </p:spPr>
        <p:txBody>
          <a:bodyPr wrap="square" anchor="t">
            <a:spAutoFit/>
          </a:bodyPr>
          <a:lstStyle/>
          <a:p>
            <a:pPr algn="l">
              <a:lnSpc>
                <a:spcPts val="1400"/>
              </a:lnSpc>
            </a:pPr>
            <a:r>
              <a:rPr sz="1050" b="1">
                <a:solidFill>
                  <a:srgbClr val="116530"/>
                </a:solidFill>
                <a:latin typeface="Segoe UI"/>
              </a:rPr>
              <a:t>OpenCV quality gate
blur / light / corruption</a:t>
            </a:r>
          </a:p>
        </p:txBody>
      </p:sp>
      <p:sp>
        <p:nvSpPr>
          <p:cNvPr id="9" name="Chevron 8"/>
          <p:cNvSpPr/>
          <p:nvPr/>
        </p:nvSpPr>
        <p:spPr>
          <a:xfrm>
            <a:off x="2350008" y="2331720"/>
            <a:ext cx="219456" cy="365760"/>
          </a:xfrm>
          <a:prstGeom prst="chevron">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487168" y="1920240"/>
            <a:ext cx="1755648" cy="12344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60320" y="2011680"/>
            <a:ext cx="1609344" cy="1097280"/>
          </a:xfrm>
          <a:prstGeom prst="rect">
            <a:avLst/>
          </a:prstGeom>
          <a:noFill/>
        </p:spPr>
        <p:txBody>
          <a:bodyPr wrap="square" anchor="t">
            <a:spAutoFit/>
          </a:bodyPr>
          <a:lstStyle/>
          <a:p>
            <a:pPr algn="l">
              <a:lnSpc>
                <a:spcPts val="1400"/>
              </a:lnSpc>
            </a:pPr>
            <a:r>
              <a:rPr sz="1050" b="0">
                <a:solidFill>
                  <a:srgbClr val="1B271C"/>
                </a:solidFill>
                <a:latin typeface="Segoe UI"/>
              </a:rPr>
              <a:t>Pest detector
box + crop</a:t>
            </a:r>
          </a:p>
        </p:txBody>
      </p:sp>
      <p:sp>
        <p:nvSpPr>
          <p:cNvPr id="12" name="Chevron 11"/>
          <p:cNvSpPr/>
          <p:nvPr/>
        </p:nvSpPr>
        <p:spPr>
          <a:xfrm>
            <a:off x="4270248" y="2331720"/>
            <a:ext cx="219456" cy="365760"/>
          </a:xfrm>
          <a:prstGeom prst="chevron">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07408" y="1920240"/>
            <a:ext cx="1755648" cy="12344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2011680"/>
            <a:ext cx="1609344" cy="1097280"/>
          </a:xfrm>
          <a:prstGeom prst="rect">
            <a:avLst/>
          </a:prstGeom>
          <a:noFill/>
        </p:spPr>
        <p:txBody>
          <a:bodyPr wrap="square" anchor="t">
            <a:spAutoFit/>
          </a:bodyPr>
          <a:lstStyle/>
          <a:p>
            <a:pPr algn="l">
              <a:lnSpc>
                <a:spcPts val="1400"/>
              </a:lnSpc>
            </a:pPr>
            <a:r>
              <a:rPr sz="1050" b="0">
                <a:solidFill>
                  <a:srgbClr val="1B271C"/>
                </a:solidFill>
                <a:latin typeface="Segoe UI"/>
              </a:rPr>
              <a:t>Established classifier signal
(careful bootstrap until trained)</a:t>
            </a:r>
          </a:p>
        </p:txBody>
      </p:sp>
      <p:sp>
        <p:nvSpPr>
          <p:cNvPr id="15" name="Chevron 14"/>
          <p:cNvSpPr/>
          <p:nvPr/>
        </p:nvSpPr>
        <p:spPr>
          <a:xfrm>
            <a:off x="6190488" y="2331720"/>
            <a:ext cx="219456" cy="365760"/>
          </a:xfrm>
          <a:prstGeom prst="chevron">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27648" y="1920240"/>
            <a:ext cx="1755648" cy="12344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0" y="2011680"/>
            <a:ext cx="1609344" cy="1097280"/>
          </a:xfrm>
          <a:prstGeom prst="rect">
            <a:avLst/>
          </a:prstGeom>
          <a:noFill/>
        </p:spPr>
        <p:txBody>
          <a:bodyPr wrap="square" anchor="t">
            <a:spAutoFit/>
          </a:bodyPr>
          <a:lstStyle/>
          <a:p>
            <a:pPr algn="l">
              <a:lnSpc>
                <a:spcPts val="1400"/>
              </a:lnSpc>
            </a:pPr>
            <a:r>
              <a:rPr sz="1050" b="0">
                <a:solidFill>
                  <a:srgbClr val="1B271C"/>
                </a:solidFill>
                <a:latin typeface="Segoe UI"/>
              </a:rPr>
              <a:t>Visual memory
verified-image similarity</a:t>
            </a:r>
          </a:p>
        </p:txBody>
      </p:sp>
      <p:sp>
        <p:nvSpPr>
          <p:cNvPr id="18" name="Chevron 17"/>
          <p:cNvSpPr/>
          <p:nvPr/>
        </p:nvSpPr>
        <p:spPr>
          <a:xfrm>
            <a:off x="8110727" y="2331720"/>
            <a:ext cx="219456" cy="365760"/>
          </a:xfrm>
          <a:prstGeom prst="chevron">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247888" y="1920240"/>
            <a:ext cx="1755648" cy="12344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2011680"/>
            <a:ext cx="1609344" cy="1097280"/>
          </a:xfrm>
          <a:prstGeom prst="rect">
            <a:avLst/>
          </a:prstGeom>
          <a:noFill/>
        </p:spPr>
        <p:txBody>
          <a:bodyPr wrap="square" anchor="t">
            <a:spAutoFit/>
          </a:bodyPr>
          <a:lstStyle/>
          <a:p>
            <a:pPr algn="l">
              <a:lnSpc>
                <a:spcPts val="1400"/>
              </a:lnSpc>
            </a:pPr>
            <a:r>
              <a:rPr sz="1050" b="0">
                <a:solidFill>
                  <a:srgbClr val="1B271C"/>
                </a:solidFill>
                <a:latin typeface="Segoe UI"/>
              </a:rPr>
              <a:t>Cross-check signal
secondary, always weak</a:t>
            </a:r>
          </a:p>
        </p:txBody>
      </p:sp>
      <p:sp>
        <p:nvSpPr>
          <p:cNvPr id="21" name="Chevron 20"/>
          <p:cNvSpPr/>
          <p:nvPr/>
        </p:nvSpPr>
        <p:spPr>
          <a:xfrm>
            <a:off x="10030967" y="2331720"/>
            <a:ext cx="219456" cy="365760"/>
          </a:xfrm>
          <a:prstGeom prst="chevron">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68128" y="1920240"/>
            <a:ext cx="1755648" cy="123444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41280" y="2011680"/>
            <a:ext cx="1609344" cy="1097280"/>
          </a:xfrm>
          <a:prstGeom prst="rect">
            <a:avLst/>
          </a:prstGeom>
          <a:noFill/>
        </p:spPr>
        <p:txBody>
          <a:bodyPr wrap="square" anchor="t">
            <a:spAutoFit/>
          </a:bodyPr>
          <a:lstStyle/>
          <a:p>
            <a:pPr algn="l">
              <a:lnSpc>
                <a:spcPts val="1400"/>
              </a:lnSpc>
            </a:pPr>
            <a:r>
              <a:rPr sz="1050" b="1">
                <a:solidFill>
                  <a:srgbClr val="116530"/>
                </a:solidFill>
                <a:latin typeface="Segoe UI"/>
              </a:rPr>
              <a:t>Decision engine
6 honest outcomes</a:t>
            </a:r>
          </a:p>
        </p:txBody>
      </p:sp>
      <p:sp>
        <p:nvSpPr>
          <p:cNvPr id="24" name="Rounded Rectangle 23"/>
          <p:cNvSpPr/>
          <p:nvPr/>
        </p:nvSpPr>
        <p:spPr>
          <a:xfrm>
            <a:off x="566928" y="3474720"/>
            <a:ext cx="3566160" cy="137160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3602736"/>
            <a:ext cx="3200400" cy="457200"/>
          </a:xfrm>
          <a:prstGeom prst="rect">
            <a:avLst/>
          </a:prstGeom>
          <a:noFill/>
        </p:spPr>
        <p:txBody>
          <a:bodyPr wrap="square" anchor="t">
            <a:spAutoFit/>
          </a:bodyPr>
          <a:lstStyle/>
          <a:p>
            <a:pPr algn="l"/>
            <a:r>
              <a:rPr sz="1350" b="1">
                <a:solidFill>
                  <a:srgbClr val="116530"/>
                </a:solidFill>
                <a:latin typeface="Segoe UI"/>
              </a:rPr>
              <a:t>Decisions</a:t>
            </a:r>
          </a:p>
        </p:txBody>
      </p:sp>
      <p:sp>
        <p:nvSpPr>
          <p:cNvPr id="26" name="TextBox 25"/>
          <p:cNvSpPr txBox="1"/>
          <p:nvPr/>
        </p:nvSpPr>
        <p:spPr>
          <a:xfrm>
            <a:off x="749808" y="3950208"/>
            <a:ext cx="3200400" cy="822960"/>
          </a:xfrm>
          <a:prstGeom prst="rect">
            <a:avLst/>
          </a:prstGeom>
          <a:noFill/>
        </p:spPr>
        <p:txBody>
          <a:bodyPr wrap="square" anchor="t">
            <a:spAutoFit/>
          </a:bodyPr>
          <a:lstStyle/>
          <a:p>
            <a:pPr algn="l">
              <a:lnSpc>
                <a:spcPts val="1450"/>
              </a:lnSpc>
            </a:pPr>
            <a:r>
              <a:rPr sz="1080" b="0">
                <a:solidFill>
                  <a:srgbClr val="5A6B58"/>
                </a:solidFill>
                <a:latin typeface="Segoe UI"/>
              </a:rPr>
              <a:t>Identified, uncertain, unknown, poor image, no pest, or not a citrus photo. Unknowns are stored for clustering.</a:t>
            </a:r>
          </a:p>
        </p:txBody>
      </p:sp>
      <p:sp>
        <p:nvSpPr>
          <p:cNvPr id="27" name="Rounded Rectangle 26"/>
          <p:cNvSpPr/>
          <p:nvPr/>
        </p:nvSpPr>
        <p:spPr>
          <a:xfrm>
            <a:off x="4315968" y="3474720"/>
            <a:ext cx="3566160" cy="137160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98848" y="3602736"/>
            <a:ext cx="3200400" cy="457200"/>
          </a:xfrm>
          <a:prstGeom prst="rect">
            <a:avLst/>
          </a:prstGeom>
          <a:noFill/>
        </p:spPr>
        <p:txBody>
          <a:bodyPr wrap="square" anchor="t">
            <a:spAutoFit/>
          </a:bodyPr>
          <a:lstStyle/>
          <a:p>
            <a:pPr algn="l"/>
            <a:r>
              <a:rPr sz="1350" b="1">
                <a:solidFill>
                  <a:srgbClr val="116530"/>
                </a:solidFill>
                <a:latin typeface="Segoe UI"/>
              </a:rPr>
              <a:t>Cross-checks</a:t>
            </a:r>
          </a:p>
        </p:txBody>
      </p:sp>
      <p:sp>
        <p:nvSpPr>
          <p:cNvPr id="29" name="TextBox 28"/>
          <p:cNvSpPr txBox="1"/>
          <p:nvPr/>
        </p:nvSpPr>
        <p:spPr>
          <a:xfrm>
            <a:off x="4498848" y="3950208"/>
            <a:ext cx="3200400" cy="822960"/>
          </a:xfrm>
          <a:prstGeom prst="rect">
            <a:avLst/>
          </a:prstGeom>
          <a:noFill/>
        </p:spPr>
        <p:txBody>
          <a:bodyPr wrap="square" anchor="t">
            <a:spAutoFit/>
          </a:bodyPr>
          <a:lstStyle/>
          <a:p>
            <a:pPr algn="l">
              <a:lnSpc>
                <a:spcPts val="1450"/>
              </a:lnSpc>
            </a:pPr>
            <a:r>
              <a:rPr sz="1080" b="0">
                <a:solidFill>
                  <a:srgbClr val="5A6B58"/>
                </a:solidFill>
                <a:latin typeface="Segoe UI"/>
              </a:rPr>
              <a:t>If models disagree, or the top two guesses are close, the answer downgrades to 'uncertain'. Never a blind guess.</a:t>
            </a:r>
          </a:p>
        </p:txBody>
      </p:sp>
      <p:sp>
        <p:nvSpPr>
          <p:cNvPr id="30" name="Rounded Rectangle 29"/>
          <p:cNvSpPr/>
          <p:nvPr/>
        </p:nvSpPr>
        <p:spPr>
          <a:xfrm>
            <a:off x="8065008" y="3474720"/>
            <a:ext cx="3566160" cy="137160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47888" y="3602736"/>
            <a:ext cx="3200400" cy="457200"/>
          </a:xfrm>
          <a:prstGeom prst="rect">
            <a:avLst/>
          </a:prstGeom>
          <a:noFill/>
        </p:spPr>
        <p:txBody>
          <a:bodyPr wrap="square" anchor="t">
            <a:spAutoFit/>
          </a:bodyPr>
          <a:lstStyle/>
          <a:p>
            <a:pPr algn="l"/>
            <a:r>
              <a:rPr sz="1350" b="1">
                <a:solidFill>
                  <a:srgbClr val="116530"/>
                </a:solidFill>
                <a:latin typeface="Segoe UI"/>
              </a:rPr>
              <a:t>Knowledge join</a:t>
            </a:r>
          </a:p>
        </p:txBody>
      </p:sp>
      <p:sp>
        <p:nvSpPr>
          <p:cNvPr id="32" name="TextBox 31"/>
          <p:cNvSpPr txBox="1"/>
          <p:nvPr/>
        </p:nvSpPr>
        <p:spPr>
          <a:xfrm>
            <a:off x="8247888" y="3950208"/>
            <a:ext cx="3200400" cy="822960"/>
          </a:xfrm>
          <a:prstGeom prst="rect">
            <a:avLst/>
          </a:prstGeom>
          <a:noFill/>
        </p:spPr>
        <p:txBody>
          <a:bodyPr wrap="square" anchor="t">
            <a:spAutoFit/>
          </a:bodyPr>
          <a:lstStyle/>
          <a:p>
            <a:pPr algn="l">
              <a:lnSpc>
                <a:spcPts val="1450"/>
              </a:lnSpc>
            </a:pPr>
            <a:r>
              <a:rPr sz="1080" b="0">
                <a:solidFill>
                  <a:srgbClr val="5A6B58"/>
                </a:solidFill>
                <a:latin typeface="Segoe UI"/>
              </a:rPr>
              <a:t>The AI identifies the pest; the database provides symptoms, prevention, cure and control advice in three languages.</a:t>
            </a:r>
          </a:p>
        </p:txBody>
      </p:sp>
      <p:sp>
        <p:nvSpPr>
          <p:cNvPr id="33" name="Rounded Rectangle 32"/>
          <p:cNvSpPr/>
          <p:nvPr/>
        </p:nvSpPr>
        <p:spPr>
          <a:xfrm>
            <a:off x="566928" y="5120640"/>
            <a:ext cx="11064240" cy="868680"/>
          </a:xfrm>
          <a:prstGeom prst="roundRect">
            <a:avLst>
              <a:gd name="adj" fmla="val 8000"/>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257800"/>
            <a:ext cx="10515600" cy="640080"/>
          </a:xfrm>
          <a:prstGeom prst="rect">
            <a:avLst/>
          </a:prstGeom>
          <a:noFill/>
        </p:spPr>
        <p:txBody>
          <a:bodyPr wrap="square" anchor="ctr">
            <a:spAutoFit/>
          </a:bodyPr>
          <a:lstStyle/>
          <a:p>
            <a:pPr algn="ctr"/>
            <a:r>
              <a:rPr sz="1350" b="1">
                <a:solidFill>
                  <a:srgbClr val="FFFFFF"/>
                </a:solidFill>
                <a:latin typeface="Segoe UI"/>
              </a:rPr>
              <a:t>Saying 'I don't know' is a feature. It feeds expert review, which feeds the dataset, which feeds accuracy.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8229600" cy="274320"/>
          </a:xfrm>
          <a:prstGeom prst="rect">
            <a:avLst/>
          </a:prstGeom>
          <a:noFill/>
        </p:spPr>
        <p:txBody>
          <a:bodyPr wrap="square" anchor="t">
            <a:spAutoFit/>
          </a:bodyPr>
          <a:lstStyle/>
          <a:p>
            <a:pPr algn="l"/>
            <a:r>
              <a:rPr sz="1100" b="1">
                <a:solidFill>
                  <a:srgbClr val="C77800"/>
                </a:solidFill>
                <a:latin typeface="Segoe UI"/>
              </a:rPr>
              <a:t>GOVERNANCE</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600" b="1">
                <a:solidFill>
                  <a:srgbClr val="116530"/>
                </a:solidFill>
                <a:latin typeface="Segoe UI"/>
              </a:rPr>
              <a:t>No unverified image trains. No unevaluated model deploys.</a:t>
            </a:r>
          </a:p>
        </p:txBody>
      </p:sp>
      <p:sp>
        <p:nvSpPr>
          <p:cNvPr id="6" name="Rounded Rectangle 5"/>
          <p:cNvSpPr/>
          <p:nvPr/>
        </p:nvSpPr>
        <p:spPr>
          <a:xfrm>
            <a:off x="566928" y="182880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956816"/>
            <a:ext cx="3200400" cy="457200"/>
          </a:xfrm>
          <a:prstGeom prst="rect">
            <a:avLst/>
          </a:prstGeom>
          <a:noFill/>
        </p:spPr>
        <p:txBody>
          <a:bodyPr wrap="square" anchor="t">
            <a:spAutoFit/>
          </a:bodyPr>
          <a:lstStyle/>
          <a:p>
            <a:pPr algn="l"/>
            <a:r>
              <a:rPr sz="1350" b="1">
                <a:solidFill>
                  <a:srgbClr val="116530"/>
                </a:solidFill>
                <a:latin typeface="Segoe UI"/>
              </a:rPr>
              <a:t>Dataset versions</a:t>
            </a:r>
          </a:p>
        </p:txBody>
      </p:sp>
      <p:sp>
        <p:nvSpPr>
          <p:cNvPr id="8" name="TextBox 7"/>
          <p:cNvSpPr txBox="1"/>
          <p:nvPr/>
        </p:nvSpPr>
        <p:spPr>
          <a:xfrm>
            <a:off x="749808" y="2304288"/>
            <a:ext cx="3200400" cy="868680"/>
          </a:xfrm>
          <a:prstGeom prst="rect">
            <a:avLst/>
          </a:prstGeom>
          <a:noFill/>
        </p:spPr>
        <p:txBody>
          <a:bodyPr wrap="square" anchor="t">
            <a:spAutoFit/>
          </a:bodyPr>
          <a:lstStyle/>
          <a:p>
            <a:pPr algn="l">
              <a:lnSpc>
                <a:spcPts val="1450"/>
              </a:lnSpc>
            </a:pPr>
            <a:r>
              <a:rPr sz="1080" b="0">
                <a:solidFill>
                  <a:srgbClr val="5A6B58"/>
                </a:solidFill>
                <a:latin typeface="Segoe UI"/>
              </a:rPr>
              <a:t>Immutable manifests: class distribution, splits, dedupe report. Frozen test set can never leak into training.</a:t>
            </a:r>
          </a:p>
        </p:txBody>
      </p:sp>
      <p:sp>
        <p:nvSpPr>
          <p:cNvPr id="9" name="Rounded Rectangle 8"/>
          <p:cNvSpPr/>
          <p:nvPr/>
        </p:nvSpPr>
        <p:spPr>
          <a:xfrm>
            <a:off x="4315968" y="182880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8848" y="1956816"/>
            <a:ext cx="3200400" cy="457200"/>
          </a:xfrm>
          <a:prstGeom prst="rect">
            <a:avLst/>
          </a:prstGeom>
          <a:noFill/>
        </p:spPr>
        <p:txBody>
          <a:bodyPr wrap="square" anchor="t">
            <a:spAutoFit/>
          </a:bodyPr>
          <a:lstStyle/>
          <a:p>
            <a:pPr algn="l"/>
            <a:r>
              <a:rPr sz="1350" b="1">
                <a:solidFill>
                  <a:srgbClr val="116530"/>
                </a:solidFill>
                <a:latin typeface="Segoe UI"/>
              </a:rPr>
              <a:t>Frozen evaluation</a:t>
            </a:r>
          </a:p>
        </p:txBody>
      </p:sp>
      <p:sp>
        <p:nvSpPr>
          <p:cNvPr id="11" name="TextBox 10"/>
          <p:cNvSpPr txBox="1"/>
          <p:nvPr/>
        </p:nvSpPr>
        <p:spPr>
          <a:xfrm>
            <a:off x="4498848" y="2304288"/>
            <a:ext cx="3200400" cy="868680"/>
          </a:xfrm>
          <a:prstGeom prst="rect">
            <a:avLst/>
          </a:prstGeom>
          <a:noFill/>
        </p:spPr>
        <p:txBody>
          <a:bodyPr wrap="square" anchor="t">
            <a:spAutoFit/>
          </a:bodyPr>
          <a:lstStyle/>
          <a:p>
            <a:pPr algn="l">
              <a:lnSpc>
                <a:spcPts val="1450"/>
              </a:lnSpc>
            </a:pPr>
            <a:r>
              <a:rPr sz="1080" b="0">
                <a:solidFill>
                  <a:srgbClr val="5A6B58"/>
                </a:solidFill>
                <a:latin typeface="Segoe UI"/>
              </a:rPr>
              <a:t>Accuracy, precision, recall, F1, per class scores, confusion matrix and latency, measured on the frozen test only.</a:t>
            </a:r>
          </a:p>
        </p:txBody>
      </p:sp>
      <p:sp>
        <p:nvSpPr>
          <p:cNvPr id="12" name="Rounded Rectangle 11"/>
          <p:cNvSpPr/>
          <p:nvPr/>
        </p:nvSpPr>
        <p:spPr>
          <a:xfrm>
            <a:off x="8065008" y="182880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7888" y="1956816"/>
            <a:ext cx="3200400" cy="457200"/>
          </a:xfrm>
          <a:prstGeom prst="rect">
            <a:avLst/>
          </a:prstGeom>
          <a:noFill/>
        </p:spPr>
        <p:txBody>
          <a:bodyPr wrap="square" anchor="t">
            <a:spAutoFit/>
          </a:bodyPr>
          <a:lstStyle/>
          <a:p>
            <a:pPr algn="l"/>
            <a:r>
              <a:rPr sz="1350" b="1">
                <a:solidFill>
                  <a:srgbClr val="116530"/>
                </a:solidFill>
                <a:latin typeface="Segoe UI"/>
              </a:rPr>
              <a:t>Comparison gate</a:t>
            </a:r>
          </a:p>
        </p:txBody>
      </p:sp>
      <p:sp>
        <p:nvSpPr>
          <p:cNvPr id="14" name="TextBox 13"/>
          <p:cNvSpPr txBox="1"/>
          <p:nvPr/>
        </p:nvSpPr>
        <p:spPr>
          <a:xfrm>
            <a:off x="8247888" y="2304288"/>
            <a:ext cx="3200400" cy="868680"/>
          </a:xfrm>
          <a:prstGeom prst="rect">
            <a:avLst/>
          </a:prstGeom>
          <a:noFill/>
        </p:spPr>
        <p:txBody>
          <a:bodyPr wrap="square" anchor="t">
            <a:spAutoFit/>
          </a:bodyPr>
          <a:lstStyle/>
          <a:p>
            <a:pPr algn="l">
              <a:lnSpc>
                <a:spcPts val="1450"/>
              </a:lnSpc>
            </a:pPr>
            <a:r>
              <a:rPr sz="1080" b="0">
                <a:solidFill>
                  <a:srgbClr val="5A6B58"/>
                </a:solidFill>
                <a:latin typeface="Segoe UI"/>
              </a:rPr>
              <a:t>Better overall but worse on one important pest means reject. Small regressions mean manual review.</a:t>
            </a:r>
          </a:p>
        </p:txBody>
      </p:sp>
      <p:sp>
        <p:nvSpPr>
          <p:cNvPr id="15" name="Rounded Rectangle 14"/>
          <p:cNvSpPr/>
          <p:nvPr/>
        </p:nvSpPr>
        <p:spPr>
          <a:xfrm>
            <a:off x="566928" y="342900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557016"/>
            <a:ext cx="3200400" cy="457200"/>
          </a:xfrm>
          <a:prstGeom prst="rect">
            <a:avLst/>
          </a:prstGeom>
          <a:noFill/>
        </p:spPr>
        <p:txBody>
          <a:bodyPr wrap="square" anchor="t">
            <a:spAutoFit/>
          </a:bodyPr>
          <a:lstStyle/>
          <a:p>
            <a:pPr algn="l"/>
            <a:r>
              <a:rPr sz="1350" b="1">
                <a:solidFill>
                  <a:srgbClr val="116530"/>
                </a:solidFill>
                <a:latin typeface="Segoe UI"/>
              </a:rPr>
              <a:t>Approve → Deploy</a:t>
            </a:r>
          </a:p>
        </p:txBody>
      </p:sp>
      <p:sp>
        <p:nvSpPr>
          <p:cNvPr id="17" name="TextBox 16"/>
          <p:cNvSpPr txBox="1"/>
          <p:nvPr/>
        </p:nvSpPr>
        <p:spPr>
          <a:xfrm>
            <a:off x="749808" y="3904487"/>
            <a:ext cx="3200400" cy="868680"/>
          </a:xfrm>
          <a:prstGeom prst="rect">
            <a:avLst/>
          </a:prstGeom>
          <a:noFill/>
        </p:spPr>
        <p:txBody>
          <a:bodyPr wrap="square" anchor="t">
            <a:spAutoFit/>
          </a:bodyPr>
          <a:lstStyle/>
          <a:p>
            <a:pPr algn="l">
              <a:lnSpc>
                <a:spcPts val="1450"/>
              </a:lnSpc>
            </a:pPr>
            <a:r>
              <a:rPr sz="1080" b="0">
                <a:solidFill>
                  <a:srgbClr val="5A6B58"/>
                </a:solidFill>
                <a:latin typeface="Segoe UI"/>
              </a:rPr>
              <a:t>Deployment requires a frozen test evaluation and a positive comparison. The old production model is archived automatically.</a:t>
            </a:r>
          </a:p>
        </p:txBody>
      </p:sp>
      <p:sp>
        <p:nvSpPr>
          <p:cNvPr id="18" name="Rounded Rectangle 17"/>
          <p:cNvSpPr/>
          <p:nvPr/>
        </p:nvSpPr>
        <p:spPr>
          <a:xfrm>
            <a:off x="4315968" y="342900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98848" y="3557016"/>
            <a:ext cx="3200400" cy="457200"/>
          </a:xfrm>
          <a:prstGeom prst="rect">
            <a:avLst/>
          </a:prstGeom>
          <a:noFill/>
        </p:spPr>
        <p:txBody>
          <a:bodyPr wrap="square" anchor="t">
            <a:spAutoFit/>
          </a:bodyPr>
          <a:lstStyle/>
          <a:p>
            <a:pPr algn="l"/>
            <a:r>
              <a:rPr sz="1350" b="1">
                <a:solidFill>
                  <a:srgbClr val="116530"/>
                </a:solidFill>
                <a:latin typeface="Segoe UI"/>
              </a:rPr>
              <a:t>One-click rollback</a:t>
            </a:r>
          </a:p>
        </p:txBody>
      </p:sp>
      <p:sp>
        <p:nvSpPr>
          <p:cNvPr id="20" name="TextBox 19"/>
          <p:cNvSpPr txBox="1"/>
          <p:nvPr/>
        </p:nvSpPr>
        <p:spPr>
          <a:xfrm>
            <a:off x="4498848" y="3904487"/>
            <a:ext cx="3200400" cy="868680"/>
          </a:xfrm>
          <a:prstGeom prst="rect">
            <a:avLst/>
          </a:prstGeom>
          <a:noFill/>
        </p:spPr>
        <p:txBody>
          <a:bodyPr wrap="square" anchor="t">
            <a:spAutoFit/>
          </a:bodyPr>
          <a:lstStyle/>
          <a:p>
            <a:pPr algn="l">
              <a:lnSpc>
                <a:spcPts val="1450"/>
              </a:lnSpc>
            </a:pPr>
            <a:r>
              <a:rPr sz="1080" b="0">
                <a:solidFill>
                  <a:srgbClr val="5A6B58"/>
                </a:solidFill>
                <a:latin typeface="Segoe UI"/>
              </a:rPr>
              <a:t>The previous production model is always redeployable in a single call.</a:t>
            </a:r>
          </a:p>
        </p:txBody>
      </p:sp>
      <p:sp>
        <p:nvSpPr>
          <p:cNvPr id="21" name="Rounded Rectangle 20"/>
          <p:cNvSpPr/>
          <p:nvPr/>
        </p:nvSpPr>
        <p:spPr>
          <a:xfrm>
            <a:off x="8065008" y="342900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7888" y="3557016"/>
            <a:ext cx="3200400" cy="457200"/>
          </a:xfrm>
          <a:prstGeom prst="rect">
            <a:avLst/>
          </a:prstGeom>
          <a:noFill/>
        </p:spPr>
        <p:txBody>
          <a:bodyPr wrap="square" anchor="t">
            <a:spAutoFit/>
          </a:bodyPr>
          <a:lstStyle/>
          <a:p>
            <a:pPr algn="l"/>
            <a:r>
              <a:rPr sz="1350" b="1">
                <a:solidFill>
                  <a:srgbClr val="116530"/>
                </a:solidFill>
                <a:latin typeface="Segoe UI"/>
              </a:rPr>
              <a:t>Bootstrap detector</a:t>
            </a:r>
          </a:p>
        </p:txBody>
      </p:sp>
      <p:sp>
        <p:nvSpPr>
          <p:cNvPr id="23" name="TextBox 22"/>
          <p:cNvSpPr txBox="1"/>
          <p:nvPr/>
        </p:nvSpPr>
        <p:spPr>
          <a:xfrm>
            <a:off x="8247888" y="3904487"/>
            <a:ext cx="3200400" cy="868680"/>
          </a:xfrm>
          <a:prstGeom prst="rect">
            <a:avLst/>
          </a:prstGeom>
          <a:noFill/>
        </p:spPr>
        <p:txBody>
          <a:bodyPr wrap="square" anchor="t">
            <a:spAutoFit/>
          </a:bodyPr>
          <a:lstStyle/>
          <a:p>
            <a:pPr algn="l">
              <a:lnSpc>
                <a:spcPts val="1450"/>
              </a:lnSpc>
            </a:pPr>
            <a:r>
              <a:rPr sz="1080" b="0">
                <a:solidFill>
                  <a:srgbClr val="5A6B58"/>
                </a:solidFill>
                <a:latin typeface="Segoe UI"/>
              </a:rPr>
              <a:t>Verified classification images start detector box training (bootstrap boxes, clearly labelled).</a:t>
            </a:r>
          </a:p>
        </p:txBody>
      </p:sp>
      <p:sp>
        <p:nvSpPr>
          <p:cNvPr id="24" name="Rounded Rectangle 23"/>
          <p:cNvSpPr/>
          <p:nvPr/>
        </p:nvSpPr>
        <p:spPr>
          <a:xfrm>
            <a:off x="566928" y="5120640"/>
            <a:ext cx="11064240" cy="868680"/>
          </a:xfrm>
          <a:prstGeom prst="roundRect">
            <a:avLst>
              <a:gd name="adj" fmla="val 8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5257800"/>
            <a:ext cx="10515600" cy="640080"/>
          </a:xfrm>
          <a:prstGeom prst="rect">
            <a:avLst/>
          </a:prstGeom>
          <a:noFill/>
        </p:spPr>
        <p:txBody>
          <a:bodyPr wrap="square" anchor="ctr">
            <a:spAutoFit/>
          </a:bodyPr>
          <a:lstStyle/>
          <a:p>
            <a:pPr algn="ctr"/>
            <a:r>
              <a:rPr sz="1300" b="1">
                <a:solidFill>
                  <a:srgbClr val="FFFFFF"/>
                </a:solidFill>
                <a:latin typeface="Segoe UI"/>
              </a:rPr>
              <a:t>Statuses move from training to testing, approved, production, and finally rejected or archived. Every move is audited.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8229600" cy="274320"/>
          </a:xfrm>
          <a:prstGeom prst="rect">
            <a:avLst/>
          </a:prstGeom>
          <a:noFill/>
        </p:spPr>
        <p:txBody>
          <a:bodyPr wrap="square" anchor="t">
            <a:spAutoFit/>
          </a:bodyPr>
          <a:lstStyle/>
          <a:p>
            <a:pPr algn="l"/>
            <a:r>
              <a:rPr sz="1100" b="1">
                <a:solidFill>
                  <a:srgbClr val="C77800"/>
                </a:solidFill>
                <a:latin typeface="Segoe UI"/>
              </a:rPr>
              <a:t>CONTINUOUS IMPROVEMENT</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600" b="1">
                <a:solidFill>
                  <a:srgbClr val="116530"/>
                </a:solidFill>
                <a:latin typeface="Segoe UI"/>
              </a:rPr>
              <a:t>The platform learns from every review</a:t>
            </a:r>
          </a:p>
        </p:txBody>
      </p:sp>
      <p:sp>
        <p:nvSpPr>
          <p:cNvPr id="6" name="Rounded Rectangle 5"/>
          <p:cNvSpPr/>
          <p:nvPr/>
        </p:nvSpPr>
        <p:spPr>
          <a:xfrm>
            <a:off x="566928" y="1828800"/>
            <a:ext cx="5440680" cy="155448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956816"/>
            <a:ext cx="5074920" cy="457200"/>
          </a:xfrm>
          <a:prstGeom prst="rect">
            <a:avLst/>
          </a:prstGeom>
          <a:noFill/>
        </p:spPr>
        <p:txBody>
          <a:bodyPr wrap="square" anchor="t">
            <a:spAutoFit/>
          </a:bodyPr>
          <a:lstStyle/>
          <a:p>
            <a:pPr algn="l"/>
            <a:r>
              <a:rPr sz="1350" b="1">
                <a:solidFill>
                  <a:srgbClr val="116530"/>
                </a:solidFill>
                <a:latin typeface="Segoe UI"/>
              </a:rPr>
              <a:t>Priority review queue (active learning)</a:t>
            </a:r>
          </a:p>
        </p:txBody>
      </p:sp>
      <p:sp>
        <p:nvSpPr>
          <p:cNvPr id="8" name="TextBox 7"/>
          <p:cNvSpPr txBox="1"/>
          <p:nvPr/>
        </p:nvSpPr>
        <p:spPr>
          <a:xfrm>
            <a:off x="749808" y="2304288"/>
            <a:ext cx="5074920" cy="1005840"/>
          </a:xfrm>
          <a:prstGeom prst="rect">
            <a:avLst/>
          </a:prstGeom>
          <a:noFill/>
        </p:spPr>
        <p:txBody>
          <a:bodyPr wrap="square" anchor="t">
            <a:spAutoFit/>
          </a:bodyPr>
          <a:lstStyle/>
          <a:p>
            <a:pPr algn="l">
              <a:lnSpc>
                <a:spcPts val="1450"/>
              </a:lnSpc>
            </a:pPr>
            <a:r>
              <a:rPr sz="1080" b="0">
                <a:solidFill>
                  <a:srgbClr val="5A6B58"/>
                </a:solidFill>
                <a:latin typeface="Segoe UI"/>
              </a:rPr>
              <a:t>Unreviewed scans are ranked: low confidence, model disagreement, close guesses, unusual images. Experts label what improves the model most.</a:t>
            </a:r>
          </a:p>
        </p:txBody>
      </p:sp>
      <p:sp>
        <p:nvSpPr>
          <p:cNvPr id="9" name="Rounded Rectangle 8"/>
          <p:cNvSpPr/>
          <p:nvPr/>
        </p:nvSpPr>
        <p:spPr>
          <a:xfrm>
            <a:off x="6190488" y="1828800"/>
            <a:ext cx="5440680" cy="155448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3368" y="1956816"/>
            <a:ext cx="5074920" cy="457200"/>
          </a:xfrm>
          <a:prstGeom prst="rect">
            <a:avLst/>
          </a:prstGeom>
          <a:noFill/>
        </p:spPr>
        <p:txBody>
          <a:bodyPr wrap="square" anchor="t">
            <a:spAutoFit/>
          </a:bodyPr>
          <a:lstStyle/>
          <a:p>
            <a:pPr algn="l"/>
            <a:r>
              <a:rPr sz="1350" b="1">
                <a:solidFill>
                  <a:srgbClr val="116530"/>
                </a:solidFill>
                <a:latin typeface="Segoe UI"/>
              </a:rPr>
              <a:t>Novel-pest discovery</a:t>
            </a:r>
          </a:p>
        </p:txBody>
      </p:sp>
      <p:sp>
        <p:nvSpPr>
          <p:cNvPr id="11" name="TextBox 10"/>
          <p:cNvSpPr txBox="1"/>
          <p:nvPr/>
        </p:nvSpPr>
        <p:spPr>
          <a:xfrm>
            <a:off x="6373368" y="2304288"/>
            <a:ext cx="5074920" cy="1005840"/>
          </a:xfrm>
          <a:prstGeom prst="rect">
            <a:avLst/>
          </a:prstGeom>
          <a:noFill/>
        </p:spPr>
        <p:txBody>
          <a:bodyPr wrap="square" anchor="t">
            <a:spAutoFit/>
          </a:bodyPr>
          <a:lstStyle/>
          <a:p>
            <a:pPr algn="l">
              <a:lnSpc>
                <a:spcPts val="1450"/>
              </a:lnSpc>
            </a:pPr>
            <a:r>
              <a:rPr sz="1080" b="0">
                <a:solidFill>
                  <a:srgbClr val="5A6B58"/>
                </a:solidFill>
                <a:latin typeface="Segoe UI"/>
              </a:rPr>
              <a:t>Unidentified crops are grouped by visual similarity; a coherent cluster surfaces as a candidate new class before anyone has named it.</a:t>
            </a:r>
          </a:p>
        </p:txBody>
      </p:sp>
      <p:sp>
        <p:nvSpPr>
          <p:cNvPr id="12" name="Rounded Rectangle 11"/>
          <p:cNvSpPr/>
          <p:nvPr/>
        </p:nvSpPr>
        <p:spPr>
          <a:xfrm>
            <a:off x="566928" y="3566160"/>
            <a:ext cx="5440680" cy="155448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3694176"/>
            <a:ext cx="5074920" cy="457200"/>
          </a:xfrm>
          <a:prstGeom prst="rect">
            <a:avLst/>
          </a:prstGeom>
          <a:noFill/>
        </p:spPr>
        <p:txBody>
          <a:bodyPr wrap="square" anchor="t">
            <a:spAutoFit/>
          </a:bodyPr>
          <a:lstStyle/>
          <a:p>
            <a:pPr algn="l"/>
            <a:r>
              <a:rPr sz="1350" b="1">
                <a:solidFill>
                  <a:srgbClr val="116530"/>
                </a:solidFill>
                <a:latin typeface="Segoe UI"/>
              </a:rPr>
              <a:t>Calibrated priorities</a:t>
            </a:r>
          </a:p>
        </p:txBody>
      </p:sp>
      <p:sp>
        <p:nvSpPr>
          <p:cNvPr id="14" name="TextBox 13"/>
          <p:cNvSpPr txBox="1"/>
          <p:nvPr/>
        </p:nvSpPr>
        <p:spPr>
          <a:xfrm>
            <a:off x="749808" y="4041648"/>
            <a:ext cx="5074920" cy="1005840"/>
          </a:xfrm>
          <a:prstGeom prst="rect">
            <a:avLst/>
          </a:prstGeom>
          <a:noFill/>
        </p:spPr>
        <p:txBody>
          <a:bodyPr wrap="square" anchor="t">
            <a:spAutoFit/>
          </a:bodyPr>
          <a:lstStyle/>
          <a:p>
            <a:pPr algn="l">
              <a:lnSpc>
                <a:spcPts val="1450"/>
              </a:lnSpc>
            </a:pPr>
            <a:r>
              <a:rPr sz="1080" b="0">
                <a:solidFill>
                  <a:srgbClr val="5A6B58"/>
                </a:solidFill>
                <a:latin typeface="Segoe UI"/>
              </a:rPr>
              <a:t>Review outcomes, where the AI was right or wrong against the expert label, produce proposals for queue weights. A human approves them, never the machine.</a:t>
            </a:r>
          </a:p>
        </p:txBody>
      </p:sp>
      <p:sp>
        <p:nvSpPr>
          <p:cNvPr id="15" name="Rounded Rectangle 14"/>
          <p:cNvSpPr/>
          <p:nvPr/>
        </p:nvSpPr>
        <p:spPr>
          <a:xfrm>
            <a:off x="6190488" y="3566160"/>
            <a:ext cx="5440680" cy="155448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3368" y="3694176"/>
            <a:ext cx="5074920" cy="457200"/>
          </a:xfrm>
          <a:prstGeom prst="rect">
            <a:avLst/>
          </a:prstGeom>
          <a:noFill/>
        </p:spPr>
        <p:txBody>
          <a:bodyPr wrap="square" anchor="t">
            <a:spAutoFit/>
          </a:bodyPr>
          <a:lstStyle/>
          <a:p>
            <a:pPr algn="l"/>
            <a:r>
              <a:rPr sz="1350" b="1">
                <a:solidFill>
                  <a:srgbClr val="116530"/>
                </a:solidFill>
                <a:latin typeface="Segoe UI"/>
              </a:rPr>
              <a:t>Farmer feedback loop</a:t>
            </a:r>
          </a:p>
        </p:txBody>
      </p:sp>
      <p:sp>
        <p:nvSpPr>
          <p:cNvPr id="17" name="TextBox 16"/>
          <p:cNvSpPr txBox="1"/>
          <p:nvPr/>
        </p:nvSpPr>
        <p:spPr>
          <a:xfrm>
            <a:off x="6373368" y="4041648"/>
            <a:ext cx="5074920" cy="1005840"/>
          </a:xfrm>
          <a:prstGeom prst="rect">
            <a:avLst/>
          </a:prstGeom>
          <a:noFill/>
        </p:spPr>
        <p:txBody>
          <a:bodyPr wrap="square" anchor="t">
            <a:spAutoFit/>
          </a:bodyPr>
          <a:lstStyle/>
          <a:p>
            <a:pPr algn="l">
              <a:lnSpc>
                <a:spcPts val="1450"/>
              </a:lnSpc>
            </a:pPr>
            <a:r>
              <a:rPr sz="1080" b="0">
                <a:solidFill>
                  <a:srgbClr val="5A6B58"/>
                </a:solidFill>
                <a:latin typeface="Segoe UI"/>
              </a:rPr>
              <a:t>Correct and wrong marks plus admin corrections flow into verified labels; each dataset version retrains both the classifier and the detector.</a:t>
            </a:r>
          </a:p>
        </p:txBody>
      </p:sp>
      <p:sp>
        <p:nvSpPr>
          <p:cNvPr id="18" name="Rounded Rectangle 17"/>
          <p:cNvSpPr/>
          <p:nvPr/>
        </p:nvSpPr>
        <p:spPr>
          <a:xfrm>
            <a:off x="566928" y="5394960"/>
            <a:ext cx="11064240" cy="731520"/>
          </a:xfrm>
          <a:prstGeom prst="roundRect">
            <a:avLst>
              <a:gd name="adj" fmla="val 8000"/>
            </a:avLst>
          </a:prstGeom>
          <a:solidFill>
            <a:srgbClr val="1165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504688"/>
            <a:ext cx="10515600" cy="548640"/>
          </a:xfrm>
          <a:prstGeom prst="rect">
            <a:avLst/>
          </a:prstGeom>
          <a:noFill/>
        </p:spPr>
        <p:txBody>
          <a:bodyPr wrap="square" anchor="ctr">
            <a:spAutoFit/>
          </a:bodyPr>
          <a:lstStyle/>
          <a:p>
            <a:pPr algn="ctr"/>
            <a:r>
              <a:rPr sz="1300" b="1">
                <a:solidFill>
                  <a:srgbClr val="FFFFFF"/>
                </a:solidFill>
                <a:latin typeface="Segoe UI"/>
              </a:rPr>
              <a:t>More scans, a smarter queue, better labels, sharper models, more trust, more scans.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B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76072" y="411480"/>
            <a:ext cx="475488" cy="64008"/>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512064"/>
            <a:ext cx="8229600" cy="274320"/>
          </a:xfrm>
          <a:prstGeom prst="rect">
            <a:avLst/>
          </a:prstGeom>
          <a:noFill/>
        </p:spPr>
        <p:txBody>
          <a:bodyPr wrap="square" anchor="t">
            <a:spAutoFit/>
          </a:bodyPr>
          <a:lstStyle/>
          <a:p>
            <a:pPr algn="l"/>
            <a:r>
              <a:rPr sz="1100" b="1">
                <a:solidFill>
                  <a:srgbClr val="C77800"/>
                </a:solidFill>
                <a:latin typeface="Segoe UI"/>
              </a:rPr>
              <a:t>VALIDATED &amp; READY</a:t>
            </a:r>
          </a:p>
        </p:txBody>
      </p:sp>
      <p:sp>
        <p:nvSpPr>
          <p:cNvPr id="5" name="TextBox 4"/>
          <p:cNvSpPr txBox="1"/>
          <p:nvPr/>
        </p:nvSpPr>
        <p:spPr>
          <a:xfrm>
            <a:off x="548640" y="749808"/>
            <a:ext cx="11155680" cy="731520"/>
          </a:xfrm>
          <a:prstGeom prst="rect">
            <a:avLst/>
          </a:prstGeom>
          <a:noFill/>
        </p:spPr>
        <p:txBody>
          <a:bodyPr wrap="square" anchor="t">
            <a:spAutoFit/>
          </a:bodyPr>
          <a:lstStyle/>
          <a:p>
            <a:pPr algn="l"/>
            <a:r>
              <a:rPr sz="2600" b="1">
                <a:solidFill>
                  <a:srgbClr val="116530"/>
                </a:solidFill>
                <a:latin typeface="Segoe UI"/>
              </a:rPr>
              <a:t>Everything on the previous pages is built and tested</a:t>
            </a:r>
          </a:p>
        </p:txBody>
      </p:sp>
      <p:sp>
        <p:nvSpPr>
          <p:cNvPr id="6" name="Rounded Rectangle 5"/>
          <p:cNvSpPr/>
          <p:nvPr/>
        </p:nvSpPr>
        <p:spPr>
          <a:xfrm>
            <a:off x="566928" y="182880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956816"/>
            <a:ext cx="3200400" cy="457200"/>
          </a:xfrm>
          <a:prstGeom prst="rect">
            <a:avLst/>
          </a:prstGeom>
          <a:noFill/>
        </p:spPr>
        <p:txBody>
          <a:bodyPr wrap="square" anchor="t">
            <a:spAutoFit/>
          </a:bodyPr>
          <a:lstStyle/>
          <a:p>
            <a:pPr algn="l"/>
            <a:r>
              <a:rPr sz="1350" b="1">
                <a:solidFill>
                  <a:srgbClr val="116530"/>
                </a:solidFill>
                <a:latin typeface="Segoe UI"/>
              </a:rPr>
              <a:t>Latency in budget</a:t>
            </a:r>
          </a:p>
        </p:txBody>
      </p:sp>
      <p:sp>
        <p:nvSpPr>
          <p:cNvPr id="8" name="TextBox 7"/>
          <p:cNvSpPr txBox="1"/>
          <p:nvPr/>
        </p:nvSpPr>
        <p:spPr>
          <a:xfrm>
            <a:off x="749808" y="2304288"/>
            <a:ext cx="3200400" cy="868680"/>
          </a:xfrm>
          <a:prstGeom prst="rect">
            <a:avLst/>
          </a:prstGeom>
          <a:noFill/>
        </p:spPr>
        <p:txBody>
          <a:bodyPr wrap="square" anchor="t">
            <a:spAutoFit/>
          </a:bodyPr>
          <a:lstStyle/>
          <a:p>
            <a:pPr algn="l">
              <a:lnSpc>
                <a:spcPts val="1450"/>
              </a:lnSpc>
            </a:pPr>
            <a:r>
              <a:rPr sz="1080" b="0">
                <a:solidFill>
                  <a:srgbClr val="5A6B58"/>
                </a:solidFill>
                <a:latin typeface="Segoe UI"/>
              </a:rPr>
              <a:t>Every stage has a time budget and stays within it on a plain CPU server.</a:t>
            </a:r>
          </a:p>
        </p:txBody>
      </p:sp>
      <p:sp>
        <p:nvSpPr>
          <p:cNvPr id="9" name="Rounded Rectangle 8"/>
          <p:cNvSpPr/>
          <p:nvPr/>
        </p:nvSpPr>
        <p:spPr>
          <a:xfrm>
            <a:off x="4315968" y="182880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8848" y="1956816"/>
            <a:ext cx="3200400" cy="457200"/>
          </a:xfrm>
          <a:prstGeom prst="rect">
            <a:avLst/>
          </a:prstGeom>
          <a:noFill/>
        </p:spPr>
        <p:txBody>
          <a:bodyPr wrap="square" anchor="t">
            <a:spAutoFit/>
          </a:bodyPr>
          <a:lstStyle/>
          <a:p>
            <a:pPr algn="l"/>
            <a:r>
              <a:rPr sz="1350" b="1">
                <a:solidFill>
                  <a:srgbClr val="116530"/>
                </a:solidFill>
                <a:latin typeface="Segoe UI"/>
              </a:rPr>
              <a:t>Security 7/7</a:t>
            </a:r>
          </a:p>
        </p:txBody>
      </p:sp>
      <p:sp>
        <p:nvSpPr>
          <p:cNvPr id="11" name="TextBox 10"/>
          <p:cNvSpPr txBox="1"/>
          <p:nvPr/>
        </p:nvSpPr>
        <p:spPr>
          <a:xfrm>
            <a:off x="4498848" y="2304288"/>
            <a:ext cx="3200400" cy="868680"/>
          </a:xfrm>
          <a:prstGeom prst="rect">
            <a:avLst/>
          </a:prstGeom>
          <a:noFill/>
        </p:spPr>
        <p:txBody>
          <a:bodyPr wrap="square" anchor="t">
            <a:spAutoFit/>
          </a:bodyPr>
          <a:lstStyle/>
          <a:p>
            <a:pPr algn="l">
              <a:lnSpc>
                <a:spcPts val="1450"/>
              </a:lnSpc>
            </a:pPr>
            <a:r>
              <a:rPr sz="1080" b="0">
                <a:solidFill>
                  <a:srgbClr val="5A6B58"/>
                </a:solidFill>
                <a:latin typeface="Segoe UI"/>
              </a:rPr>
              <a:t>Upload limits, blocked path traversal, enforced logins, no secrets in code, clean diagnostics.</a:t>
            </a:r>
          </a:p>
        </p:txBody>
      </p:sp>
      <p:sp>
        <p:nvSpPr>
          <p:cNvPr id="12" name="Rounded Rectangle 11"/>
          <p:cNvSpPr/>
          <p:nvPr/>
        </p:nvSpPr>
        <p:spPr>
          <a:xfrm>
            <a:off x="8065008" y="182880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7888" y="1956816"/>
            <a:ext cx="3200400" cy="457200"/>
          </a:xfrm>
          <a:prstGeom prst="rect">
            <a:avLst/>
          </a:prstGeom>
          <a:noFill/>
        </p:spPr>
        <p:txBody>
          <a:bodyPr wrap="square" anchor="t">
            <a:spAutoFit/>
          </a:bodyPr>
          <a:lstStyle/>
          <a:p>
            <a:pPr algn="l"/>
            <a:r>
              <a:rPr sz="1350" b="1">
                <a:solidFill>
                  <a:srgbClr val="116530"/>
                </a:solidFill>
                <a:latin typeface="Segoe UI"/>
              </a:rPr>
              <a:t>Automated tests</a:t>
            </a:r>
          </a:p>
        </p:txBody>
      </p:sp>
      <p:sp>
        <p:nvSpPr>
          <p:cNvPr id="14" name="TextBox 13"/>
          <p:cNvSpPr txBox="1"/>
          <p:nvPr/>
        </p:nvSpPr>
        <p:spPr>
          <a:xfrm>
            <a:off x="8247888" y="2304288"/>
            <a:ext cx="3200400" cy="868680"/>
          </a:xfrm>
          <a:prstGeom prst="rect">
            <a:avLst/>
          </a:prstGeom>
          <a:noFill/>
        </p:spPr>
        <p:txBody>
          <a:bodyPr wrap="square" anchor="t">
            <a:spAutoFit/>
          </a:bodyPr>
          <a:lstStyle/>
          <a:p>
            <a:pPr algn="l">
              <a:lnSpc>
                <a:spcPts val="1450"/>
              </a:lnSpc>
            </a:pPr>
            <a:r>
              <a:rPr sz="1080" b="0">
                <a:solidFill>
                  <a:srgbClr val="5A6B58"/>
                </a:solidFill>
                <a:latin typeface="Segoe UI"/>
              </a:rPr>
              <a:t>AI and backend test suites pass, the admin panel builds clean and the release runbook is written down.</a:t>
            </a:r>
          </a:p>
        </p:txBody>
      </p:sp>
      <p:sp>
        <p:nvSpPr>
          <p:cNvPr id="15" name="Rounded Rectangle 14"/>
          <p:cNvSpPr/>
          <p:nvPr/>
        </p:nvSpPr>
        <p:spPr>
          <a:xfrm>
            <a:off x="566928" y="342900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3557016"/>
            <a:ext cx="3200400" cy="457200"/>
          </a:xfrm>
          <a:prstGeom prst="rect">
            <a:avLst/>
          </a:prstGeom>
          <a:noFill/>
        </p:spPr>
        <p:txBody>
          <a:bodyPr wrap="square" anchor="t">
            <a:spAutoFit/>
          </a:bodyPr>
          <a:lstStyle/>
          <a:p>
            <a:pPr algn="l"/>
            <a:r>
              <a:rPr sz="1350" b="1">
                <a:solidFill>
                  <a:srgbClr val="116530"/>
                </a:solidFill>
                <a:latin typeface="Segoe UI"/>
              </a:rPr>
              <a:t>Full data ownership</a:t>
            </a:r>
          </a:p>
        </p:txBody>
      </p:sp>
      <p:sp>
        <p:nvSpPr>
          <p:cNvPr id="17" name="TextBox 16"/>
          <p:cNvSpPr txBox="1"/>
          <p:nvPr/>
        </p:nvSpPr>
        <p:spPr>
          <a:xfrm>
            <a:off x="749808" y="3904487"/>
            <a:ext cx="3200400" cy="868680"/>
          </a:xfrm>
          <a:prstGeom prst="rect">
            <a:avLst/>
          </a:prstGeom>
          <a:noFill/>
        </p:spPr>
        <p:txBody>
          <a:bodyPr wrap="square" anchor="t">
            <a:spAutoFit/>
          </a:bodyPr>
          <a:lstStyle/>
          <a:p>
            <a:pPr algn="l">
              <a:lnSpc>
                <a:spcPts val="1450"/>
              </a:lnSpc>
            </a:pPr>
            <a:r>
              <a:rPr sz="1080" b="0">
                <a:solidFill>
                  <a:srgbClr val="5A6B58"/>
                </a:solidFill>
                <a:latin typeface="Segoe UI"/>
              </a:rPr>
              <a:t>Every image, label and model stays on our own servers.</a:t>
            </a:r>
          </a:p>
        </p:txBody>
      </p:sp>
      <p:sp>
        <p:nvSpPr>
          <p:cNvPr id="18" name="Rounded Rectangle 17"/>
          <p:cNvSpPr/>
          <p:nvPr/>
        </p:nvSpPr>
        <p:spPr>
          <a:xfrm>
            <a:off x="4315968" y="342900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98848" y="3557016"/>
            <a:ext cx="3200400" cy="457200"/>
          </a:xfrm>
          <a:prstGeom prst="rect">
            <a:avLst/>
          </a:prstGeom>
          <a:noFill/>
        </p:spPr>
        <p:txBody>
          <a:bodyPr wrap="square" anchor="t">
            <a:spAutoFit/>
          </a:bodyPr>
          <a:lstStyle/>
          <a:p>
            <a:pPr algn="l"/>
            <a:r>
              <a:rPr sz="1350" b="1">
                <a:solidFill>
                  <a:srgbClr val="116530"/>
                </a:solidFill>
                <a:latin typeface="Segoe UI"/>
              </a:rPr>
              <a:t>Ingest tooling ready</a:t>
            </a:r>
          </a:p>
        </p:txBody>
      </p:sp>
      <p:sp>
        <p:nvSpPr>
          <p:cNvPr id="20" name="TextBox 19"/>
          <p:cNvSpPr txBox="1"/>
          <p:nvPr/>
        </p:nvSpPr>
        <p:spPr>
          <a:xfrm>
            <a:off x="4498848" y="3904487"/>
            <a:ext cx="3200400" cy="868680"/>
          </a:xfrm>
          <a:prstGeom prst="rect">
            <a:avLst/>
          </a:prstGeom>
          <a:noFill/>
        </p:spPr>
        <p:txBody>
          <a:bodyPr wrap="square" anchor="t">
            <a:spAutoFit/>
          </a:bodyPr>
          <a:lstStyle/>
          <a:p>
            <a:pPr algn="l">
              <a:lnSpc>
                <a:spcPts val="1450"/>
              </a:lnSpc>
            </a:pPr>
            <a:r>
              <a:rPr sz="1080" b="0">
                <a:solidFill>
                  <a:srgbClr val="5A6B58"/>
                </a:solidFill>
                <a:latin typeface="Segoe UI"/>
              </a:rPr>
              <a:t>Ingestion with dedupe and provenance turns collected images into trainable data.</a:t>
            </a:r>
          </a:p>
        </p:txBody>
      </p:sp>
      <p:sp>
        <p:nvSpPr>
          <p:cNvPr id="21" name="Rounded Rectangle 20"/>
          <p:cNvSpPr/>
          <p:nvPr/>
        </p:nvSpPr>
        <p:spPr>
          <a:xfrm>
            <a:off x="8065008" y="3429000"/>
            <a:ext cx="3566160" cy="1417320"/>
          </a:xfrm>
          <a:prstGeom prst="roundRect">
            <a:avLst>
              <a:gd name="adj" fmla="val 8000"/>
            </a:avLst>
          </a:prstGeom>
          <a:solidFill>
            <a:srgbClr val="FBFFF8"/>
          </a:solidFill>
          <a:ln w="15240">
            <a:solidFill>
              <a:srgbClr val="DFEE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47888" y="3557016"/>
            <a:ext cx="3200400" cy="457200"/>
          </a:xfrm>
          <a:prstGeom prst="rect">
            <a:avLst/>
          </a:prstGeom>
          <a:noFill/>
        </p:spPr>
        <p:txBody>
          <a:bodyPr wrap="square" anchor="t">
            <a:spAutoFit/>
          </a:bodyPr>
          <a:lstStyle/>
          <a:p>
            <a:pPr algn="l"/>
            <a:r>
              <a:rPr sz="1350" b="1">
                <a:solidFill>
                  <a:srgbClr val="116530"/>
                </a:solidFill>
                <a:latin typeface="Segoe UI"/>
              </a:rPr>
              <a:t>Deployment flexibility</a:t>
            </a:r>
          </a:p>
        </p:txBody>
      </p:sp>
      <p:sp>
        <p:nvSpPr>
          <p:cNvPr id="23" name="TextBox 22"/>
          <p:cNvSpPr txBox="1"/>
          <p:nvPr/>
        </p:nvSpPr>
        <p:spPr>
          <a:xfrm>
            <a:off x="8247888" y="3904487"/>
            <a:ext cx="3200400" cy="868680"/>
          </a:xfrm>
          <a:prstGeom prst="rect">
            <a:avLst/>
          </a:prstGeom>
          <a:noFill/>
        </p:spPr>
        <p:txBody>
          <a:bodyPr wrap="square" anchor="t">
            <a:spAutoFit/>
          </a:bodyPr>
          <a:lstStyle/>
          <a:p>
            <a:pPr algn="l">
              <a:lnSpc>
                <a:spcPts val="1450"/>
              </a:lnSpc>
            </a:pPr>
            <a:r>
              <a:rPr sz="1080" b="0">
                <a:solidFill>
                  <a:srgbClr val="5A6B58"/>
                </a:solidFill>
                <a:latin typeface="Segoe UI"/>
              </a:rPr>
              <a:t>Everything runs on servers we control.</a:t>
            </a:r>
          </a:p>
        </p:txBody>
      </p:sp>
      <p:sp>
        <p:nvSpPr>
          <p:cNvPr id="24" name="Rounded Rectangle 23"/>
          <p:cNvSpPr/>
          <p:nvPr/>
        </p:nvSpPr>
        <p:spPr>
          <a:xfrm>
            <a:off x="566928" y="5120640"/>
            <a:ext cx="11064240" cy="1051560"/>
          </a:xfrm>
          <a:prstGeom prst="roundRect">
            <a:avLst>
              <a:gd name="adj" fmla="val 8000"/>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5230368"/>
            <a:ext cx="10515600" cy="868680"/>
          </a:xfrm>
          <a:prstGeom prst="rect">
            <a:avLst/>
          </a:prstGeom>
          <a:noFill/>
        </p:spPr>
        <p:txBody>
          <a:bodyPr wrap="square" anchor="ctr">
            <a:spAutoFit/>
          </a:bodyPr>
          <a:lstStyle/>
          <a:p>
            <a:pPr algn="ctr">
              <a:lnSpc>
                <a:spcPts val="1800"/>
              </a:lnSpc>
            </a:pPr>
            <a:r>
              <a:rPr sz="1250" b="1">
                <a:solidFill>
                  <a:srgbClr val="FFFFFF"/>
                </a:solidFill>
                <a:latin typeface="Segoe UI"/>
              </a:rPr>
              <a:t>WE ASK: approve the labelled image drive and the 500 farmer Nagpur pilot, and open doors to KVKs and departments.
First trained models follow the runbook: build a dataset, evaluate on the frozen test, compare, approve, deploy.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11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2EA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711696"/>
            <a:ext cx="12191695" cy="146304"/>
          </a:xfrm>
          <a:prstGeom prst="rect">
            <a:avLst/>
          </a:prstGeom>
          <a:solidFill>
            <a:srgbClr val="FFB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png"/>
          <p:cNvPicPr>
            <a:picLocks noChangeAspect="1"/>
          </p:cNvPicPr>
          <p:nvPr/>
        </p:nvPicPr>
        <p:blipFill>
          <a:blip r:embed="rId2"/>
          <a:stretch>
            <a:fillRect/>
          </a:stretch>
        </p:blipFill>
        <p:spPr>
          <a:xfrm>
            <a:off x="4956048" y="1371600"/>
            <a:ext cx="2286000" cy="2286000"/>
          </a:xfrm>
          <a:prstGeom prst="rect">
            <a:avLst/>
          </a:prstGeom>
        </p:spPr>
      </p:pic>
      <p:sp>
        <p:nvSpPr>
          <p:cNvPr id="6" name="TextBox 5"/>
          <p:cNvSpPr txBox="1"/>
          <p:nvPr/>
        </p:nvSpPr>
        <p:spPr>
          <a:xfrm>
            <a:off x="1371600" y="3840480"/>
            <a:ext cx="9445752" cy="822960"/>
          </a:xfrm>
          <a:prstGeom prst="rect">
            <a:avLst/>
          </a:prstGeom>
          <a:noFill/>
        </p:spPr>
        <p:txBody>
          <a:bodyPr wrap="square" anchor="t">
            <a:spAutoFit/>
          </a:bodyPr>
          <a:lstStyle/>
          <a:p>
            <a:pPr algn="ctr"/>
            <a:r>
              <a:rPr sz="4400" b="1" i="0">
                <a:solidFill>
                  <a:srgbClr val="FFFFFF"/>
                </a:solidFill>
                <a:latin typeface="Segoe UI"/>
              </a:rPr>
              <a:t>Thank you</a:t>
            </a:r>
          </a:p>
        </p:txBody>
      </p:sp>
      <p:sp>
        <p:nvSpPr>
          <p:cNvPr id="7" name="TextBox 6"/>
          <p:cNvSpPr txBox="1"/>
          <p:nvPr/>
        </p:nvSpPr>
        <p:spPr>
          <a:xfrm>
            <a:off x="1371600" y="4709160"/>
            <a:ext cx="9445752" cy="457200"/>
          </a:xfrm>
          <a:prstGeom prst="rect">
            <a:avLst/>
          </a:prstGeom>
          <a:noFill/>
        </p:spPr>
        <p:txBody>
          <a:bodyPr wrap="square" anchor="t">
            <a:spAutoFit/>
          </a:bodyPr>
          <a:lstStyle/>
          <a:p>
            <a:pPr algn="ctr"/>
            <a:r>
              <a:rPr sz="2000" b="1" i="0">
                <a:solidFill>
                  <a:srgbClr val="D9F9DF"/>
                </a:solidFill>
                <a:latin typeface="Segoe UI"/>
              </a:rPr>
              <a:t>Scan · Detect · Protect</a:t>
            </a:r>
          </a:p>
        </p:txBody>
      </p:sp>
      <p:sp>
        <p:nvSpPr>
          <p:cNvPr id="8" name="TextBox 7"/>
          <p:cNvSpPr txBox="1"/>
          <p:nvPr/>
        </p:nvSpPr>
        <p:spPr>
          <a:xfrm>
            <a:off x="1371600" y="5349240"/>
            <a:ext cx="9445752" cy="365760"/>
          </a:xfrm>
          <a:prstGeom prst="rect">
            <a:avLst/>
          </a:prstGeom>
          <a:noFill/>
        </p:spPr>
        <p:txBody>
          <a:bodyPr wrap="square" anchor="t">
            <a:spAutoFit/>
          </a:bodyPr>
          <a:lstStyle/>
          <a:p>
            <a:pPr algn="ctr"/>
            <a:r>
              <a:rPr sz="1400" b="0" i="0">
                <a:solidFill>
                  <a:srgbClr val="C9D9C6"/>
                </a:solidFill>
                <a:latin typeface="Segoe UI"/>
              </a:rPr>
              <a:t>CitriSuraksha AI · Nagpur, Maharashtra</a:t>
            </a:r>
          </a:p>
        </p:txBody>
      </p:sp>
      <p:sp>
        <p:nvSpPr>
          <p:cNvPr id="9" name="TextBox 8"/>
          <p:cNvSpPr txBox="1"/>
          <p:nvPr/>
        </p:nvSpPr>
        <p:spPr>
          <a:xfrm>
            <a:off x="1371600" y="5715000"/>
            <a:ext cx="9445752" cy="365760"/>
          </a:xfrm>
          <a:prstGeom prst="rect">
            <a:avLst/>
          </a:prstGeom>
          <a:noFill/>
        </p:spPr>
        <p:txBody>
          <a:bodyPr wrap="square" anchor="t">
            <a:spAutoFit/>
          </a:bodyPr>
          <a:lstStyle/>
          <a:p>
            <a:pPr algn="ctr"/>
            <a:r>
              <a:rPr sz="1400" b="0" i="0">
                <a:solidFill>
                  <a:srgbClr val="C9D9C6"/>
                </a:solidFill>
                <a:latin typeface="Segoe UI"/>
              </a:rPr>
              <a:t>Let's protect every orange orchard, one scan at a time.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